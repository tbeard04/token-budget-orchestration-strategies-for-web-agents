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1 Introduction" id="{0B654033-59D9-045E-987C-34666F0379B2}">
          <p14:sldIdLst>
            <p14:sldId id="256"/>
            <p14:sldId id="257"/>
            <p14:sldId id="258"/>
            <p14:sldId id="259"/>
            <p14:sldId id="260"/>
          </p14:sldIdLst>
        </p14:section>
        <p14:section name="2 Methodology" id="{83A76CDA-E7BB-E4D6-DB41-8FE25A5B83C6}">
          <p14:sldIdLst>
            <p14:sldId id="261"/>
            <p14:sldId id="262"/>
            <p14:sldId id="263"/>
            <p14:sldId id="264"/>
            <p14:sldId id="265"/>
            <p14:sldId id="266"/>
          </p14:sldIdLst>
        </p14:section>
        <p14:section name="3 Demonstration" id="{AA8CB735-2BAC-FF33-820D-96866B346A04}">
          <p14:sldIdLst>
            <p14:sldId id="267"/>
            <p14:sldId id="268"/>
            <p14:sldId id="269"/>
            <p14:sldId id="270"/>
          </p14:sldIdLst>
        </p14:section>
        <p14:section name="4 Results" id="{17971F6A-C9AF-DB54-4D0F-4355CE80BB8F}">
          <p14:sldIdLst>
            <p14:sldId id="271"/>
            <p14:sldId id="272"/>
            <p14:sldId id="273"/>
            <p14:sldId id="274"/>
            <p14:sldId id="275"/>
            <p14:sldId id="276"/>
            <p14:sldId id="277"/>
            <p14:sldId id="278"/>
          </p14:sldIdLst>
        </p14:section>
        <p14:section name="5 Evaluation and reflection" id="{6ED0ECF1-FAA7-1AFD-90C7-200912F26D98}">
          <p14:sldIdLst>
            <p14:sldId id="279"/>
            <p14:sldId id="280"/>
            <p14:sldId id="281"/>
            <p14:sldId id="28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6247" autoAdjust="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74458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Title · ~15s]
Hello, I'm Thomas Beard, and this is my MSc Artificial Intelligence project, Token Budget Orchestration Strategies for Web Agents, supervised by Professor Eduardo Alonso. I will explain the problem, show the system running, walk through the key code, and present the results and what I learned.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The problem · ~45s]
Web agents are language models that browse websites to complete tasks: find a product, change an order, post on a forum. A popular way to improve them is orchestration: a pipeline of roles, planner, executor and critic, each a separate model call. On short tasks this raises quality. [Point to the diagram on the left.] But a web agent sees a new page at every step and re-sends it on every call, so a three-role pipeline makes three calls per step on the same page, each carrying about two thousand tokens of instructions, and the overhead repeats at every step. [Point to the card on the right.] Nobody had asked whether orchestration still pays when the token budget is fixed, on a realistic, stateful web benchmark. That is the gap this project fills.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Three strategies · ~45s]
I compared three strategies, the three cards. Strategy A, in blue, is the baseline: a single agent, one model call per step. Strategy B, in orange, is a fixed pipeline: a Planner writes sub-goals, an Executor chooses the action and a Critic reviews it, three calls per step. Strategy C, in green, is my contribution: a router trained with offline reinforcement learning on the logged episodes of A and B. It decides once per episode which mode to run and, before every step, whether to stop and keep the remaining budget. [Point to the line at the bottom.] All three share the same harness, the same model, GPT-5 mini, and the same budget enforcement, so only the orchestration varies. These colours mark A, B and C in every chart that follows.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Research questions and objectives · ~35s]
Three research questions, on the left. RQ1: how do success, token efficiency and the failure profile change with a fixed budget? RQ2: how sensitive is each strategy to task difficulty? RQ3: within one budget, does the way tokens are spread across the steps matter? [Point to the right column.] Each of the five objectives had a pass test fixed in the proposal: for example, the router had to keep at least ninety percent of the single agent's successes in cross-validated replay.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Scope and outputs · ~40s]
The scope is the 475 single-site WebArena tasks on a shopping site, a shop-admin panel and a forum, each run at six budgets from two thousand to sixty-four thousand tokens by each strategy: 8,550 episodes, plus 900 for the allocation schemes. [Point to the work plan on the left, Figure 1.1.] Four milestones: environment, dataset, router, analysis. [Point to the numbered list.] The outputs: a shared harness, an annotated dataset of 9,450 episodes, the trained router with its training data, the analysis pipeline with paired statistics, and the report with a reproduction guide. Everything is in the public repository linked at the bottom.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Divider: methodology · ~5s]
First, how the study was built.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Harness · ~35s]
[Point to Figure 3.1 on the left.] Every strategy follows the same loop: observe the page as an accessibility tree, build a prompt, call the model, execute the action and check the guards. A makes one call per step, B three, and C inserts the router's stop check before each step and chooses A's or B's path at the start. [Point to the right column.] The shared components: WebArena's sites run as Docker containers on one AWS instance, BrowserGym and Playwright drive the browser, and Pydantic AI enforces a typed output, a justification plus one action, and reports the token counts the accounting uses.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Token accounting · ~35s]
Budgets are enforced twice per step. [Point to Equation 3.1.] Before each step the cost is estimated from the prompt length, four characters per token, times the number of calls, plus reserves for outputs and instruction blocks; if the step would not fit, the episode ends with budget_would_exceed before anything is spent. After each call the running total is compared with the cap. [Point to the three cards.] A has one call and no reserves; B three calls and about two thousand instruction tokens. [Point to the table.] Every termination reason maps to a failure class, which the results use.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 Strategy C · ~35s]
[Point to the top half of Figure 3.2.] Offline, the decontaminated A and B episodes become training data: 2,560 task-budget pairs for the mode head and 17,439 step transitions for the stop head. Both heads are small MLPs trained by advantage-weighted regression with entropy regularisation, in five task-level folds, so no router is tested on a task it saw. [Point to the table.] Of three routers trained, model 2 was selected: 91.8 percent of A's successes kept for 22 percent fewer tokens in replay, passing the ninety-percent test. [Point to the bottom half.] Live, the mode head is consulted once and the stop head before every step.</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 Data pipeline · ~30s]
WebArena's sites keep state between episodes, so a success on a state-changing task can make later repeats trivial. [Point to Figure 3.3 on the left.] Every task gets a contamination-risk level; crashed episodes are removed; and after the first success on a state-changing task, that strategy's later episodes are flagged ineligible before the difficulty metadata is joined. [Point to the upper table.] Four collection runs, about 116 million tokens, with the episodes that survived decontamination. [Point to the lower table.] About half of the tasks are read-only and cannot be contaminated at all.</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 Difficulty annotation · ~30s]
RQ2 needs a difficulty label that does not depend on how the agents fared. [Point to the rubric.] Each task was scored on four dimensions by an LLM annotator and banded into Easy, Medium and Hard. [Point to the table at the top right.] Against my own hand labels, the mean quadratic-weighted kappa was 0.63 on thirty held-out tasks, substantial agreement, with pages-to-traverse the weakest dimension. [Point to Figure 3.4.] The result: 156 Easy, 250 Medium and 69 Hard tasks, spread similarly across the sites.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 Divider: demonstration · ~5s]
Now the demonstration: the software running, then the two pieces of code that matter most.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 Software demonstration (screen recording) · ~80s]
I will switch to the screen now. [Card 1, terminal.] This is one episode of Strategy A at a sixteen-thousand-token budget, task 276, started with strategy_a.py. For each step the terminal prints the model's justification, the chosen action, the URL, and the tokens in and out with the cumulative total. Notice the pre-step check and, at the end, the termination reason and the final count, which never exceeds the cap. [Card 2, editor.] Each episode is appended as one JSON record: task, budget, success, reason, tokens and the step log, plus the decontamination fields. [Card 3, terminal.] Finally compare_abc.py reads the three decontaminated files and prints the tables and figures you are about to see. Every table in the report comes from these printouts.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14 · Code walkthrough: budget check · ~45s]
This is the key feature of the harness: the budget check in strategy_a.py, which implements Equation 3.1. [Point to the highlighted lines.] On every step the prompt is built, the tokens spent so far are summed, and the input cost is estimated at four characters per token. If spent plus the estimate exceeds the cap, the step is skipped and the episode ends with budget_would_exceed before any money is spent. That one line is why the pipeline never starts at two or four thousand tokens. Otherwise the model is called and the usage reported by the API, reasoning tokens included, is added to the running total; a post-call check ends the episode if the cap is reached. [Debugger.] Stopping at the if statement on a real step shows est_in, spent and cap.</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15 · Code walkthrough: router · ~45s]
And the router, in strategy_c.py. [Point to the top block.] At the start of the episode, choose_mode runs the mode network on the task's features and returns cycle or execute, with the probability logged. [Point to the bottom block.] Before every step a state is built from the step index, the fraction of budget remaining, the last error and whether the URL changed. p_stop comes from the stop network, and if it meets the threshold learned offline, the episode ends with router_stop and spends nothing further. Otherwise the step runs through A's single call or B's three-call cycle, unchanged. [Point to card 3.] Every decision is appended to the episode record, which is how the analysis can later show what the router did, and when.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16 · Divider: results · ~5s]
The results, in the order of the three research questions.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17 · Dataset and per-step cost · ~30s]
[Point to Table 4.1.] After decontamination, between 2,600 and 2,700 eligible episodes per strategy; pooled over budgets, A succeeded on 14.6 percent, B on 8.3 and C on 13.8. Two properties drive everything that follows. [Point to the first large number.] A Strategy B step costs 2.8 times a Strategy A step, 6,967 tokens against 2,480: three calls on the same page plus the instruction blocks. [Point to the second.] C's per-step cost equals A's, because its mode head chose the single-agent mode in 2,599 of 2,604 episodes.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18 · RQ1 cost curve · ~40s]
Figure 4.1 answers RQ1. [Point to the blue curve.] The single agent rises steeply and flattens from sixteen thousand tokens at about twenty-three percent. [Point to the orange curve.] The pipeline solves nothing at two and four thousand, because a single step does not fit, and trails A by seven to thirteen points up to thirty-two thousand; the curves meet only at sixty-four thousand, where the budget stops binding. [Point to the green curve.] The router tracks A inside the confidence band at every budget. [Point to the box.] A beats B and C beats B at p below 0.0001; A and C are not distinguishable. Matching A's success cost B two to four times the budget.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19 · Spend and Strategy C · ~35s]
[Point to Figure 4.2.] The same successes against the tokens actually spent: A and C climb the same curve, while B reaches each level of success only at two to four times the spend. [Point to Table 4.3.] On the 2,463 cells all three attempted, the live router kept 93 percent of A's successes for 20 percent fewer tokens, within two points of the offline prediction, so the training transferred to live operation. [Point to the last row.] The hindsight oracle shows how much a better stop decision could still recover. Almost all of the saving came from the stop head declining hopeless cells before any action was taken.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20 · Failure modes · ~30s]
[Point to Figure 4.4.] How episodes ended. Two-thirds of A's failures were budget exhaustion, the rest wrong answers and guard stops. B's failures were ninety-four percent budget-driven; it rarely got far enough to answer wrongly. [Point to the purple segment.] For C, the router replaced about half of A's budget exhaustion with a cheaper, earlier exit: 838 stops, 703 before any action. On the episodes it allowed to proceed, success beat A's at five of the six budgets, which is what removing mostly hopeless episodes should produce.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21 · The Critic · ~30s]
[Point to Figure 4.6.] Inside the pipeline, the Critic. The red bars are its revision rate: called 6,263 times, it changed the action 5.1 percent of the time. [Point to the numbers on the right.] Review consumed 31.5 percent of everything B spent; 95 percent of B's successes involved no revision; and episodes containing a revision succeeded less often. The one signal that predicted a useful revision was a preceding action error. A reviewer reading the same page as the actor has little independent information: review paid on every step is overhead, not safety.</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22 · RQ2 difficulty · ~35s]
[Point to Figure 4.5.] RQ2. Every strategy fell from Easy to Hard, and the ordering held in every tier: blue above green above orange. [Point to the last row of the table.] Hard-tier success as a share of Easy-tier success was 0.55 for A, 0.42 for B and 0.62 for C; only the C-against-B contrast is supported, plus 0.20 with an interval excluding zero. The pipeline was the most difficulty-sensitive strategy and the router the least, and the reason is in the data: the stop head declined forty-six percent of Hard tasks against twenty-seven percent of Easy ones. It learned to decline the tasks on which the single agent was weakest.</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23 · RQ3 allocation schemes · ~35s]
RQ3 ran four spending schemes on a hundred read-only tasks at thirty-two thousand tokens. [Point to the top panel of Figure 4.7.] The change in success relative to pay-as-you-go: every interval spans zero, so no scheme changed any strategy's success. [Point to the bottom panel and the bold rows.] Spend is where the effects are: for the pipeline every scheme cost more, because fitting three calls into a per-step allowance trimmed the page and the pipeline took more steps. How tokens are spread within an episode mattered far less than the decision whether to start one.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24 · Validation and limitations · ~40s]
How much should you trust this? [Point to the left column.] Paired tests within identical cells with Bonferroni correction and Wilson intervals; decontamination of the stateful sites; difficulty labels scored independently of outcomes and validated with kappa; and a router whose offline prediction matched its live behaviour. [Point to the right column.] The limits: one backbone model and three of the five sites; one run per cell, so variance is unmeasured, and four-point intervals mean A against C is undetectable, not equal; a bounded one-step overshoot in A's accounting; kappa of only 0.43 on the pages dimension; and an RQ3 sample too small to detect scheme effects of the size observed. [Point to the cost card.] Cost bounded the scope: about 280 dollars of EC2 time plus API charges for roughly 116 million tokens.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25 · Use of generative AI · ~35s]
Generative AI was used in the code, within limits that Chapter 5 and Appendix D declare in full. [Point to the table.] Five functions were generated by Claude from my prompts: the gold-set consistency check, the classifier self-test, the Wilson interval and exact McNemar test, the Bonferroni correction, and the paired scheme comparisons. In each case I had already chosen the method and the prompt specified it precisely; each function entered the repository only after I had read it against its definition, run it on cases with known answers, and run it inside the pipeline's self-tests and the full analysis. None needed correction. [Point to the lower card.] Everything else, the harness, the strategies, the router, the experiments, the data and the analyses, is my own work.</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26 · Conclusions and further work · ~40s]
Three conclusions. [Point to card 1.] Under a fixed budget, orchestration must be earned: the fixed pipeline never repaid its 2.8-times overhead at the budgets tested. [Card 2.] A Critic that approves ninety-five percent of actions is overhead, not safety; review should be conditional on an action error. [Card 3.] A learned router kept ninety-three percent of the single agent's successes for twenty percent fewer tokens, and what it learned was to decide whether to begin rather than how to orchestrate. The recommendations follow directly. Further work: a second backbone, repeated runs to estimate variance, a conditional Critic, and a stop head trained on-policy to recover the thirty-six tasks it wrongly declined.</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27 · Close · ~10s]
The code, the dataset, the trained router and a step-by-step reproduction guide are in the repository shown on the slide. Thank you for watching.</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4213D"/>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10698480" cy="1737360"/>
          </a:xfrm>
          <a:prstGeom prst="rect">
            <a:avLst/>
          </a:prstGeom>
          <a:noFill/>
          <a:ln/>
        </p:spPr>
        <p:txBody>
          <a:bodyPr wrap="square" rtlCol="0"/>
          <a:lstStyle>
            <a:lvl1pPr marL="0" indent="0" algn="l">
              <a:buNone/>
              <a:defRPr lang="en-US" sz="4000" b="1" dirty="0">
                <a:solidFill>
                  <a:schemeClr val="bg1"/>
                </a:solidFill>
              </a:defRPr>
            </a:lvl1pPr>
          </a:lstStyle>
          <a:p>
            <a:pPr marL="0" indent="0" algn="l">
              <a:buNone/>
            </a:pPr>
            <a:r>
              <a:rPr lang="en-US" sz="4000" b="1" dirty="0">
                <a:solidFill>
                  <a:schemeClr val="bg1"/>
                </a:solidFill>
              </a:rPr>
              <a:t>Title</a:t>
            </a:r>
            <a:endParaRPr lang="en-US" sz="4000" dirty="0"/>
          </a:p>
        </p:txBody>
      </p:sp>
      <p:sp>
        <p:nvSpPr>
          <p:cNvPr id="3" name="Text 0"/>
          <p:cNvSpPr>
            <a:spLocks noGrp="1"/>
          </p:cNvSpPr>
          <p:nvPr>
            <p:ph type="body" idx="101" hasCustomPrompt="1"/>
          </p:nvPr>
        </p:nvSpPr>
        <p:spPr>
          <a:xfrm>
            <a:off x="731520" y="3749040"/>
            <a:ext cx="10698480" cy="2011680"/>
          </a:xfrm>
          <a:prstGeom prst="rect">
            <a:avLst/>
          </a:prstGeom>
          <a:noFill/>
          <a:ln/>
        </p:spPr>
        <p:txBody>
          <a:bodyPr wrap="square" rtlCol="0"/>
          <a:lstStyle>
            <a:lvl1pPr marL="0" indent="0" algn="l">
              <a:buNone/>
              <a:defRPr lang="en-US" sz="1800" dirty="0">
                <a:solidFill>
                  <a:schemeClr val="bg1"/>
                </a:solidFill>
              </a:defRPr>
            </a:lvl1pPr>
          </a:lstStyle>
          <a:p>
            <a:pPr marL="0" indent="0" algn="l">
              <a:buNone/>
            </a:pPr>
            <a:r>
              <a:rPr lang="en-US" sz="1800" dirty="0">
                <a:solidFill>
                  <a:schemeClr val="bg1"/>
                </a:solidFill>
              </a:rPr>
              <a:t>Subtitle</a:t>
            </a: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solidFill>
          <a:srgbClr val="14213D"/>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377440"/>
            <a:ext cx="10698480" cy="1280160"/>
          </a:xfrm>
          <a:prstGeom prst="rect">
            <a:avLst/>
          </a:prstGeom>
          <a:noFill/>
          <a:ln/>
        </p:spPr>
        <p:txBody>
          <a:bodyPr wrap="square" rtlCol="0"/>
          <a:lstStyle>
            <a:lvl1pPr marL="0" indent="0" algn="l">
              <a:buNone/>
              <a:defRPr lang="en-US" sz="4000" b="1" dirty="0">
                <a:solidFill>
                  <a:schemeClr val="bg1"/>
                </a:solidFill>
              </a:defRPr>
            </a:lvl1pPr>
          </a:lstStyle>
          <a:p>
            <a:pPr marL="0" indent="0" algn="l">
              <a:buNone/>
            </a:pPr>
            <a:r>
              <a:rPr lang="en-US" sz="4000" b="1" dirty="0">
                <a:solidFill>
                  <a:schemeClr val="bg1"/>
                </a:solidFill>
              </a:rPr>
              <a:t>Section</a:t>
            </a:r>
            <a:endParaRPr lang="en-US" sz="4000" dirty="0"/>
          </a:p>
        </p:txBody>
      </p:sp>
      <p:sp>
        <p:nvSpPr>
          <p:cNvPr id="3" name="Text 0"/>
          <p:cNvSpPr>
            <a:spLocks noGrp="1"/>
          </p:cNvSpPr>
          <p:nvPr>
            <p:ph type="body" idx="101" hasCustomPrompt="1"/>
          </p:nvPr>
        </p:nvSpPr>
        <p:spPr>
          <a:xfrm>
            <a:off x="731520" y="3749040"/>
            <a:ext cx="10698480" cy="1097280"/>
          </a:xfrm>
          <a:prstGeom prst="rect">
            <a:avLst/>
          </a:prstGeom>
          <a:noFill/>
          <a:ln/>
        </p:spPr>
        <p:txBody>
          <a:bodyPr wrap="square" rtlCol="0"/>
          <a:lstStyle>
            <a:lvl1pPr marL="0" indent="0" algn="l">
              <a:buNone/>
              <a:defRPr lang="en-US" sz="1800" dirty="0">
                <a:solidFill>
                  <a:schemeClr val="bg2"/>
                </a:solidFill>
              </a:defRPr>
            </a:lvl1pPr>
          </a:lstStyle>
          <a:p>
            <a:pPr marL="0" indent="0" algn="l">
              <a:buNone/>
            </a:pPr>
            <a:r>
              <a:rPr lang="en-US" sz="1800" dirty="0">
                <a:solidFill>
                  <a:schemeClr val="bg2"/>
                </a:solidFill>
              </a:rPr>
              <a:t>Sub</a:t>
            </a: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11247120" cy="777240"/>
          </a:xfrm>
          <a:prstGeom prst="rect">
            <a:avLst/>
          </a:prstGeom>
          <a:noFill/>
          <a:ln/>
        </p:spPr>
        <p:txBody>
          <a:bodyPr wrap="square" rtlCol="0"/>
          <a:lstStyle>
            <a:lvl1pPr marL="0" indent="0" algn="l">
              <a:buNone/>
              <a:defRPr lang="en-US" sz="3000" b="1" dirty="0">
                <a:solidFill>
                  <a:schemeClr val="tx2"/>
                </a:solidFill>
              </a:defRPr>
            </a:lvl1pPr>
          </a:lstStyle>
          <a:p>
            <a:pPr marL="0" indent="0" algn="l">
              <a:buNone/>
            </a:pPr>
            <a:r>
              <a:rPr lang="en-US" sz="3000" b="1" dirty="0">
                <a:solidFill>
                  <a:schemeClr val="tx2"/>
                </a:solidFill>
              </a:rPr>
              <a:t>Title</a:t>
            </a:r>
            <a:endParaRPr lang="en-US" sz="3000" dirty="0"/>
          </a:p>
        </p:txBody>
      </p:sp>
      <p:sp>
        <p:nvSpPr>
          <p:cNvPr id="3" name="Text 0"/>
          <p:cNvSpPr/>
          <p:nvPr/>
        </p:nvSpPr>
        <p:spPr>
          <a:xfrm>
            <a:off x="457200" y="6419088"/>
            <a:ext cx="9601200" cy="274320"/>
          </a:xfrm>
          <a:prstGeom prst="rect">
            <a:avLst/>
          </a:prstGeom>
          <a:noFill/>
          <a:ln/>
        </p:spPr>
        <p:txBody>
          <a:bodyPr wrap="square" lIns="0" tIns="0" rIns="0" bIns="0" rtlCol="0" anchor="ctr"/>
          <a:lstStyle/>
          <a:p>
            <a:pPr marL="0" indent="0" algn="l">
              <a:buNone/>
            </a:pPr>
            <a:r>
              <a:rPr lang="en-US" sz="1000" dirty="0">
                <a:solidFill>
                  <a:srgbClr val="5C6673"/>
                </a:solidFill>
              </a:rPr>
              <a:t>Thomas Beard  ·  Token Budget Orchestration Strategies for Web Agents  ·  MSc Artificial Intelligence 2026</a:t>
            </a:r>
            <a:endParaRPr lang="en-US" sz="1000" dirty="0"/>
          </a:p>
        </p:txBody>
      </p:sp>
      <p:sp>
        <p:nvSpPr>
          <p:cNvPr id="25" name="Slide Number Placeholder 0"/>
          <p:cNvSpPr>
            <a:spLocks noGrp="1"/>
          </p:cNvSpPr>
          <p:nvPr>
            <p:ph type="sldNum" sz="quarter" idx="4294967295"/>
          </p:nvPr>
        </p:nvSpPr>
        <p:spPr>
          <a:xfrm>
            <a:off x="1124712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673"/>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673"/>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10698480" cy="1737360"/>
          </a:xfrm>
          <a:prstGeom prst="rect">
            <a:avLst/>
          </a:prstGeom>
          <a:noFill/>
          <a:ln/>
        </p:spPr>
        <p:txBody>
          <a:bodyPr wrap="square" lIns="0" tIns="0" rIns="0" bIns="0" rtlCol="0" anchor="b"/>
          <a:lstStyle/>
          <a:p>
            <a:pPr marL="0" indent="0" algn="l">
              <a:buNone/>
            </a:pPr>
            <a:r>
              <a:rPr lang="en-US" sz="4000" b="1" dirty="0">
                <a:solidFill>
                  <a:schemeClr val="bg1"/>
                </a:solidFill>
              </a:rPr>
              <a:t>Token Budget Orchestration Strategies for Web Agents</a:t>
            </a:r>
            <a:endParaRPr lang="en-US" sz="4000" dirty="0"/>
          </a:p>
        </p:txBody>
      </p:sp>
      <p:sp>
        <p:nvSpPr>
          <p:cNvPr id="3" name="Text 0"/>
          <p:cNvSpPr>
            <a:spLocks noGrp="1"/>
          </p:cNvSpPr>
          <p:nvPr>
            <p:ph type="body" idx="101" hasCustomPrompt="1"/>
          </p:nvPr>
        </p:nvSpPr>
        <p:spPr>
          <a:xfrm>
            <a:off x="731520" y="3749040"/>
            <a:ext cx="10698480" cy="2011680"/>
          </a:xfrm>
          <a:prstGeom prst="rect">
            <a:avLst/>
          </a:prstGeom>
          <a:noFill/>
          <a:ln/>
        </p:spPr>
        <p:txBody>
          <a:bodyPr wrap="square" lIns="0" tIns="0" rIns="0" bIns="0" rtlCol="0" anchor="t"/>
          <a:lstStyle/>
          <a:p>
            <a:pPr marL="0" indent="0" algn="l">
              <a:buNone/>
            </a:pPr>
            <a:r>
              <a:rPr lang="en-US" sz="1800" b="1" dirty="0">
                <a:solidFill>
                  <a:schemeClr val="bg1"/>
                </a:solidFill>
              </a:rPr>
              <a:t>Thomas Beard </a:t>
            </a:r>
            <a:r>
              <a:rPr lang="en-US" b="1" dirty="0"/>
              <a:t>|</a:t>
            </a:r>
            <a:r>
              <a:rPr lang="en-US" sz="1800" b="1" dirty="0">
                <a:solidFill>
                  <a:schemeClr val="bg1"/>
                </a:solidFill>
              </a:rPr>
              <a:t> Student number 220008104</a:t>
            </a:r>
            <a:endParaRPr lang="en-US" sz="1800" dirty="0"/>
          </a:p>
          <a:p>
            <a:pPr marL="0" indent="0" algn="l">
              <a:buNone/>
            </a:pPr>
            <a:r>
              <a:rPr lang="en-US" sz="1800" dirty="0">
                <a:solidFill>
                  <a:schemeClr val="bg1"/>
                </a:solidFill>
              </a:rPr>
              <a:t>MSc in Artificial Intelligence, City St George's, University of London, 2026</a:t>
            </a:r>
            <a:endParaRPr lang="en-US" sz="1800" dirty="0"/>
          </a:p>
          <a:p>
            <a:pPr marL="0" indent="0" algn="l">
              <a:buNone/>
            </a:pPr>
            <a:r>
              <a:rPr lang="en-US" sz="1800" dirty="0">
                <a:solidFill>
                  <a:schemeClr val="bg1"/>
                </a:solidFill>
              </a:rPr>
              <a:t>Supervisor: Professor Eduardo Alonso</a:t>
            </a:r>
            <a:endParaRPr lang="en-US" sz="1800" dirty="0"/>
          </a:p>
        </p:txBody>
      </p:sp>
      <p:sp>
        <p:nvSpPr>
          <p:cNvPr id="4" name="Badge A"/>
          <p:cNvSpPr/>
          <p:nvPr/>
        </p:nvSpPr>
        <p:spPr>
          <a:xfrm>
            <a:off x="9509760" y="822960"/>
            <a:ext cx="502920" cy="502920"/>
          </a:xfrm>
          <a:prstGeom prst="ellipse">
            <a:avLst/>
          </a:prstGeom>
          <a:solidFill>
            <a:srgbClr val="1F77B4"/>
          </a:solidFill>
          <a:ln w="12700">
            <a:solidFill>
              <a:srgbClr val="1F77B4"/>
            </a:solidFill>
            <a:prstDash val="solid"/>
          </a:ln>
        </p:spPr>
        <p:txBody>
          <a:bodyPr/>
          <a:lstStyle/>
          <a:p>
            <a:endParaRPr lang="en-GB"/>
          </a:p>
        </p:txBody>
      </p:sp>
      <p:sp>
        <p:nvSpPr>
          <p:cNvPr id="5" name="Badge label A"/>
          <p:cNvSpPr txBox="1"/>
          <p:nvPr/>
        </p:nvSpPr>
        <p:spPr>
          <a:xfrm>
            <a:off x="9509760" y="82296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rPr>
              <a:t>A</a:t>
            </a:r>
            <a:endParaRPr lang="en-US" sz="1800" dirty="0"/>
          </a:p>
        </p:txBody>
      </p:sp>
      <p:sp>
        <p:nvSpPr>
          <p:cNvPr id="6" name="Badge B"/>
          <p:cNvSpPr/>
          <p:nvPr/>
        </p:nvSpPr>
        <p:spPr>
          <a:xfrm>
            <a:off x="10149840" y="822960"/>
            <a:ext cx="502920" cy="502920"/>
          </a:xfrm>
          <a:prstGeom prst="ellipse">
            <a:avLst/>
          </a:prstGeom>
          <a:solidFill>
            <a:srgbClr val="FF7F0E"/>
          </a:solidFill>
          <a:ln w="12700">
            <a:solidFill>
              <a:srgbClr val="FF7F0E"/>
            </a:solidFill>
            <a:prstDash val="solid"/>
          </a:ln>
        </p:spPr>
        <p:txBody>
          <a:bodyPr/>
          <a:lstStyle/>
          <a:p>
            <a:endParaRPr lang="en-GB"/>
          </a:p>
        </p:txBody>
      </p:sp>
      <p:sp>
        <p:nvSpPr>
          <p:cNvPr id="7" name="Badge label B"/>
          <p:cNvSpPr txBox="1"/>
          <p:nvPr/>
        </p:nvSpPr>
        <p:spPr>
          <a:xfrm>
            <a:off x="10149840" y="82296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rPr>
              <a:t>B</a:t>
            </a:r>
            <a:endParaRPr lang="en-US" sz="1800" dirty="0"/>
          </a:p>
        </p:txBody>
      </p:sp>
      <p:sp>
        <p:nvSpPr>
          <p:cNvPr id="8" name="Badge C"/>
          <p:cNvSpPr/>
          <p:nvPr/>
        </p:nvSpPr>
        <p:spPr>
          <a:xfrm>
            <a:off x="10789920" y="822960"/>
            <a:ext cx="502920" cy="502920"/>
          </a:xfrm>
          <a:prstGeom prst="ellipse">
            <a:avLst/>
          </a:prstGeom>
          <a:solidFill>
            <a:srgbClr val="2CA02C"/>
          </a:solidFill>
          <a:ln w="12700">
            <a:solidFill>
              <a:srgbClr val="2CA02C"/>
            </a:solidFill>
            <a:prstDash val="solid"/>
          </a:ln>
        </p:spPr>
        <p:txBody>
          <a:bodyPr/>
          <a:lstStyle/>
          <a:p>
            <a:endParaRPr lang="en-GB"/>
          </a:p>
        </p:txBody>
      </p:sp>
      <p:sp>
        <p:nvSpPr>
          <p:cNvPr id="9" name="Badge label C"/>
          <p:cNvSpPr txBox="1"/>
          <p:nvPr/>
        </p:nvSpPr>
        <p:spPr>
          <a:xfrm>
            <a:off x="10789920" y="82296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rPr>
              <a:t>C</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11247120" cy="777240"/>
          </a:xfrm>
          <a:prstGeom prst="rect">
            <a:avLst/>
          </a:prstGeom>
          <a:noFill/>
          <a:ln/>
        </p:spPr>
        <p:txBody>
          <a:bodyPr wrap="square" lIns="0" tIns="0" rIns="0" bIns="0" rtlCol="0" anchor="ctr"/>
          <a:lstStyle/>
          <a:p>
            <a:pPr marL="0" indent="0" algn="l">
              <a:buNone/>
            </a:pPr>
            <a:r>
              <a:rPr lang="en-US" sz="3000" b="1" dirty="0">
                <a:solidFill>
                  <a:schemeClr val="tx2"/>
                </a:solidFill>
              </a:rPr>
              <a:t>Why orchestration becomes a budget problem on the web</a:t>
            </a:r>
            <a:endParaRPr lang="en-US" sz="3000" dirty="0"/>
          </a:p>
        </p:txBody>
      </p:sp>
      <p:sp>
        <p:nvSpPr>
          <p:cNvPr id="3" name="Heading One step of a web task"/>
          <p:cNvSpPr txBox="1"/>
          <p:nvPr/>
        </p:nvSpPr>
        <p:spPr>
          <a:xfrm>
            <a:off x="457200" y="1143000"/>
            <a:ext cx="5852160" cy="365760"/>
          </a:xfrm>
          <a:prstGeom prst="rect">
            <a:avLst/>
          </a:prstGeom>
          <a:noFill/>
          <a:ln/>
        </p:spPr>
        <p:txBody>
          <a:bodyPr wrap="square" lIns="0" tIns="0" rIns="0" bIns="0" rtlCol="0" anchor="ctr"/>
          <a:lstStyle/>
          <a:p>
            <a:pPr marL="0" indent="0" algn="l">
              <a:buNone/>
            </a:pPr>
            <a:r>
              <a:rPr lang="en-US" sz="1600" b="1" dirty="0">
                <a:solidFill>
                  <a:srgbClr val="14213D"/>
                </a:solidFill>
              </a:rPr>
              <a:t>One step of a web task</a:t>
            </a:r>
            <a:endParaRPr lang="en-US" sz="1600" dirty="0"/>
          </a:p>
        </p:txBody>
      </p:sp>
      <p:sp>
        <p:nvSpPr>
          <p:cNvPr id="4" name="Badge A"/>
          <p:cNvSpPr/>
          <p:nvPr/>
        </p:nvSpPr>
        <p:spPr>
          <a:xfrm>
            <a:off x="457200" y="1645920"/>
            <a:ext cx="384048" cy="384048"/>
          </a:xfrm>
          <a:prstGeom prst="ellipse">
            <a:avLst/>
          </a:prstGeom>
          <a:solidFill>
            <a:srgbClr val="1F77B4"/>
          </a:solidFill>
          <a:ln w="12700">
            <a:solidFill>
              <a:srgbClr val="1F77B4"/>
            </a:solidFill>
            <a:prstDash val="solid"/>
          </a:ln>
        </p:spPr>
        <p:txBody>
          <a:bodyPr/>
          <a:lstStyle/>
          <a:p>
            <a:endParaRPr lang="en-GB"/>
          </a:p>
        </p:txBody>
      </p:sp>
      <p:sp>
        <p:nvSpPr>
          <p:cNvPr id="5" name="Badge label A"/>
          <p:cNvSpPr txBox="1"/>
          <p:nvPr/>
        </p:nvSpPr>
        <p:spPr>
          <a:xfrm>
            <a:off x="457200" y="164592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rPr>
              <a:t>A</a:t>
            </a:r>
            <a:endParaRPr lang="en-US" sz="1300" dirty="0"/>
          </a:p>
        </p:txBody>
      </p:sp>
      <p:sp>
        <p:nvSpPr>
          <p:cNvPr id="6" name="Box Page (a11y tree)"/>
          <p:cNvSpPr/>
          <p:nvPr/>
        </p:nvSpPr>
        <p:spPr>
          <a:xfrm>
            <a:off x="960120" y="1600200"/>
            <a:ext cx="1325880" cy="502920"/>
          </a:xfrm>
          <a:prstGeom prst="roundRect">
            <a:avLst>
              <a:gd name="adj" fmla="val 18182"/>
            </a:avLst>
          </a:prstGeom>
          <a:solidFill>
            <a:srgbClr val="DCE3EE"/>
          </a:solidFill>
          <a:ln w="12700">
            <a:solidFill>
              <a:srgbClr val="DCE3EE"/>
            </a:solidFill>
            <a:prstDash val="solid"/>
          </a:ln>
        </p:spPr>
        <p:txBody>
          <a:bodyPr/>
          <a:lstStyle/>
          <a:p>
            <a:endParaRPr lang="en-GB"/>
          </a:p>
        </p:txBody>
      </p:sp>
      <p:sp>
        <p:nvSpPr>
          <p:cNvPr id="7" name="Box text Page (a11y tree)"/>
          <p:cNvSpPr txBox="1"/>
          <p:nvPr/>
        </p:nvSpPr>
        <p:spPr>
          <a:xfrm>
            <a:off x="960120" y="1600200"/>
            <a:ext cx="1325880" cy="502920"/>
          </a:xfrm>
          <a:prstGeom prst="rect">
            <a:avLst/>
          </a:prstGeom>
          <a:noFill/>
          <a:ln/>
        </p:spPr>
        <p:txBody>
          <a:bodyPr wrap="square" lIns="635" tIns="635" rIns="635" bIns="635" rtlCol="0" anchor="ctr"/>
          <a:lstStyle/>
          <a:p>
            <a:pPr marL="0" indent="0" algn="ctr">
              <a:buNone/>
            </a:pPr>
            <a:r>
              <a:rPr lang="en-US" sz="1100" b="1" dirty="0">
                <a:solidFill>
                  <a:srgbClr val="14213D"/>
                </a:solidFill>
              </a:rPr>
              <a:t>Page (a11y tree)</a:t>
            </a:r>
            <a:endParaRPr lang="en-US" sz="1100" dirty="0"/>
          </a:p>
        </p:txBody>
      </p:sp>
      <p:sp>
        <p:nvSpPr>
          <p:cNvPr id="8" name="Arrow"/>
          <p:cNvSpPr/>
          <p:nvPr/>
        </p:nvSpPr>
        <p:spPr>
          <a:xfrm>
            <a:off x="2359152" y="1737360"/>
            <a:ext cx="365760" cy="228600"/>
          </a:xfrm>
          <a:prstGeom prst="rightArrow">
            <a:avLst/>
          </a:prstGeom>
          <a:solidFill>
            <a:srgbClr val="B8C0CC"/>
          </a:solidFill>
          <a:ln w="12700">
            <a:solidFill>
              <a:srgbClr val="B8C0CC"/>
            </a:solidFill>
            <a:prstDash val="solid"/>
          </a:ln>
        </p:spPr>
        <p:txBody>
          <a:bodyPr/>
          <a:lstStyle/>
          <a:p>
            <a:endParaRPr lang="en-GB"/>
          </a:p>
        </p:txBody>
      </p:sp>
      <p:sp>
        <p:nvSpPr>
          <p:cNvPr id="9" name="Box 1 model call"/>
          <p:cNvSpPr/>
          <p:nvPr/>
        </p:nvSpPr>
        <p:spPr>
          <a:xfrm>
            <a:off x="2788920" y="1600200"/>
            <a:ext cx="1234440" cy="502920"/>
          </a:xfrm>
          <a:prstGeom prst="roundRect">
            <a:avLst>
              <a:gd name="adj" fmla="val 18182"/>
            </a:avLst>
          </a:prstGeom>
          <a:solidFill>
            <a:srgbClr val="1F77B4"/>
          </a:solidFill>
          <a:ln w="12700">
            <a:solidFill>
              <a:srgbClr val="1F77B4"/>
            </a:solidFill>
            <a:prstDash val="solid"/>
          </a:ln>
        </p:spPr>
        <p:txBody>
          <a:bodyPr/>
          <a:lstStyle/>
          <a:p>
            <a:endParaRPr lang="en-GB"/>
          </a:p>
        </p:txBody>
      </p:sp>
      <p:sp>
        <p:nvSpPr>
          <p:cNvPr id="10" name="Box text 1 model call"/>
          <p:cNvSpPr txBox="1"/>
          <p:nvPr/>
        </p:nvSpPr>
        <p:spPr>
          <a:xfrm>
            <a:off x="2788920" y="1600200"/>
            <a:ext cx="1234440" cy="502920"/>
          </a:xfrm>
          <a:prstGeom prst="rect">
            <a:avLst/>
          </a:prstGeom>
          <a:noFill/>
          <a:ln/>
        </p:spPr>
        <p:txBody>
          <a:bodyPr wrap="square" lIns="635" tIns="635" rIns="635" bIns="635" rtlCol="0" anchor="ctr"/>
          <a:lstStyle/>
          <a:p>
            <a:pPr marL="0" indent="0" algn="ctr">
              <a:buNone/>
            </a:pPr>
            <a:r>
              <a:rPr lang="en-US" sz="1100" b="1" dirty="0">
                <a:solidFill>
                  <a:srgbClr val="FFFFFF"/>
                </a:solidFill>
              </a:rPr>
              <a:t>1 model call</a:t>
            </a:r>
            <a:endParaRPr lang="en-US" sz="1100" dirty="0"/>
          </a:p>
        </p:txBody>
      </p:sp>
      <p:sp>
        <p:nvSpPr>
          <p:cNvPr id="11" name="Arrow"/>
          <p:cNvSpPr/>
          <p:nvPr/>
        </p:nvSpPr>
        <p:spPr>
          <a:xfrm>
            <a:off x="4096512" y="1737360"/>
            <a:ext cx="365760" cy="228600"/>
          </a:xfrm>
          <a:prstGeom prst="rightArrow">
            <a:avLst/>
          </a:prstGeom>
          <a:solidFill>
            <a:srgbClr val="B8C0CC"/>
          </a:solidFill>
          <a:ln w="12700">
            <a:solidFill>
              <a:srgbClr val="B8C0CC"/>
            </a:solidFill>
            <a:prstDash val="solid"/>
          </a:ln>
        </p:spPr>
        <p:txBody>
          <a:bodyPr/>
          <a:lstStyle/>
          <a:p>
            <a:endParaRPr lang="en-GB"/>
          </a:p>
        </p:txBody>
      </p:sp>
      <p:sp>
        <p:nvSpPr>
          <p:cNvPr id="12" name="Box Action"/>
          <p:cNvSpPr/>
          <p:nvPr/>
        </p:nvSpPr>
        <p:spPr>
          <a:xfrm>
            <a:off x="4526280" y="1600200"/>
            <a:ext cx="1188720" cy="502920"/>
          </a:xfrm>
          <a:prstGeom prst="roundRect">
            <a:avLst>
              <a:gd name="adj" fmla="val 18182"/>
            </a:avLst>
          </a:prstGeom>
          <a:solidFill>
            <a:srgbClr val="DCE3EE"/>
          </a:solidFill>
          <a:ln w="12700">
            <a:solidFill>
              <a:srgbClr val="DCE3EE"/>
            </a:solidFill>
            <a:prstDash val="solid"/>
          </a:ln>
        </p:spPr>
        <p:txBody>
          <a:bodyPr/>
          <a:lstStyle/>
          <a:p>
            <a:endParaRPr lang="en-GB"/>
          </a:p>
        </p:txBody>
      </p:sp>
      <p:sp>
        <p:nvSpPr>
          <p:cNvPr id="13" name="Box text Action"/>
          <p:cNvSpPr txBox="1"/>
          <p:nvPr/>
        </p:nvSpPr>
        <p:spPr>
          <a:xfrm>
            <a:off x="4526280" y="1600200"/>
            <a:ext cx="1188720" cy="502920"/>
          </a:xfrm>
          <a:prstGeom prst="rect">
            <a:avLst/>
          </a:prstGeom>
          <a:noFill/>
          <a:ln/>
        </p:spPr>
        <p:txBody>
          <a:bodyPr wrap="square" lIns="635" tIns="635" rIns="635" bIns="635" rtlCol="0" anchor="ctr"/>
          <a:lstStyle/>
          <a:p>
            <a:pPr marL="0" indent="0" algn="ctr">
              <a:buNone/>
            </a:pPr>
            <a:r>
              <a:rPr lang="en-US" sz="1100" b="1" dirty="0">
                <a:solidFill>
                  <a:srgbClr val="14213D"/>
                </a:solidFill>
              </a:rPr>
              <a:t>Action</a:t>
            </a:r>
            <a:endParaRPr lang="en-US" sz="1100" dirty="0"/>
          </a:p>
        </p:txBody>
      </p:sp>
      <p:sp>
        <p:nvSpPr>
          <p:cNvPr id="14" name="Badge B"/>
          <p:cNvSpPr/>
          <p:nvPr/>
        </p:nvSpPr>
        <p:spPr>
          <a:xfrm>
            <a:off x="457200" y="2514600"/>
            <a:ext cx="384048" cy="384048"/>
          </a:xfrm>
          <a:prstGeom prst="ellipse">
            <a:avLst/>
          </a:prstGeom>
          <a:solidFill>
            <a:srgbClr val="FF7F0E"/>
          </a:solidFill>
          <a:ln w="12700">
            <a:solidFill>
              <a:srgbClr val="FF7F0E"/>
            </a:solidFill>
            <a:prstDash val="solid"/>
          </a:ln>
        </p:spPr>
        <p:txBody>
          <a:bodyPr/>
          <a:lstStyle/>
          <a:p>
            <a:endParaRPr lang="en-GB"/>
          </a:p>
        </p:txBody>
      </p:sp>
      <p:sp>
        <p:nvSpPr>
          <p:cNvPr id="15" name="Badge label B"/>
          <p:cNvSpPr txBox="1"/>
          <p:nvPr/>
        </p:nvSpPr>
        <p:spPr>
          <a:xfrm>
            <a:off x="457200" y="251460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6" name="Box Page (a11y tree)"/>
          <p:cNvSpPr/>
          <p:nvPr/>
        </p:nvSpPr>
        <p:spPr>
          <a:xfrm>
            <a:off x="960120" y="2468880"/>
            <a:ext cx="1325880" cy="502920"/>
          </a:xfrm>
          <a:prstGeom prst="roundRect">
            <a:avLst>
              <a:gd name="adj" fmla="val 18182"/>
            </a:avLst>
          </a:prstGeom>
          <a:solidFill>
            <a:srgbClr val="DCE3EE"/>
          </a:solidFill>
          <a:ln w="12700">
            <a:solidFill>
              <a:srgbClr val="DCE3EE"/>
            </a:solidFill>
            <a:prstDash val="solid"/>
          </a:ln>
        </p:spPr>
        <p:txBody>
          <a:bodyPr/>
          <a:lstStyle/>
          <a:p>
            <a:endParaRPr lang="en-GB"/>
          </a:p>
        </p:txBody>
      </p:sp>
      <p:sp>
        <p:nvSpPr>
          <p:cNvPr id="17" name="Box text Page (a11y tree)"/>
          <p:cNvSpPr txBox="1"/>
          <p:nvPr/>
        </p:nvSpPr>
        <p:spPr>
          <a:xfrm>
            <a:off x="960120" y="2468880"/>
            <a:ext cx="1325880" cy="502920"/>
          </a:xfrm>
          <a:prstGeom prst="rect">
            <a:avLst/>
          </a:prstGeom>
          <a:noFill/>
          <a:ln/>
        </p:spPr>
        <p:txBody>
          <a:bodyPr wrap="square" lIns="635" tIns="635" rIns="635" bIns="635" rtlCol="0" anchor="ctr"/>
          <a:lstStyle/>
          <a:p>
            <a:pPr marL="0" indent="0" algn="ctr">
              <a:buNone/>
            </a:pPr>
            <a:r>
              <a:rPr lang="en-US" sz="1100" b="1" dirty="0">
                <a:solidFill>
                  <a:srgbClr val="14213D"/>
                </a:solidFill>
              </a:rPr>
              <a:t>Page (a11y tree)</a:t>
            </a:r>
            <a:endParaRPr lang="en-US" sz="1100" dirty="0"/>
          </a:p>
        </p:txBody>
      </p:sp>
      <p:sp>
        <p:nvSpPr>
          <p:cNvPr id="18" name="Arrow"/>
          <p:cNvSpPr/>
          <p:nvPr/>
        </p:nvSpPr>
        <p:spPr>
          <a:xfrm>
            <a:off x="2359152" y="2606040"/>
            <a:ext cx="365760" cy="228600"/>
          </a:xfrm>
          <a:prstGeom prst="rightArrow">
            <a:avLst/>
          </a:prstGeom>
          <a:solidFill>
            <a:srgbClr val="B8C0CC"/>
          </a:solidFill>
          <a:ln w="12700">
            <a:solidFill>
              <a:srgbClr val="B8C0CC"/>
            </a:solidFill>
            <a:prstDash val="solid"/>
          </a:ln>
        </p:spPr>
        <p:txBody>
          <a:bodyPr/>
          <a:lstStyle/>
          <a:p>
            <a:endParaRPr lang="en-GB"/>
          </a:p>
        </p:txBody>
      </p:sp>
      <p:sp>
        <p:nvSpPr>
          <p:cNvPr id="19" name="Box Planner"/>
          <p:cNvSpPr/>
          <p:nvPr/>
        </p:nvSpPr>
        <p:spPr>
          <a:xfrm>
            <a:off x="2788920" y="2468880"/>
            <a:ext cx="914400" cy="502920"/>
          </a:xfrm>
          <a:prstGeom prst="roundRect">
            <a:avLst>
              <a:gd name="adj" fmla="val 18182"/>
            </a:avLst>
          </a:prstGeom>
          <a:solidFill>
            <a:srgbClr val="FF7F0E"/>
          </a:solidFill>
          <a:ln w="12700">
            <a:solidFill>
              <a:srgbClr val="FF7F0E"/>
            </a:solidFill>
            <a:prstDash val="solid"/>
          </a:ln>
        </p:spPr>
        <p:txBody>
          <a:bodyPr/>
          <a:lstStyle/>
          <a:p>
            <a:endParaRPr lang="en-GB"/>
          </a:p>
        </p:txBody>
      </p:sp>
      <p:sp>
        <p:nvSpPr>
          <p:cNvPr id="20" name="Box text Planner"/>
          <p:cNvSpPr txBox="1"/>
          <p:nvPr/>
        </p:nvSpPr>
        <p:spPr>
          <a:xfrm>
            <a:off x="2788920" y="2468880"/>
            <a:ext cx="914400" cy="502920"/>
          </a:xfrm>
          <a:prstGeom prst="rect">
            <a:avLst/>
          </a:prstGeom>
          <a:noFill/>
          <a:ln/>
        </p:spPr>
        <p:txBody>
          <a:bodyPr wrap="square" lIns="635" tIns="635" rIns="635" bIns="635" rtlCol="0" anchor="ctr"/>
          <a:lstStyle/>
          <a:p>
            <a:pPr marL="0" indent="0" algn="ctr">
              <a:buNone/>
            </a:pPr>
            <a:r>
              <a:rPr lang="en-US" sz="1100" b="1" dirty="0">
                <a:solidFill>
                  <a:srgbClr val="FFFFFF"/>
                </a:solidFill>
              </a:rPr>
              <a:t>Planner</a:t>
            </a:r>
            <a:endParaRPr lang="en-US" sz="1100" dirty="0"/>
          </a:p>
        </p:txBody>
      </p:sp>
      <p:sp>
        <p:nvSpPr>
          <p:cNvPr id="21" name="Arrow"/>
          <p:cNvSpPr/>
          <p:nvPr/>
        </p:nvSpPr>
        <p:spPr>
          <a:xfrm>
            <a:off x="3767328" y="2606040"/>
            <a:ext cx="274320" cy="228600"/>
          </a:xfrm>
          <a:prstGeom prst="rightArrow">
            <a:avLst/>
          </a:prstGeom>
          <a:solidFill>
            <a:srgbClr val="B8C0CC"/>
          </a:solidFill>
          <a:ln w="12700">
            <a:solidFill>
              <a:srgbClr val="B8C0CC"/>
            </a:solidFill>
            <a:prstDash val="solid"/>
          </a:ln>
        </p:spPr>
        <p:txBody>
          <a:bodyPr/>
          <a:lstStyle/>
          <a:p>
            <a:endParaRPr lang="en-GB"/>
          </a:p>
        </p:txBody>
      </p:sp>
      <p:sp>
        <p:nvSpPr>
          <p:cNvPr id="22" name="Box Executor"/>
          <p:cNvSpPr/>
          <p:nvPr/>
        </p:nvSpPr>
        <p:spPr>
          <a:xfrm>
            <a:off x="4105656" y="2468880"/>
            <a:ext cx="914400" cy="502920"/>
          </a:xfrm>
          <a:prstGeom prst="roundRect">
            <a:avLst>
              <a:gd name="adj" fmla="val 18182"/>
            </a:avLst>
          </a:prstGeom>
          <a:solidFill>
            <a:srgbClr val="FF7F0E"/>
          </a:solidFill>
          <a:ln w="12700">
            <a:solidFill>
              <a:srgbClr val="FF7F0E"/>
            </a:solidFill>
            <a:prstDash val="solid"/>
          </a:ln>
        </p:spPr>
        <p:txBody>
          <a:bodyPr/>
          <a:lstStyle/>
          <a:p>
            <a:endParaRPr lang="en-GB"/>
          </a:p>
        </p:txBody>
      </p:sp>
      <p:sp>
        <p:nvSpPr>
          <p:cNvPr id="23" name="Box text Executor"/>
          <p:cNvSpPr txBox="1"/>
          <p:nvPr/>
        </p:nvSpPr>
        <p:spPr>
          <a:xfrm>
            <a:off x="4105656" y="2468880"/>
            <a:ext cx="914400" cy="502920"/>
          </a:xfrm>
          <a:prstGeom prst="rect">
            <a:avLst/>
          </a:prstGeom>
          <a:noFill/>
          <a:ln/>
        </p:spPr>
        <p:txBody>
          <a:bodyPr wrap="square" lIns="635" tIns="635" rIns="635" bIns="635" rtlCol="0" anchor="ctr"/>
          <a:lstStyle/>
          <a:p>
            <a:pPr marL="0" indent="0" algn="ctr">
              <a:buNone/>
            </a:pPr>
            <a:r>
              <a:rPr lang="en-US" sz="1100" b="1" dirty="0">
                <a:solidFill>
                  <a:srgbClr val="FFFFFF"/>
                </a:solidFill>
              </a:rPr>
              <a:t>Executor</a:t>
            </a:r>
            <a:endParaRPr lang="en-US" sz="1100" dirty="0"/>
          </a:p>
        </p:txBody>
      </p:sp>
      <p:sp>
        <p:nvSpPr>
          <p:cNvPr id="24" name="Arrow"/>
          <p:cNvSpPr/>
          <p:nvPr/>
        </p:nvSpPr>
        <p:spPr>
          <a:xfrm>
            <a:off x="5084064" y="2606040"/>
            <a:ext cx="274320" cy="228600"/>
          </a:xfrm>
          <a:prstGeom prst="rightArrow">
            <a:avLst/>
          </a:prstGeom>
          <a:solidFill>
            <a:srgbClr val="B8C0CC"/>
          </a:solidFill>
          <a:ln w="12700">
            <a:solidFill>
              <a:srgbClr val="B8C0CC"/>
            </a:solidFill>
            <a:prstDash val="solid"/>
          </a:ln>
        </p:spPr>
        <p:txBody>
          <a:bodyPr/>
          <a:lstStyle/>
          <a:p>
            <a:endParaRPr lang="en-GB"/>
          </a:p>
        </p:txBody>
      </p:sp>
      <p:sp>
        <p:nvSpPr>
          <p:cNvPr id="25" name="Box Critic"/>
          <p:cNvSpPr/>
          <p:nvPr/>
        </p:nvSpPr>
        <p:spPr>
          <a:xfrm>
            <a:off x="5422392" y="2468880"/>
            <a:ext cx="822960" cy="502920"/>
          </a:xfrm>
          <a:prstGeom prst="roundRect">
            <a:avLst>
              <a:gd name="adj" fmla="val 18182"/>
            </a:avLst>
          </a:prstGeom>
          <a:solidFill>
            <a:srgbClr val="FF7F0E"/>
          </a:solidFill>
          <a:ln w="12700">
            <a:solidFill>
              <a:srgbClr val="FF7F0E"/>
            </a:solidFill>
            <a:prstDash val="solid"/>
          </a:ln>
        </p:spPr>
        <p:txBody>
          <a:bodyPr/>
          <a:lstStyle/>
          <a:p>
            <a:endParaRPr lang="en-GB"/>
          </a:p>
        </p:txBody>
      </p:sp>
      <p:sp>
        <p:nvSpPr>
          <p:cNvPr id="26" name="Box text Critic"/>
          <p:cNvSpPr txBox="1"/>
          <p:nvPr/>
        </p:nvSpPr>
        <p:spPr>
          <a:xfrm>
            <a:off x="5422392" y="2468880"/>
            <a:ext cx="822960" cy="502920"/>
          </a:xfrm>
          <a:prstGeom prst="rect">
            <a:avLst/>
          </a:prstGeom>
          <a:noFill/>
          <a:ln/>
        </p:spPr>
        <p:txBody>
          <a:bodyPr wrap="square" lIns="635" tIns="635" rIns="635" bIns="635" rtlCol="0" anchor="ctr"/>
          <a:lstStyle/>
          <a:p>
            <a:pPr marL="0" indent="0" algn="ctr">
              <a:buNone/>
            </a:pPr>
            <a:r>
              <a:rPr lang="en-US" sz="1100" b="1" dirty="0">
                <a:solidFill>
                  <a:srgbClr val="FFFFFF"/>
                </a:solidFill>
              </a:rPr>
              <a:t>Critic</a:t>
            </a:r>
            <a:endParaRPr lang="en-US" sz="1100" dirty="0"/>
          </a:p>
        </p:txBody>
      </p:sp>
      <p:sp>
        <p:nvSpPr>
          <p:cNvPr id="27" name="Diagram note"/>
          <p:cNvSpPr txBox="1"/>
          <p:nvPr/>
        </p:nvSpPr>
        <p:spPr>
          <a:xfrm>
            <a:off x="960120" y="3063240"/>
            <a:ext cx="5394960" cy="502920"/>
          </a:xfrm>
          <a:prstGeom prst="rect">
            <a:avLst/>
          </a:prstGeom>
          <a:noFill/>
          <a:ln/>
        </p:spPr>
        <p:txBody>
          <a:bodyPr wrap="square" lIns="0" tIns="0" rIns="0" bIns="0" rtlCol="0" anchor="t"/>
          <a:lstStyle/>
          <a:p>
            <a:pPr marL="0" indent="0" algn="l">
              <a:buNone/>
            </a:pPr>
            <a:r>
              <a:rPr lang="en-US" sz="1200" i="1" dirty="0">
                <a:solidFill>
                  <a:srgbClr val="5C6673"/>
                </a:solidFill>
              </a:rPr>
              <a:t>Each call re-sends the same page and its own instruction block; the cost repeats at every step of an episode of up to 25 steps.</a:t>
            </a:r>
            <a:endParaRPr lang="en-US" sz="1200" dirty="0"/>
          </a:p>
        </p:txBody>
      </p:sp>
      <p:sp>
        <p:nvSpPr>
          <p:cNvPr id="28" name="Stat ×3"/>
          <p:cNvSpPr txBox="1"/>
          <p:nvPr/>
        </p:nvSpPr>
        <p:spPr>
          <a:xfrm>
            <a:off x="457200" y="3886200"/>
            <a:ext cx="1920240" cy="822960"/>
          </a:xfrm>
          <a:prstGeom prst="rect">
            <a:avLst/>
          </a:prstGeom>
          <a:noFill/>
          <a:ln/>
        </p:spPr>
        <p:txBody>
          <a:bodyPr wrap="square" lIns="0" tIns="0" rIns="0" bIns="0" rtlCol="0" anchor="b"/>
          <a:lstStyle/>
          <a:p>
            <a:pPr marL="0" indent="0" algn="l">
              <a:buNone/>
            </a:pPr>
            <a:r>
              <a:rPr lang="en-US" sz="4000" b="1" dirty="0">
                <a:solidFill>
                  <a:srgbClr val="FF7F0E"/>
                </a:solidFill>
                <a:latin typeface="Cambria" pitchFamily="34" charset="0"/>
                <a:ea typeface="Cambria" pitchFamily="34" charset="-122"/>
                <a:cs typeface="Cambria" pitchFamily="34" charset="-120"/>
              </a:rPr>
              <a:t>×3</a:t>
            </a:r>
            <a:endParaRPr lang="en-US" sz="4000" dirty="0"/>
          </a:p>
        </p:txBody>
      </p:sp>
      <p:sp>
        <p:nvSpPr>
          <p:cNvPr id="29" name="Stat label ×3"/>
          <p:cNvSpPr txBox="1"/>
          <p:nvPr/>
        </p:nvSpPr>
        <p:spPr>
          <a:xfrm>
            <a:off x="457200" y="4727448"/>
            <a:ext cx="1920240" cy="685800"/>
          </a:xfrm>
          <a:prstGeom prst="rect">
            <a:avLst/>
          </a:prstGeom>
          <a:noFill/>
          <a:ln/>
        </p:spPr>
        <p:txBody>
          <a:bodyPr wrap="square" lIns="0" tIns="0" rIns="0" bIns="0" rtlCol="0" anchor="t"/>
          <a:lstStyle/>
          <a:p>
            <a:pPr marL="0" indent="0" algn="l">
              <a:buNone/>
            </a:pPr>
            <a:r>
              <a:rPr lang="en-US" sz="1300" dirty="0">
                <a:solidFill>
                  <a:srgbClr val="5C6673"/>
                </a:solidFill>
              </a:rPr>
              <a:t>model calls per step in a Planner → Executor → Critic pipeline</a:t>
            </a:r>
            <a:endParaRPr lang="en-US" sz="1300" dirty="0"/>
          </a:p>
        </p:txBody>
      </p:sp>
      <p:sp>
        <p:nvSpPr>
          <p:cNvPr id="30" name="Stat ~2,050"/>
          <p:cNvSpPr txBox="1"/>
          <p:nvPr/>
        </p:nvSpPr>
        <p:spPr>
          <a:xfrm>
            <a:off x="2651760" y="3886200"/>
            <a:ext cx="1920240" cy="822960"/>
          </a:xfrm>
          <a:prstGeom prst="rect">
            <a:avLst/>
          </a:prstGeom>
          <a:noFill/>
          <a:ln/>
        </p:spPr>
        <p:txBody>
          <a:bodyPr wrap="square" lIns="0" tIns="0" rIns="0" bIns="0" rtlCol="0" anchor="b"/>
          <a:lstStyle/>
          <a:p>
            <a:pPr marL="0" indent="0" algn="l">
              <a:buNone/>
            </a:pPr>
            <a:r>
              <a:rPr lang="en-US" sz="4000" b="1" dirty="0">
                <a:solidFill>
                  <a:srgbClr val="FF7F0E"/>
                </a:solidFill>
                <a:latin typeface="Cambria" pitchFamily="34" charset="0"/>
                <a:ea typeface="Cambria" pitchFamily="34" charset="-122"/>
                <a:cs typeface="Cambria" pitchFamily="34" charset="-120"/>
              </a:rPr>
              <a:t>~2,050</a:t>
            </a:r>
            <a:endParaRPr lang="en-US" sz="4000" dirty="0"/>
          </a:p>
        </p:txBody>
      </p:sp>
      <p:sp>
        <p:nvSpPr>
          <p:cNvPr id="31" name="Stat label ~2,050"/>
          <p:cNvSpPr txBox="1"/>
          <p:nvPr/>
        </p:nvSpPr>
        <p:spPr>
          <a:xfrm>
            <a:off x="2651760" y="4727448"/>
            <a:ext cx="1920240" cy="685800"/>
          </a:xfrm>
          <a:prstGeom prst="rect">
            <a:avLst/>
          </a:prstGeom>
          <a:noFill/>
          <a:ln/>
        </p:spPr>
        <p:txBody>
          <a:bodyPr wrap="square" lIns="0" tIns="0" rIns="0" bIns="0" rtlCol="0" anchor="t"/>
          <a:lstStyle/>
          <a:p>
            <a:pPr marL="0" indent="0" algn="l">
              <a:buNone/>
            </a:pPr>
            <a:r>
              <a:rPr lang="en-US" sz="1300" dirty="0">
                <a:solidFill>
                  <a:srgbClr val="5C6673"/>
                </a:solidFill>
              </a:rPr>
              <a:t>instruction tokens carried on every pipeline step</a:t>
            </a:r>
            <a:endParaRPr lang="en-US" sz="1300" dirty="0"/>
          </a:p>
        </p:txBody>
      </p:sp>
      <p:sp>
        <p:nvSpPr>
          <p:cNvPr id="32" name="Stat 812"/>
          <p:cNvSpPr txBox="1"/>
          <p:nvPr/>
        </p:nvSpPr>
        <p:spPr>
          <a:xfrm>
            <a:off x="4846320" y="3886200"/>
            <a:ext cx="1737360" cy="822960"/>
          </a:xfrm>
          <a:prstGeom prst="rect">
            <a:avLst/>
          </a:prstGeom>
          <a:noFill/>
          <a:ln/>
        </p:spPr>
        <p:txBody>
          <a:bodyPr wrap="square" lIns="0" tIns="0" rIns="0" bIns="0" rtlCol="0" anchor="b"/>
          <a:lstStyle/>
          <a:p>
            <a:pPr marL="0" indent="0" algn="l">
              <a:buNone/>
            </a:pPr>
            <a:r>
              <a:rPr lang="en-US" sz="4000" b="1" dirty="0">
                <a:solidFill>
                  <a:srgbClr val="14213D"/>
                </a:solidFill>
                <a:latin typeface="Cambria" pitchFamily="34" charset="0"/>
                <a:ea typeface="Cambria" pitchFamily="34" charset="-122"/>
                <a:cs typeface="Cambria" pitchFamily="34" charset="-120"/>
              </a:rPr>
              <a:t>812</a:t>
            </a:r>
            <a:endParaRPr lang="en-US" sz="4000" dirty="0"/>
          </a:p>
        </p:txBody>
      </p:sp>
      <p:sp>
        <p:nvSpPr>
          <p:cNvPr id="33" name="Stat label 812"/>
          <p:cNvSpPr txBox="1"/>
          <p:nvPr/>
        </p:nvSpPr>
        <p:spPr>
          <a:xfrm>
            <a:off x="4846320" y="4727448"/>
            <a:ext cx="1737360" cy="685800"/>
          </a:xfrm>
          <a:prstGeom prst="rect">
            <a:avLst/>
          </a:prstGeom>
          <a:noFill/>
          <a:ln/>
        </p:spPr>
        <p:txBody>
          <a:bodyPr wrap="square" lIns="0" tIns="0" rIns="0" bIns="0" rtlCol="0" anchor="t"/>
          <a:lstStyle/>
          <a:p>
            <a:pPr marL="0" indent="0" algn="l">
              <a:buNone/>
            </a:pPr>
            <a:r>
              <a:rPr lang="en-US" sz="1300" dirty="0">
                <a:solidFill>
                  <a:srgbClr val="5C6673"/>
                </a:solidFill>
              </a:rPr>
              <a:t>realistic tasks in WebArena, on self-hosted sites</a:t>
            </a:r>
            <a:endParaRPr lang="en-US" sz="1300" dirty="0"/>
          </a:p>
        </p:txBody>
      </p:sp>
      <p:sp>
        <p:nvSpPr>
          <p:cNvPr id="34" name="Card"/>
          <p:cNvSpPr/>
          <p:nvPr/>
        </p:nvSpPr>
        <p:spPr>
          <a:xfrm>
            <a:off x="6949440" y="1143000"/>
            <a:ext cx="4800600" cy="4937760"/>
          </a:xfrm>
          <a:prstGeom prst="roundRect">
            <a:avLst>
              <a:gd name="adj" fmla="val 2286"/>
            </a:avLst>
          </a:prstGeom>
          <a:solidFill>
            <a:srgbClr val="EEF1F6"/>
          </a:solidFill>
          <a:ln w="12700">
            <a:solidFill>
              <a:srgbClr val="EEF1F6"/>
            </a:solidFill>
            <a:prstDash val="solid"/>
          </a:ln>
        </p:spPr>
        <p:txBody>
          <a:bodyPr/>
          <a:lstStyle/>
          <a:p>
            <a:endParaRPr lang="en-GB"/>
          </a:p>
        </p:txBody>
      </p:sp>
      <p:sp>
        <p:nvSpPr>
          <p:cNvPr id="35" name="Heading The gap this project fills"/>
          <p:cNvSpPr txBox="1"/>
          <p:nvPr/>
        </p:nvSpPr>
        <p:spPr>
          <a:xfrm>
            <a:off x="7178040" y="1280160"/>
            <a:ext cx="4389120" cy="365760"/>
          </a:xfrm>
          <a:prstGeom prst="rect">
            <a:avLst/>
          </a:prstGeom>
          <a:noFill/>
          <a:ln/>
        </p:spPr>
        <p:txBody>
          <a:bodyPr wrap="square" lIns="0" tIns="0" rIns="0" bIns="0" rtlCol="0" anchor="ctr"/>
          <a:lstStyle/>
          <a:p>
            <a:pPr marL="0" indent="0" algn="l">
              <a:buNone/>
            </a:pPr>
            <a:r>
              <a:rPr lang="en-US" sz="1600" b="1" dirty="0">
                <a:solidFill>
                  <a:srgbClr val="14213D"/>
                </a:solidFill>
              </a:rPr>
              <a:t>The gap this project fills</a:t>
            </a:r>
            <a:endParaRPr lang="en-US" sz="1600" dirty="0"/>
          </a:p>
        </p:txBody>
      </p:sp>
      <p:sp>
        <p:nvSpPr>
          <p:cNvPr id="36" name="Bullets"/>
          <p:cNvSpPr txBox="1"/>
          <p:nvPr/>
        </p:nvSpPr>
        <p:spPr>
          <a:xfrm>
            <a:off x="7178040" y="1737360"/>
            <a:ext cx="4389120" cy="4206240"/>
          </a:xfrm>
          <a:prstGeom prst="rect">
            <a:avLst/>
          </a:prstGeom>
          <a:noFill/>
          <a:ln/>
        </p:spPr>
        <p:txBody>
          <a:bodyPr wrap="square" lIns="0" tIns="0" rIns="0" bIns="0" rtlCol="0" anchor="t"/>
          <a:lstStyle/>
          <a:p>
            <a:pPr marL="177800" indent="-177800" algn="l">
              <a:spcAft>
                <a:spcPts val="900"/>
              </a:spcAft>
              <a:buSzPct val="100000"/>
              <a:buChar char="•"/>
            </a:pPr>
            <a:r>
              <a:rPr lang="en-US" sz="1500" dirty="0">
                <a:solidFill>
                  <a:srgbClr val="1B1F2A"/>
                </a:solidFill>
              </a:rPr>
              <a:t>Orchestration (multi-agent pipelines) improves quality on short tasks such as question answering and code.</a:t>
            </a:r>
            <a:endParaRPr lang="en-US" sz="1500" dirty="0"/>
          </a:p>
          <a:p>
            <a:pPr marL="177800" indent="-177800" algn="l">
              <a:spcAft>
                <a:spcPts val="900"/>
              </a:spcAft>
              <a:buSzPct val="100000"/>
              <a:buChar char="•"/>
            </a:pPr>
            <a:r>
              <a:rPr lang="en-US" sz="1500" dirty="0">
                <a:solidFill>
                  <a:srgbClr val="1B1F2A"/>
                </a:solidFill>
              </a:rPr>
              <a:t>A web agent re-observes a large page at every step, so pipeline overhead grows with episode length.</a:t>
            </a:r>
            <a:endParaRPr lang="en-US" sz="1500" dirty="0"/>
          </a:p>
          <a:p>
            <a:pPr marL="177800" indent="-177800" algn="l">
              <a:spcAft>
                <a:spcPts val="900"/>
              </a:spcAft>
              <a:buSzPct val="100000"/>
              <a:buChar char="•"/>
            </a:pPr>
            <a:r>
              <a:rPr lang="en-US" sz="1500" dirty="0">
                <a:solidFill>
                  <a:srgbClr val="1B1F2A"/>
                </a:solidFill>
              </a:rPr>
              <a:t>Budget-matched comparisons have changed conclusions elsewhere, but have not been run on a stateful web benchmark with paired statistics.</a:t>
            </a:r>
            <a:endParaRPr lang="en-US" sz="1500" dirty="0"/>
          </a:p>
          <a:p>
            <a:pPr marL="177800" indent="-177800" algn="l">
              <a:spcAft>
                <a:spcPts val="900"/>
              </a:spcAft>
              <a:buSzPct val="100000"/>
              <a:buChar char="•"/>
            </a:pPr>
            <a:r>
              <a:rPr lang="en-US" sz="1500" dirty="0">
                <a:solidFill>
                  <a:srgbClr val="1B1F2A"/>
                </a:solidFill>
              </a:rPr>
              <a:t>Nobody has learned, from logged web episodes, when orchestration is worth paying for.</a:t>
            </a:r>
            <a:endParaRPr lang="en-US" sz="1500" dirty="0"/>
          </a:p>
          <a:p>
            <a:pPr marL="177800" indent="-177800" algn="l">
              <a:spcAft>
                <a:spcPts val="900"/>
              </a:spcAft>
              <a:buSzPct val="100000"/>
              <a:buChar char="•"/>
            </a:pPr>
            <a:r>
              <a:rPr lang="en-US" sz="1500" b="1" dirty="0">
                <a:solidFill>
                  <a:srgbClr val="14213D"/>
                </a:solidFill>
              </a:rPr>
              <a:t>Question: under a fixed token budget, does orchestration still pay, and can a learned router decide when it does?</a:t>
            </a:r>
            <a:endParaRPr lang="en-US" sz="1500" dirty="0"/>
          </a:p>
        </p:txBody>
      </p:sp>
      <p:sp>
        <p:nvSpPr>
          <p:cNvPr id="37" name="Slide Number Placeholder 0"/>
          <p:cNvSpPr>
            <a:spLocks noGrp="1"/>
          </p:cNvSpPr>
          <p:nvPr>
            <p:ph type="sldNum" sz="quarter" idx="4294967295"/>
          </p:nvPr>
        </p:nvSpPr>
        <p:spPr>
          <a:xfrm>
            <a:off x="1124712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673"/>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11247120" cy="777240"/>
          </a:xfrm>
          <a:prstGeom prst="rect">
            <a:avLst/>
          </a:prstGeom>
          <a:noFill/>
          <a:ln/>
        </p:spPr>
        <p:txBody>
          <a:bodyPr wrap="square" lIns="0" tIns="0" rIns="0" bIns="0" rtlCol="0" anchor="ctr"/>
          <a:lstStyle/>
          <a:p>
            <a:pPr marL="0" indent="0" algn="l">
              <a:buNone/>
            </a:pPr>
            <a:r>
              <a:rPr lang="en-US" sz="3000" b="1" dirty="0">
                <a:solidFill>
                  <a:schemeClr val="tx2"/>
                </a:solidFill>
              </a:rPr>
              <a:t>Three orchestration strategies under one fixed budget</a:t>
            </a:r>
            <a:endParaRPr lang="en-US" sz="3000" dirty="0"/>
          </a:p>
        </p:txBody>
      </p:sp>
      <p:sp>
        <p:nvSpPr>
          <p:cNvPr id="3" name="Card"/>
          <p:cNvSpPr/>
          <p:nvPr/>
        </p:nvSpPr>
        <p:spPr>
          <a:xfrm>
            <a:off x="457200" y="1188720"/>
            <a:ext cx="3611880" cy="3749040"/>
          </a:xfrm>
          <a:prstGeom prst="roundRect">
            <a:avLst>
              <a:gd name="adj" fmla="val 3038"/>
            </a:avLst>
          </a:prstGeom>
          <a:solidFill>
            <a:srgbClr val="EEF1F6"/>
          </a:solidFill>
          <a:ln w="12700">
            <a:solidFill>
              <a:srgbClr val="EEF1F6"/>
            </a:solidFill>
            <a:prstDash val="solid"/>
          </a:ln>
        </p:spPr>
        <p:txBody>
          <a:bodyPr/>
          <a:lstStyle/>
          <a:p>
            <a:endParaRPr lang="en-GB"/>
          </a:p>
        </p:txBody>
      </p:sp>
      <p:sp>
        <p:nvSpPr>
          <p:cNvPr id="4" name="Badge A"/>
          <p:cNvSpPr/>
          <p:nvPr/>
        </p:nvSpPr>
        <p:spPr>
          <a:xfrm>
            <a:off x="685800" y="1417320"/>
            <a:ext cx="640080" cy="640080"/>
          </a:xfrm>
          <a:prstGeom prst="ellipse">
            <a:avLst/>
          </a:prstGeom>
          <a:solidFill>
            <a:srgbClr val="1F77B4"/>
          </a:solidFill>
          <a:ln w="12700">
            <a:solidFill>
              <a:srgbClr val="1F77B4"/>
            </a:solidFill>
            <a:prstDash val="solid"/>
          </a:ln>
        </p:spPr>
        <p:txBody>
          <a:bodyPr/>
          <a:lstStyle/>
          <a:p>
            <a:endParaRPr lang="en-GB"/>
          </a:p>
        </p:txBody>
      </p:sp>
      <p:sp>
        <p:nvSpPr>
          <p:cNvPr id="5" name="Badge label A"/>
          <p:cNvSpPr txBox="1"/>
          <p:nvPr/>
        </p:nvSpPr>
        <p:spPr>
          <a:xfrm>
            <a:off x="685800" y="141732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rPr>
              <a:t>A</a:t>
            </a:r>
            <a:endParaRPr lang="en-US" sz="2400" dirty="0"/>
          </a:p>
        </p:txBody>
      </p:sp>
      <p:sp>
        <p:nvSpPr>
          <p:cNvPr id="6" name="Card title A"/>
          <p:cNvSpPr txBox="1"/>
          <p:nvPr/>
        </p:nvSpPr>
        <p:spPr>
          <a:xfrm>
            <a:off x="1463040" y="1417320"/>
            <a:ext cx="2423160" cy="640080"/>
          </a:xfrm>
          <a:prstGeom prst="rect">
            <a:avLst/>
          </a:prstGeom>
          <a:noFill/>
          <a:ln/>
        </p:spPr>
        <p:txBody>
          <a:bodyPr wrap="square" lIns="0" tIns="0" rIns="0" bIns="0" rtlCol="0" anchor="ctr"/>
          <a:lstStyle/>
          <a:p>
            <a:pPr marL="0" indent="0" algn="l">
              <a:buNone/>
            </a:pPr>
            <a:r>
              <a:rPr lang="en-US" sz="1700" b="1" dirty="0">
                <a:solidFill>
                  <a:srgbClr val="14213D"/>
                </a:solidFill>
              </a:rPr>
              <a:t>Single agent (baseline)</a:t>
            </a:r>
            <a:endParaRPr lang="en-US" sz="1700" dirty="0"/>
          </a:p>
        </p:txBody>
      </p:sp>
      <p:sp>
        <p:nvSpPr>
          <p:cNvPr id="7" name="Card calls A"/>
          <p:cNvSpPr txBox="1"/>
          <p:nvPr/>
        </p:nvSpPr>
        <p:spPr>
          <a:xfrm>
            <a:off x="685800" y="2194560"/>
            <a:ext cx="3154680" cy="365760"/>
          </a:xfrm>
          <a:prstGeom prst="rect">
            <a:avLst/>
          </a:prstGeom>
          <a:noFill/>
          <a:ln/>
        </p:spPr>
        <p:txBody>
          <a:bodyPr wrap="square" lIns="0" tIns="0" rIns="0" bIns="0" rtlCol="0" anchor="ctr"/>
          <a:lstStyle/>
          <a:p>
            <a:pPr marL="0" indent="0" algn="l">
              <a:buNone/>
            </a:pPr>
            <a:r>
              <a:rPr lang="en-US" sz="1300" b="1" dirty="0">
                <a:solidFill>
                  <a:srgbClr val="1F77B4"/>
                </a:solidFill>
              </a:rPr>
              <a:t>1 model call per step</a:t>
            </a:r>
            <a:endParaRPr lang="en-US" sz="1300" dirty="0"/>
          </a:p>
        </p:txBody>
      </p:sp>
      <p:sp>
        <p:nvSpPr>
          <p:cNvPr id="8" name="Card bullets A"/>
          <p:cNvSpPr txBox="1"/>
          <p:nvPr/>
        </p:nvSpPr>
        <p:spPr>
          <a:xfrm>
            <a:off x="685800" y="2651760"/>
            <a:ext cx="3154680" cy="2103120"/>
          </a:xfrm>
          <a:prstGeom prst="rect">
            <a:avLst/>
          </a:prstGeom>
          <a:noFill/>
          <a:ln/>
        </p:spPr>
        <p:txBody>
          <a:bodyPr wrap="square" lIns="0" tIns="0" rIns="0" bIns="0" rtlCol="0" anchor="t"/>
          <a:lstStyle/>
          <a:p>
            <a:pPr marL="177800" indent="-177800" algn="l">
              <a:spcAft>
                <a:spcPts val="600"/>
              </a:spcAft>
              <a:buSzPct val="100000"/>
              <a:buChar char="•"/>
            </a:pPr>
            <a:r>
              <a:rPr lang="en-US" sz="1500" dirty="0">
                <a:solidFill>
                  <a:srgbClr val="1B1F2A"/>
                </a:solidFill>
              </a:rPr>
              <a:t>One prompt: goal, URL, last error, last eight actions, page</a:t>
            </a:r>
            <a:endParaRPr lang="en-US" sz="1500" dirty="0"/>
          </a:p>
          <a:p>
            <a:pPr marL="177800" indent="-177800" algn="l">
              <a:spcAft>
                <a:spcPts val="600"/>
              </a:spcAft>
              <a:buSzPct val="100000"/>
              <a:buChar char="•"/>
            </a:pPr>
            <a:r>
              <a:rPr lang="en-US" sz="1500" dirty="0">
                <a:solidFill>
                  <a:srgbClr val="1B1F2A"/>
                </a:solidFill>
              </a:rPr>
              <a:t>Chooses one action and justifies it</a:t>
            </a:r>
            <a:endParaRPr lang="en-US" sz="1500" dirty="0"/>
          </a:p>
          <a:p>
            <a:pPr marL="177800" indent="-177800" algn="l">
              <a:spcAft>
                <a:spcPts val="600"/>
              </a:spcAft>
              <a:buSzPct val="100000"/>
              <a:buChar char="•"/>
            </a:pPr>
            <a:r>
              <a:rPr lang="en-US" sz="1500" dirty="0">
                <a:solidFill>
                  <a:srgbClr val="1B1F2A"/>
                </a:solidFill>
              </a:rPr>
              <a:t>Budget check before every step (Equation 3.1)</a:t>
            </a:r>
            <a:endParaRPr lang="en-US" sz="1500" dirty="0"/>
          </a:p>
        </p:txBody>
      </p:sp>
      <p:sp>
        <p:nvSpPr>
          <p:cNvPr id="9" name="Card"/>
          <p:cNvSpPr/>
          <p:nvPr/>
        </p:nvSpPr>
        <p:spPr>
          <a:xfrm>
            <a:off x="4297680" y="1188720"/>
            <a:ext cx="3611880" cy="3749040"/>
          </a:xfrm>
          <a:prstGeom prst="roundRect">
            <a:avLst>
              <a:gd name="adj" fmla="val 3038"/>
            </a:avLst>
          </a:prstGeom>
          <a:solidFill>
            <a:srgbClr val="EEF1F6"/>
          </a:solidFill>
          <a:ln w="12700">
            <a:solidFill>
              <a:srgbClr val="EEF1F6"/>
            </a:solidFill>
            <a:prstDash val="solid"/>
          </a:ln>
        </p:spPr>
        <p:txBody>
          <a:bodyPr/>
          <a:lstStyle/>
          <a:p>
            <a:endParaRPr lang="en-GB"/>
          </a:p>
        </p:txBody>
      </p:sp>
      <p:sp>
        <p:nvSpPr>
          <p:cNvPr id="10" name="Badge B"/>
          <p:cNvSpPr/>
          <p:nvPr/>
        </p:nvSpPr>
        <p:spPr>
          <a:xfrm>
            <a:off x="4526280" y="1417320"/>
            <a:ext cx="640080" cy="640080"/>
          </a:xfrm>
          <a:prstGeom prst="ellipse">
            <a:avLst/>
          </a:prstGeom>
          <a:solidFill>
            <a:srgbClr val="FF7F0E"/>
          </a:solidFill>
          <a:ln w="12700">
            <a:solidFill>
              <a:srgbClr val="FF7F0E"/>
            </a:solidFill>
            <a:prstDash val="solid"/>
          </a:ln>
        </p:spPr>
        <p:txBody>
          <a:bodyPr/>
          <a:lstStyle/>
          <a:p>
            <a:endParaRPr lang="en-GB"/>
          </a:p>
        </p:txBody>
      </p:sp>
      <p:sp>
        <p:nvSpPr>
          <p:cNvPr id="11" name="Badge label B"/>
          <p:cNvSpPr txBox="1"/>
          <p:nvPr/>
        </p:nvSpPr>
        <p:spPr>
          <a:xfrm>
            <a:off x="4526280" y="141732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rPr>
              <a:t>B</a:t>
            </a:r>
            <a:endParaRPr lang="en-US" sz="2400" dirty="0"/>
          </a:p>
        </p:txBody>
      </p:sp>
      <p:sp>
        <p:nvSpPr>
          <p:cNvPr id="12" name="Card title B"/>
          <p:cNvSpPr txBox="1"/>
          <p:nvPr/>
        </p:nvSpPr>
        <p:spPr>
          <a:xfrm>
            <a:off x="5303520" y="1417320"/>
            <a:ext cx="2423160" cy="640080"/>
          </a:xfrm>
          <a:prstGeom prst="rect">
            <a:avLst/>
          </a:prstGeom>
          <a:noFill/>
          <a:ln/>
        </p:spPr>
        <p:txBody>
          <a:bodyPr wrap="square" lIns="0" tIns="0" rIns="0" bIns="0" rtlCol="0" anchor="ctr"/>
          <a:lstStyle/>
          <a:p>
            <a:pPr marL="0" indent="0" algn="l">
              <a:buNone/>
            </a:pPr>
            <a:r>
              <a:rPr lang="en-US" sz="1700" b="1" dirty="0">
                <a:solidFill>
                  <a:srgbClr val="14213D"/>
                </a:solidFill>
              </a:rPr>
              <a:t>Fixed pipeline</a:t>
            </a:r>
            <a:endParaRPr lang="en-US" sz="1700" dirty="0"/>
          </a:p>
        </p:txBody>
      </p:sp>
      <p:sp>
        <p:nvSpPr>
          <p:cNvPr id="13" name="Card calls B"/>
          <p:cNvSpPr txBox="1"/>
          <p:nvPr/>
        </p:nvSpPr>
        <p:spPr>
          <a:xfrm>
            <a:off x="4526280" y="2194560"/>
            <a:ext cx="3154680" cy="365760"/>
          </a:xfrm>
          <a:prstGeom prst="rect">
            <a:avLst/>
          </a:prstGeom>
          <a:noFill/>
          <a:ln/>
        </p:spPr>
        <p:txBody>
          <a:bodyPr wrap="square" lIns="0" tIns="0" rIns="0" bIns="0" rtlCol="0" anchor="ctr"/>
          <a:lstStyle/>
          <a:p>
            <a:pPr marL="0" indent="0" algn="l">
              <a:buNone/>
            </a:pPr>
            <a:r>
              <a:rPr lang="en-US" sz="1300" b="1" dirty="0">
                <a:solidFill>
                  <a:srgbClr val="FF7F0E"/>
                </a:solidFill>
              </a:rPr>
              <a:t>3 model calls per step</a:t>
            </a:r>
            <a:endParaRPr lang="en-US" sz="1300" dirty="0"/>
          </a:p>
        </p:txBody>
      </p:sp>
      <p:sp>
        <p:nvSpPr>
          <p:cNvPr id="14" name="Card bullets B"/>
          <p:cNvSpPr txBox="1"/>
          <p:nvPr/>
        </p:nvSpPr>
        <p:spPr>
          <a:xfrm>
            <a:off x="4526280" y="2651760"/>
            <a:ext cx="3154680" cy="2103120"/>
          </a:xfrm>
          <a:prstGeom prst="rect">
            <a:avLst/>
          </a:prstGeom>
          <a:noFill/>
          <a:ln/>
        </p:spPr>
        <p:txBody>
          <a:bodyPr wrap="square" lIns="0" tIns="0" rIns="0" bIns="0" rtlCol="0" anchor="t"/>
          <a:lstStyle/>
          <a:p>
            <a:pPr marL="177800" indent="-177800" algn="l">
              <a:spcAft>
                <a:spcPts val="600"/>
              </a:spcAft>
              <a:buSzPct val="100000"/>
              <a:buChar char="•"/>
            </a:pPr>
            <a:r>
              <a:rPr lang="en-US" sz="1500" dirty="0">
                <a:solidFill>
                  <a:srgbClr val="1B1F2A"/>
                </a:solidFill>
              </a:rPr>
              <a:t>Planner writes sub-goals</a:t>
            </a:r>
            <a:endParaRPr lang="en-US" sz="1500" dirty="0"/>
          </a:p>
          <a:p>
            <a:pPr marL="177800" indent="-177800" algn="l">
              <a:spcAft>
                <a:spcPts val="600"/>
              </a:spcAft>
              <a:buSzPct val="100000"/>
              <a:buChar char="•"/>
            </a:pPr>
            <a:r>
              <a:rPr lang="en-US" sz="1500" dirty="0">
                <a:solidFill>
                  <a:srgbClr val="1B1F2A"/>
                </a:solidFill>
              </a:rPr>
              <a:t>Executor picks the action</a:t>
            </a:r>
            <a:endParaRPr lang="en-US" sz="1500" dirty="0"/>
          </a:p>
          <a:p>
            <a:pPr marL="177800" indent="-177800" algn="l">
              <a:spcAft>
                <a:spcPts val="600"/>
              </a:spcAft>
              <a:buSzPct val="100000"/>
              <a:buChar char="•"/>
            </a:pPr>
            <a:r>
              <a:rPr lang="en-US" sz="1500" dirty="0">
                <a:solidFill>
                  <a:srgbClr val="1B1F2A"/>
                </a:solidFill>
              </a:rPr>
              <a:t>Critic approves or revises it</a:t>
            </a:r>
            <a:endParaRPr lang="en-US" sz="1500" dirty="0"/>
          </a:p>
          <a:p>
            <a:pPr marL="177800" indent="-177800" algn="l">
              <a:spcAft>
                <a:spcPts val="600"/>
              </a:spcAft>
              <a:buSzPct val="100000"/>
              <a:buChar char="•"/>
            </a:pPr>
            <a:r>
              <a:rPr lang="en-US" sz="1500" dirty="0">
                <a:solidFill>
                  <a:srgbClr val="1B1F2A"/>
                </a:solidFill>
              </a:rPr>
              <a:t>Same page sent three times</a:t>
            </a:r>
            <a:endParaRPr lang="en-US" sz="1500" dirty="0"/>
          </a:p>
        </p:txBody>
      </p:sp>
      <p:sp>
        <p:nvSpPr>
          <p:cNvPr id="15" name="Card"/>
          <p:cNvSpPr/>
          <p:nvPr/>
        </p:nvSpPr>
        <p:spPr>
          <a:xfrm>
            <a:off x="8138160" y="1188720"/>
            <a:ext cx="3611880" cy="3749040"/>
          </a:xfrm>
          <a:prstGeom prst="roundRect">
            <a:avLst>
              <a:gd name="adj" fmla="val 3038"/>
            </a:avLst>
          </a:prstGeom>
          <a:solidFill>
            <a:srgbClr val="EEF1F6"/>
          </a:solidFill>
          <a:ln w="12700">
            <a:solidFill>
              <a:srgbClr val="EEF1F6"/>
            </a:solidFill>
            <a:prstDash val="solid"/>
          </a:ln>
        </p:spPr>
        <p:txBody>
          <a:bodyPr/>
          <a:lstStyle/>
          <a:p>
            <a:endParaRPr lang="en-GB"/>
          </a:p>
        </p:txBody>
      </p:sp>
      <p:sp>
        <p:nvSpPr>
          <p:cNvPr id="16" name="Badge C"/>
          <p:cNvSpPr/>
          <p:nvPr/>
        </p:nvSpPr>
        <p:spPr>
          <a:xfrm>
            <a:off x="8366760" y="1417320"/>
            <a:ext cx="640080" cy="640080"/>
          </a:xfrm>
          <a:prstGeom prst="ellipse">
            <a:avLst/>
          </a:prstGeom>
          <a:solidFill>
            <a:srgbClr val="2CA02C"/>
          </a:solidFill>
          <a:ln w="12700">
            <a:solidFill>
              <a:srgbClr val="2CA02C"/>
            </a:solidFill>
            <a:prstDash val="solid"/>
          </a:ln>
        </p:spPr>
        <p:txBody>
          <a:bodyPr/>
          <a:lstStyle/>
          <a:p>
            <a:endParaRPr lang="en-GB"/>
          </a:p>
        </p:txBody>
      </p:sp>
      <p:sp>
        <p:nvSpPr>
          <p:cNvPr id="17" name="Badge label C"/>
          <p:cNvSpPr txBox="1"/>
          <p:nvPr/>
        </p:nvSpPr>
        <p:spPr>
          <a:xfrm>
            <a:off x="8366760" y="141732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rPr>
              <a:t>C</a:t>
            </a:r>
            <a:endParaRPr lang="en-US" sz="2400" dirty="0"/>
          </a:p>
        </p:txBody>
      </p:sp>
      <p:sp>
        <p:nvSpPr>
          <p:cNvPr id="18" name="Card title C"/>
          <p:cNvSpPr txBox="1"/>
          <p:nvPr/>
        </p:nvSpPr>
        <p:spPr>
          <a:xfrm>
            <a:off x="9144000" y="1417320"/>
            <a:ext cx="2423160" cy="640080"/>
          </a:xfrm>
          <a:prstGeom prst="rect">
            <a:avLst/>
          </a:prstGeom>
          <a:noFill/>
          <a:ln/>
        </p:spPr>
        <p:txBody>
          <a:bodyPr wrap="square" lIns="0" tIns="0" rIns="0" bIns="0" rtlCol="0" anchor="ctr"/>
          <a:lstStyle/>
          <a:p>
            <a:pPr marL="0" indent="0" algn="l">
              <a:buNone/>
            </a:pPr>
            <a:r>
              <a:rPr lang="en-US" sz="1700" b="1" dirty="0">
                <a:solidFill>
                  <a:srgbClr val="14213D"/>
                </a:solidFill>
              </a:rPr>
              <a:t>Learned router (my contribution)</a:t>
            </a:r>
            <a:endParaRPr lang="en-US" sz="1700" dirty="0"/>
          </a:p>
        </p:txBody>
      </p:sp>
      <p:sp>
        <p:nvSpPr>
          <p:cNvPr id="19" name="Card calls C"/>
          <p:cNvSpPr txBox="1"/>
          <p:nvPr/>
        </p:nvSpPr>
        <p:spPr>
          <a:xfrm>
            <a:off x="8366760" y="2194560"/>
            <a:ext cx="3154680" cy="365760"/>
          </a:xfrm>
          <a:prstGeom prst="rect">
            <a:avLst/>
          </a:prstGeom>
          <a:noFill/>
          <a:ln/>
        </p:spPr>
        <p:txBody>
          <a:bodyPr wrap="square" lIns="0" tIns="0" rIns="0" bIns="0" rtlCol="0" anchor="ctr"/>
          <a:lstStyle/>
          <a:p>
            <a:pPr marL="0" indent="0" algn="l">
              <a:buNone/>
            </a:pPr>
            <a:r>
              <a:rPr lang="en-US" sz="1300" b="1" dirty="0">
                <a:solidFill>
                  <a:srgbClr val="2CA02C"/>
                </a:solidFill>
              </a:rPr>
              <a:t>A's or B's machinery, plus two decisions</a:t>
            </a:r>
            <a:endParaRPr lang="en-US" sz="1300" dirty="0"/>
          </a:p>
        </p:txBody>
      </p:sp>
      <p:sp>
        <p:nvSpPr>
          <p:cNvPr id="20" name="Card bullets C"/>
          <p:cNvSpPr txBox="1"/>
          <p:nvPr/>
        </p:nvSpPr>
        <p:spPr>
          <a:xfrm>
            <a:off x="8366760" y="2651760"/>
            <a:ext cx="3154680" cy="2103120"/>
          </a:xfrm>
          <a:prstGeom prst="rect">
            <a:avLst/>
          </a:prstGeom>
          <a:noFill/>
          <a:ln/>
        </p:spPr>
        <p:txBody>
          <a:bodyPr wrap="square" lIns="0" tIns="0" rIns="0" bIns="0" rtlCol="0" anchor="t"/>
          <a:lstStyle/>
          <a:p>
            <a:pPr marL="177800" indent="-177800" algn="l">
              <a:spcAft>
                <a:spcPts val="600"/>
              </a:spcAft>
              <a:buSzPct val="100000"/>
              <a:buChar char="•"/>
            </a:pPr>
            <a:r>
              <a:rPr lang="en-US" sz="1500" dirty="0">
                <a:solidFill>
                  <a:srgbClr val="1B1F2A"/>
                </a:solidFill>
              </a:rPr>
              <a:t>Mode head: once per episode, run A or B</a:t>
            </a:r>
            <a:endParaRPr lang="en-US" sz="1500" dirty="0"/>
          </a:p>
          <a:p>
            <a:pPr marL="177800" indent="-177800" algn="l">
              <a:spcAft>
                <a:spcPts val="600"/>
              </a:spcAft>
              <a:buSzPct val="100000"/>
              <a:buChar char="•"/>
            </a:pPr>
            <a:r>
              <a:rPr lang="en-US" sz="1500" dirty="0">
                <a:solidFill>
                  <a:srgbClr val="1B1F2A"/>
                </a:solidFill>
              </a:rPr>
              <a:t>Stop head: before every step, continue or stop</a:t>
            </a:r>
            <a:endParaRPr lang="en-US" sz="1500" dirty="0"/>
          </a:p>
          <a:p>
            <a:pPr marL="177800" indent="-177800" algn="l">
              <a:spcAft>
                <a:spcPts val="600"/>
              </a:spcAft>
              <a:buSzPct val="100000"/>
              <a:buChar char="•"/>
            </a:pPr>
            <a:r>
              <a:rPr lang="en-US" sz="1500" dirty="0">
                <a:solidFill>
                  <a:srgbClr val="1B1F2A"/>
                </a:solidFill>
              </a:rPr>
              <a:t>Trained offline (AWR + entropy) on logged A and B episodes</a:t>
            </a:r>
            <a:endParaRPr lang="en-US" sz="1500" dirty="0"/>
          </a:p>
          <a:p>
            <a:pPr marL="177800" indent="-177800" algn="l">
              <a:spcAft>
                <a:spcPts val="600"/>
              </a:spcAft>
              <a:buSzPct val="100000"/>
              <a:buChar char="•"/>
            </a:pPr>
            <a:r>
              <a:rPr lang="en-US" sz="1500" dirty="0">
                <a:solidFill>
                  <a:srgbClr val="1B1F2A"/>
                </a:solidFill>
              </a:rPr>
              <a:t>Never interacts with the sites during training</a:t>
            </a:r>
            <a:endParaRPr lang="en-US" sz="1500" dirty="0"/>
          </a:p>
        </p:txBody>
      </p:sp>
      <p:sp>
        <p:nvSpPr>
          <p:cNvPr id="21" name="Shared harness note"/>
          <p:cNvSpPr txBox="1"/>
          <p:nvPr/>
        </p:nvSpPr>
        <p:spPr>
          <a:xfrm>
            <a:off x="457200" y="5212080"/>
            <a:ext cx="11247120" cy="731520"/>
          </a:xfrm>
          <a:prstGeom prst="rect">
            <a:avLst/>
          </a:prstGeom>
          <a:noFill/>
          <a:ln/>
        </p:spPr>
        <p:txBody>
          <a:bodyPr wrap="square" lIns="0" tIns="0" rIns="0" bIns="0" rtlCol="0" anchor="ctr"/>
          <a:lstStyle/>
          <a:p>
            <a:pPr marL="0" indent="0" algn="l">
              <a:buNone/>
            </a:pPr>
            <a:r>
              <a:rPr lang="en-US" sz="1400" i="1" dirty="0">
                <a:solidFill>
                  <a:srgbClr val="5C6673"/>
                </a:solidFill>
              </a:rPr>
              <a:t>Shared by all three: BrowserGym/WebArena harness, GPT-5 mini (low reasoning effort), the same prompt skeleton, guards and token accounting. Only the orchestration varies.</a:t>
            </a:r>
            <a:endParaRPr lang="en-US" sz="1400" dirty="0"/>
          </a:p>
        </p:txBody>
      </p:sp>
      <p:sp>
        <p:nvSpPr>
          <p:cNvPr id="25" name="Slide Number Placeholder 0"/>
          <p:cNvSpPr>
            <a:spLocks noGrp="1"/>
          </p:cNvSpPr>
          <p:nvPr>
            <p:ph type="sldNum" sz="quarter" idx="4294967295"/>
          </p:nvPr>
        </p:nvSpPr>
        <p:spPr>
          <a:xfrm>
            <a:off x="1124712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673"/>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11247120" cy="777240"/>
          </a:xfrm>
          <a:prstGeom prst="rect">
            <a:avLst/>
          </a:prstGeom>
          <a:noFill/>
          <a:ln/>
        </p:spPr>
        <p:txBody>
          <a:bodyPr wrap="square" lIns="0" tIns="0" rIns="0" bIns="0" rtlCol="0" anchor="ctr"/>
          <a:lstStyle/>
          <a:p>
            <a:pPr marL="0" indent="0" algn="l">
              <a:buNone/>
            </a:pPr>
            <a:r>
              <a:rPr lang="en-US" sz="3000" b="1" dirty="0">
                <a:solidFill>
                  <a:schemeClr val="tx2"/>
                </a:solidFill>
              </a:rPr>
              <a:t>Research questions and the objectives' pass tests</a:t>
            </a:r>
            <a:endParaRPr lang="en-US" sz="3000" dirty="0"/>
          </a:p>
        </p:txBody>
      </p:sp>
      <p:sp>
        <p:nvSpPr>
          <p:cNvPr id="3" name="Heading Research questions"/>
          <p:cNvSpPr txBox="1"/>
          <p:nvPr/>
        </p:nvSpPr>
        <p:spPr>
          <a:xfrm>
            <a:off x="457200" y="1143000"/>
            <a:ext cx="5486400" cy="365760"/>
          </a:xfrm>
          <a:prstGeom prst="rect">
            <a:avLst/>
          </a:prstGeom>
          <a:noFill/>
          <a:ln/>
        </p:spPr>
        <p:txBody>
          <a:bodyPr wrap="square" lIns="0" tIns="0" rIns="0" bIns="0" rtlCol="0" anchor="ctr"/>
          <a:lstStyle/>
          <a:p>
            <a:pPr marL="0" indent="0" algn="l">
              <a:buNone/>
            </a:pPr>
            <a:r>
              <a:rPr lang="en-US" sz="1600" b="1" dirty="0">
                <a:solidFill>
                  <a:srgbClr val="14213D"/>
                </a:solidFill>
              </a:rPr>
              <a:t>Research questions</a:t>
            </a:r>
            <a:endParaRPr lang="en-US" sz="1600" dirty="0"/>
          </a:p>
        </p:txBody>
      </p:sp>
      <p:sp>
        <p:nvSpPr>
          <p:cNvPr id="4" name="Card"/>
          <p:cNvSpPr/>
          <p:nvPr/>
        </p:nvSpPr>
        <p:spPr>
          <a:xfrm>
            <a:off x="457200" y="1600200"/>
            <a:ext cx="5486400" cy="1188720"/>
          </a:xfrm>
          <a:prstGeom prst="roundRect">
            <a:avLst>
              <a:gd name="adj" fmla="val 9231"/>
            </a:avLst>
          </a:prstGeom>
          <a:solidFill>
            <a:srgbClr val="EEF1F6"/>
          </a:solidFill>
          <a:ln w="12700">
            <a:solidFill>
              <a:srgbClr val="EEF1F6"/>
            </a:solidFill>
            <a:prstDash val="solid"/>
          </a:ln>
        </p:spPr>
        <p:txBody>
          <a:bodyPr/>
          <a:lstStyle/>
          <a:p>
            <a:endParaRPr lang="en-GB"/>
          </a:p>
        </p:txBody>
      </p:sp>
      <p:sp>
        <p:nvSpPr>
          <p:cNvPr id="5" name="RQ label RQ1"/>
          <p:cNvSpPr txBox="1"/>
          <p:nvPr/>
        </p:nvSpPr>
        <p:spPr>
          <a:xfrm>
            <a:off x="640080" y="1737360"/>
            <a:ext cx="914400" cy="914400"/>
          </a:xfrm>
          <a:prstGeom prst="rect">
            <a:avLst/>
          </a:prstGeom>
          <a:noFill/>
          <a:ln/>
        </p:spPr>
        <p:txBody>
          <a:bodyPr wrap="square" lIns="0" tIns="0" rIns="0" bIns="0" rtlCol="0" anchor="ctr"/>
          <a:lstStyle/>
          <a:p>
            <a:pPr marL="0" indent="0" algn="l">
              <a:buNone/>
            </a:pPr>
            <a:r>
              <a:rPr lang="en-US" sz="2200" b="1" dirty="0">
                <a:solidFill>
                  <a:srgbClr val="14213D"/>
                </a:solidFill>
                <a:latin typeface="Cambria" pitchFamily="34" charset="0"/>
                <a:ea typeface="Cambria" pitchFamily="34" charset="-122"/>
                <a:cs typeface="Cambria" pitchFamily="34" charset="-120"/>
              </a:rPr>
              <a:t>RQ1</a:t>
            </a:r>
            <a:endParaRPr lang="en-US" sz="2200" dirty="0"/>
          </a:p>
        </p:txBody>
      </p:sp>
      <p:sp>
        <p:nvSpPr>
          <p:cNvPr id="6" name="RQ text RQ1"/>
          <p:cNvSpPr txBox="1"/>
          <p:nvPr/>
        </p:nvSpPr>
        <p:spPr>
          <a:xfrm>
            <a:off x="1554480" y="1709928"/>
            <a:ext cx="4206240" cy="969264"/>
          </a:xfrm>
          <a:prstGeom prst="rect">
            <a:avLst/>
          </a:prstGeom>
          <a:noFill/>
          <a:ln/>
        </p:spPr>
        <p:txBody>
          <a:bodyPr wrap="square" lIns="0" tIns="0" rIns="0" bIns="0" rtlCol="0" anchor="ctr"/>
          <a:lstStyle/>
          <a:p>
            <a:pPr marL="0" indent="0" algn="l">
              <a:buNone/>
            </a:pPr>
            <a:r>
              <a:rPr lang="en-US" sz="1350" dirty="0">
                <a:solidFill>
                  <a:srgbClr val="1B1F2A"/>
                </a:solidFill>
              </a:rPr>
              <a:t>How do success rate, token efficiency and the error profile vary with a fixed global token budget across the three strategies?</a:t>
            </a:r>
            <a:endParaRPr lang="en-US" sz="1350" dirty="0"/>
          </a:p>
        </p:txBody>
      </p:sp>
      <p:sp>
        <p:nvSpPr>
          <p:cNvPr id="7" name="Card"/>
          <p:cNvSpPr/>
          <p:nvPr/>
        </p:nvSpPr>
        <p:spPr>
          <a:xfrm>
            <a:off x="457200" y="2971800"/>
            <a:ext cx="5486400" cy="1188720"/>
          </a:xfrm>
          <a:prstGeom prst="roundRect">
            <a:avLst>
              <a:gd name="adj" fmla="val 9231"/>
            </a:avLst>
          </a:prstGeom>
          <a:solidFill>
            <a:srgbClr val="EEF1F6"/>
          </a:solidFill>
          <a:ln w="12700">
            <a:solidFill>
              <a:srgbClr val="EEF1F6"/>
            </a:solidFill>
            <a:prstDash val="solid"/>
          </a:ln>
        </p:spPr>
        <p:txBody>
          <a:bodyPr/>
          <a:lstStyle/>
          <a:p>
            <a:endParaRPr lang="en-GB"/>
          </a:p>
        </p:txBody>
      </p:sp>
      <p:sp>
        <p:nvSpPr>
          <p:cNvPr id="8" name="RQ label RQ2"/>
          <p:cNvSpPr txBox="1"/>
          <p:nvPr/>
        </p:nvSpPr>
        <p:spPr>
          <a:xfrm>
            <a:off x="640080" y="3108960"/>
            <a:ext cx="914400" cy="914400"/>
          </a:xfrm>
          <a:prstGeom prst="rect">
            <a:avLst/>
          </a:prstGeom>
          <a:noFill/>
          <a:ln/>
        </p:spPr>
        <p:txBody>
          <a:bodyPr wrap="square" lIns="0" tIns="0" rIns="0" bIns="0" rtlCol="0" anchor="ctr"/>
          <a:lstStyle/>
          <a:p>
            <a:pPr marL="0" indent="0" algn="l">
              <a:buNone/>
            </a:pPr>
            <a:r>
              <a:rPr lang="en-US" sz="2200" b="1" dirty="0">
                <a:solidFill>
                  <a:srgbClr val="14213D"/>
                </a:solidFill>
                <a:latin typeface="Cambria" pitchFamily="34" charset="0"/>
                <a:ea typeface="Cambria" pitchFamily="34" charset="-122"/>
                <a:cs typeface="Cambria" pitchFamily="34" charset="-120"/>
              </a:rPr>
              <a:t>RQ2</a:t>
            </a:r>
            <a:endParaRPr lang="en-US" sz="2200" dirty="0"/>
          </a:p>
        </p:txBody>
      </p:sp>
      <p:sp>
        <p:nvSpPr>
          <p:cNvPr id="9" name="RQ text RQ2"/>
          <p:cNvSpPr txBox="1"/>
          <p:nvPr/>
        </p:nvSpPr>
        <p:spPr>
          <a:xfrm>
            <a:off x="1554480" y="3081528"/>
            <a:ext cx="4206240" cy="969264"/>
          </a:xfrm>
          <a:prstGeom prst="rect">
            <a:avLst/>
          </a:prstGeom>
          <a:noFill/>
          <a:ln/>
        </p:spPr>
        <p:txBody>
          <a:bodyPr wrap="square" lIns="0" tIns="0" rIns="0" bIns="0" rtlCol="0" anchor="ctr"/>
          <a:lstStyle/>
          <a:p>
            <a:pPr marL="0" indent="0" algn="l">
              <a:buNone/>
            </a:pPr>
            <a:r>
              <a:rPr lang="en-US" sz="1350" dirty="0">
                <a:solidFill>
                  <a:srgbClr val="1B1F2A"/>
                </a:solidFill>
              </a:rPr>
              <a:t>How do the strategies differ in sensitivity to task difficulty (Easy / Medium / Hard) in success rate and failure modes?</a:t>
            </a:r>
            <a:endParaRPr lang="en-US" sz="1350" dirty="0"/>
          </a:p>
        </p:txBody>
      </p:sp>
      <p:sp>
        <p:nvSpPr>
          <p:cNvPr id="10" name="Card"/>
          <p:cNvSpPr/>
          <p:nvPr/>
        </p:nvSpPr>
        <p:spPr>
          <a:xfrm>
            <a:off x="457200" y="4343400"/>
            <a:ext cx="5486400" cy="1188720"/>
          </a:xfrm>
          <a:prstGeom prst="roundRect">
            <a:avLst>
              <a:gd name="adj" fmla="val 9231"/>
            </a:avLst>
          </a:prstGeom>
          <a:solidFill>
            <a:srgbClr val="EEF1F6"/>
          </a:solidFill>
          <a:ln w="12700">
            <a:solidFill>
              <a:srgbClr val="EEF1F6"/>
            </a:solidFill>
            <a:prstDash val="solid"/>
          </a:ln>
        </p:spPr>
        <p:txBody>
          <a:bodyPr/>
          <a:lstStyle/>
          <a:p>
            <a:endParaRPr lang="en-GB"/>
          </a:p>
        </p:txBody>
      </p:sp>
      <p:sp>
        <p:nvSpPr>
          <p:cNvPr id="11" name="RQ label RQ3"/>
          <p:cNvSpPr txBox="1"/>
          <p:nvPr/>
        </p:nvSpPr>
        <p:spPr>
          <a:xfrm>
            <a:off x="640080" y="4480560"/>
            <a:ext cx="914400" cy="914400"/>
          </a:xfrm>
          <a:prstGeom prst="rect">
            <a:avLst/>
          </a:prstGeom>
          <a:noFill/>
          <a:ln/>
        </p:spPr>
        <p:txBody>
          <a:bodyPr wrap="square" lIns="0" tIns="0" rIns="0" bIns="0" rtlCol="0" anchor="ctr"/>
          <a:lstStyle/>
          <a:p>
            <a:pPr marL="0" indent="0" algn="l">
              <a:buNone/>
            </a:pPr>
            <a:r>
              <a:rPr lang="en-US" sz="2200" b="1" dirty="0">
                <a:solidFill>
                  <a:srgbClr val="14213D"/>
                </a:solidFill>
                <a:latin typeface="Cambria" pitchFamily="34" charset="0"/>
                <a:ea typeface="Cambria" pitchFamily="34" charset="-122"/>
                <a:cs typeface="Cambria" pitchFamily="34" charset="-120"/>
              </a:rPr>
              <a:t>RQ3</a:t>
            </a:r>
            <a:endParaRPr lang="en-US" sz="2200" dirty="0"/>
          </a:p>
        </p:txBody>
      </p:sp>
      <p:sp>
        <p:nvSpPr>
          <p:cNvPr id="12" name="RQ text RQ3"/>
          <p:cNvSpPr txBox="1"/>
          <p:nvPr/>
        </p:nvSpPr>
        <p:spPr>
          <a:xfrm>
            <a:off x="1554480" y="4453128"/>
            <a:ext cx="4206240" cy="969264"/>
          </a:xfrm>
          <a:prstGeom prst="rect">
            <a:avLst/>
          </a:prstGeom>
          <a:noFill/>
          <a:ln/>
        </p:spPr>
        <p:txBody>
          <a:bodyPr wrap="square" lIns="0" tIns="0" rIns="0" bIns="0" rtlCol="0" anchor="ctr"/>
          <a:lstStyle/>
          <a:p>
            <a:pPr marL="0" indent="0" algn="l">
              <a:buNone/>
            </a:pPr>
            <a:r>
              <a:rPr lang="en-US" sz="1350" dirty="0">
                <a:solidFill>
                  <a:srgbClr val="1B1F2A"/>
                </a:solidFill>
              </a:rPr>
              <a:t>Given the same budget, how do intra-episode allocation schemes (even, front-loaded, reactive) affect success and token efficiency?</a:t>
            </a:r>
            <a:endParaRPr lang="en-US" sz="1350" dirty="0"/>
          </a:p>
        </p:txBody>
      </p:sp>
      <p:sp>
        <p:nvSpPr>
          <p:cNvPr id="13" name="Heading Objectives and their tests"/>
          <p:cNvSpPr txBox="1"/>
          <p:nvPr/>
        </p:nvSpPr>
        <p:spPr>
          <a:xfrm>
            <a:off x="6400800" y="1143000"/>
            <a:ext cx="5303520" cy="365760"/>
          </a:xfrm>
          <a:prstGeom prst="rect">
            <a:avLst/>
          </a:prstGeom>
          <a:noFill/>
          <a:ln/>
        </p:spPr>
        <p:txBody>
          <a:bodyPr wrap="square" lIns="0" tIns="0" rIns="0" bIns="0" rtlCol="0" anchor="ctr"/>
          <a:lstStyle/>
          <a:p>
            <a:pPr marL="0" indent="0" algn="l">
              <a:buNone/>
            </a:pPr>
            <a:r>
              <a:rPr lang="en-US" sz="1600" b="1" dirty="0">
                <a:solidFill>
                  <a:srgbClr val="14213D"/>
                </a:solidFill>
              </a:rPr>
              <a:t>Objectives and their tests</a:t>
            </a:r>
            <a:endParaRPr lang="en-US" sz="1600" dirty="0"/>
          </a:p>
        </p:txBody>
      </p:sp>
      <p:sp>
        <p:nvSpPr>
          <p:cNvPr id="14" name="Badge 1"/>
          <p:cNvSpPr/>
          <p:nvPr/>
        </p:nvSpPr>
        <p:spPr>
          <a:xfrm>
            <a:off x="6400800" y="1645920"/>
            <a:ext cx="384048" cy="384048"/>
          </a:xfrm>
          <a:prstGeom prst="ellipse">
            <a:avLst/>
          </a:prstGeom>
          <a:solidFill>
            <a:srgbClr val="14213D"/>
          </a:solidFill>
          <a:ln w="12700">
            <a:solidFill>
              <a:srgbClr val="14213D"/>
            </a:solidFill>
            <a:prstDash val="solid"/>
          </a:ln>
        </p:spPr>
        <p:txBody>
          <a:bodyPr/>
          <a:lstStyle/>
          <a:p>
            <a:endParaRPr lang="en-GB"/>
          </a:p>
        </p:txBody>
      </p:sp>
      <p:sp>
        <p:nvSpPr>
          <p:cNvPr id="15" name="Badge label 1"/>
          <p:cNvSpPr txBox="1"/>
          <p:nvPr/>
        </p:nvSpPr>
        <p:spPr>
          <a:xfrm>
            <a:off x="6400800" y="164592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rPr>
              <a:t>1</a:t>
            </a:r>
            <a:endParaRPr lang="en-US" sz="1300" dirty="0"/>
          </a:p>
        </p:txBody>
      </p:sp>
      <p:sp>
        <p:nvSpPr>
          <p:cNvPr id="16" name="Objective 1"/>
          <p:cNvSpPr txBox="1"/>
          <p:nvPr/>
        </p:nvSpPr>
        <p:spPr>
          <a:xfrm>
            <a:off x="6949440" y="1600200"/>
            <a:ext cx="4800600" cy="786384"/>
          </a:xfrm>
          <a:prstGeom prst="rect">
            <a:avLst/>
          </a:prstGeom>
          <a:noFill/>
          <a:ln/>
        </p:spPr>
        <p:txBody>
          <a:bodyPr wrap="square" lIns="0" tIns="0" rIns="0" bIns="0" rtlCol="0" anchor="t"/>
          <a:lstStyle/>
          <a:p>
            <a:pPr marL="0" indent="0" algn="l">
              <a:buNone/>
            </a:pPr>
            <a:r>
              <a:rPr lang="en-US" sz="1250" b="1" dirty="0">
                <a:solidFill>
                  <a:srgbClr val="14213D"/>
                </a:solidFill>
              </a:rPr>
              <a:t>Harness  </a:t>
            </a:r>
            <a:r>
              <a:rPr lang="en-US" sz="1250" dirty="0">
                <a:solidFill>
                  <a:srgbClr val="1B1F2A"/>
                </a:solidFill>
              </a:rPr>
              <a:t>All three strategies run end to end on self-hosted WebArena; every episode respects its cap, overshoot measured.</a:t>
            </a:r>
            <a:endParaRPr lang="en-US" sz="1250" dirty="0"/>
          </a:p>
        </p:txBody>
      </p:sp>
      <p:sp>
        <p:nvSpPr>
          <p:cNvPr id="17" name="Badge 2"/>
          <p:cNvSpPr/>
          <p:nvPr/>
        </p:nvSpPr>
        <p:spPr>
          <a:xfrm>
            <a:off x="6400800" y="2496312"/>
            <a:ext cx="384048" cy="384048"/>
          </a:xfrm>
          <a:prstGeom prst="ellipse">
            <a:avLst/>
          </a:prstGeom>
          <a:solidFill>
            <a:srgbClr val="14213D"/>
          </a:solidFill>
          <a:ln w="12700">
            <a:solidFill>
              <a:srgbClr val="14213D"/>
            </a:solidFill>
            <a:prstDash val="solid"/>
          </a:ln>
        </p:spPr>
        <p:txBody>
          <a:bodyPr/>
          <a:lstStyle/>
          <a:p>
            <a:endParaRPr lang="en-GB"/>
          </a:p>
        </p:txBody>
      </p:sp>
      <p:sp>
        <p:nvSpPr>
          <p:cNvPr id="18" name="Badge label 2"/>
          <p:cNvSpPr txBox="1"/>
          <p:nvPr/>
        </p:nvSpPr>
        <p:spPr>
          <a:xfrm>
            <a:off x="6400800" y="2496312"/>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rPr>
              <a:t>2</a:t>
            </a:r>
            <a:endParaRPr lang="en-US" sz="1300" dirty="0"/>
          </a:p>
        </p:txBody>
      </p:sp>
      <p:sp>
        <p:nvSpPr>
          <p:cNvPr id="19" name="Objective 2"/>
          <p:cNvSpPr txBox="1"/>
          <p:nvPr/>
        </p:nvSpPr>
        <p:spPr>
          <a:xfrm>
            <a:off x="6949440" y="2450592"/>
            <a:ext cx="4800600" cy="786384"/>
          </a:xfrm>
          <a:prstGeom prst="rect">
            <a:avLst/>
          </a:prstGeom>
          <a:noFill/>
          <a:ln/>
        </p:spPr>
        <p:txBody>
          <a:bodyPr wrap="square" lIns="0" tIns="0" rIns="0" bIns="0" rtlCol="0" anchor="t"/>
          <a:lstStyle/>
          <a:p>
            <a:pPr marL="0" indent="0" algn="l">
              <a:buNone/>
            </a:pPr>
            <a:r>
              <a:rPr lang="en-US" sz="1250" b="1" dirty="0">
                <a:solidFill>
                  <a:srgbClr val="14213D"/>
                </a:solidFill>
              </a:rPr>
              <a:t>Dataset  </a:t>
            </a:r>
            <a:r>
              <a:rPr lang="en-US" sz="1250" dirty="0">
                <a:solidFill>
                  <a:srgbClr val="1B1F2A"/>
                </a:solidFill>
              </a:rPr>
              <a:t>Full task × budget coverage; difficulty, risk and eligibility labels; LLM difficulty labels agree with a 50-task gold set (Cohen's κ).</a:t>
            </a:r>
            <a:endParaRPr lang="en-US" sz="1250" dirty="0"/>
          </a:p>
        </p:txBody>
      </p:sp>
      <p:sp>
        <p:nvSpPr>
          <p:cNvPr id="20" name="Badge 3"/>
          <p:cNvSpPr/>
          <p:nvPr/>
        </p:nvSpPr>
        <p:spPr>
          <a:xfrm>
            <a:off x="6400800" y="3346704"/>
            <a:ext cx="384048" cy="384048"/>
          </a:xfrm>
          <a:prstGeom prst="ellipse">
            <a:avLst/>
          </a:prstGeom>
          <a:solidFill>
            <a:srgbClr val="14213D"/>
          </a:solidFill>
          <a:ln w="12700">
            <a:solidFill>
              <a:srgbClr val="14213D"/>
            </a:solidFill>
            <a:prstDash val="solid"/>
          </a:ln>
        </p:spPr>
        <p:txBody>
          <a:bodyPr/>
          <a:lstStyle/>
          <a:p>
            <a:endParaRPr lang="en-GB"/>
          </a:p>
        </p:txBody>
      </p:sp>
      <p:sp>
        <p:nvSpPr>
          <p:cNvPr id="21" name="Badge label 3"/>
          <p:cNvSpPr txBox="1"/>
          <p:nvPr/>
        </p:nvSpPr>
        <p:spPr>
          <a:xfrm>
            <a:off x="6400800" y="3346704"/>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rPr>
              <a:t>3</a:t>
            </a:r>
            <a:endParaRPr lang="en-US" sz="1300" dirty="0"/>
          </a:p>
        </p:txBody>
      </p:sp>
      <p:sp>
        <p:nvSpPr>
          <p:cNvPr id="22" name="Objective 3"/>
          <p:cNvSpPr txBox="1"/>
          <p:nvPr/>
        </p:nvSpPr>
        <p:spPr>
          <a:xfrm>
            <a:off x="6949440" y="3300984"/>
            <a:ext cx="4800600" cy="786384"/>
          </a:xfrm>
          <a:prstGeom prst="rect">
            <a:avLst/>
          </a:prstGeom>
          <a:noFill/>
          <a:ln/>
        </p:spPr>
        <p:txBody>
          <a:bodyPr wrap="square" lIns="0" tIns="0" rIns="0" bIns="0" rtlCol="0" anchor="t"/>
          <a:lstStyle/>
          <a:p>
            <a:pPr marL="0" indent="0" algn="l">
              <a:buNone/>
            </a:pPr>
            <a:r>
              <a:rPr lang="en-US" sz="1250" b="1" dirty="0">
                <a:solidFill>
                  <a:srgbClr val="14213D"/>
                </a:solidFill>
              </a:rPr>
              <a:t>Router  </a:t>
            </a:r>
            <a:r>
              <a:rPr lang="en-US" sz="1250" dirty="0">
                <a:solidFill>
                  <a:srgbClr val="1B1F2A"/>
                </a:solidFill>
              </a:rPr>
              <a:t>Offline replay keeps ≥ 90% of A's successes while saving tokens; then runs live as Strategy C.</a:t>
            </a:r>
            <a:endParaRPr lang="en-US" sz="1250" dirty="0"/>
          </a:p>
        </p:txBody>
      </p:sp>
      <p:sp>
        <p:nvSpPr>
          <p:cNvPr id="23" name="Badge 4"/>
          <p:cNvSpPr/>
          <p:nvPr/>
        </p:nvSpPr>
        <p:spPr>
          <a:xfrm>
            <a:off x="6400800" y="4197096"/>
            <a:ext cx="384048" cy="384048"/>
          </a:xfrm>
          <a:prstGeom prst="ellipse">
            <a:avLst/>
          </a:prstGeom>
          <a:solidFill>
            <a:srgbClr val="14213D"/>
          </a:solidFill>
          <a:ln w="12700">
            <a:solidFill>
              <a:srgbClr val="14213D"/>
            </a:solidFill>
            <a:prstDash val="solid"/>
          </a:ln>
        </p:spPr>
        <p:txBody>
          <a:bodyPr/>
          <a:lstStyle/>
          <a:p>
            <a:endParaRPr lang="en-GB"/>
          </a:p>
        </p:txBody>
      </p:sp>
      <p:sp>
        <p:nvSpPr>
          <p:cNvPr id="24" name="Badge label 4"/>
          <p:cNvSpPr txBox="1"/>
          <p:nvPr/>
        </p:nvSpPr>
        <p:spPr>
          <a:xfrm>
            <a:off x="6400800" y="4197096"/>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rPr>
              <a:t>4</a:t>
            </a:r>
            <a:endParaRPr lang="en-US" sz="1300" dirty="0"/>
          </a:p>
        </p:txBody>
      </p:sp>
      <p:sp>
        <p:nvSpPr>
          <p:cNvPr id="25" name="Objective 4"/>
          <p:cNvSpPr txBox="1"/>
          <p:nvPr/>
        </p:nvSpPr>
        <p:spPr>
          <a:xfrm>
            <a:off x="6949440" y="4151376"/>
            <a:ext cx="4800600" cy="786384"/>
          </a:xfrm>
          <a:prstGeom prst="rect">
            <a:avLst/>
          </a:prstGeom>
          <a:noFill/>
          <a:ln/>
        </p:spPr>
        <p:txBody>
          <a:bodyPr wrap="square" lIns="0" tIns="0" rIns="0" bIns="0" rtlCol="0" anchor="t"/>
          <a:lstStyle/>
          <a:p>
            <a:pPr marL="0" indent="0" algn="l">
              <a:buNone/>
            </a:pPr>
            <a:r>
              <a:rPr lang="en-US" sz="1250" b="1" dirty="0">
                <a:solidFill>
                  <a:srgbClr val="14213D"/>
                </a:solidFill>
              </a:rPr>
              <a:t>Analysis  </a:t>
            </a:r>
            <a:r>
              <a:rPr lang="en-US" sz="1250" dirty="0">
                <a:solidFill>
                  <a:srgbClr val="1B1F2A"/>
                </a:solidFill>
              </a:rPr>
              <a:t>Every claimed difference backed by a paired exact McNemar test with multiple-comparison correction and 95% CIs.</a:t>
            </a:r>
            <a:endParaRPr lang="en-US" sz="1250" dirty="0"/>
          </a:p>
        </p:txBody>
      </p:sp>
      <p:sp>
        <p:nvSpPr>
          <p:cNvPr id="26" name="Badge 5"/>
          <p:cNvSpPr/>
          <p:nvPr/>
        </p:nvSpPr>
        <p:spPr>
          <a:xfrm>
            <a:off x="6400800" y="5047488"/>
            <a:ext cx="384048" cy="384048"/>
          </a:xfrm>
          <a:prstGeom prst="ellipse">
            <a:avLst/>
          </a:prstGeom>
          <a:solidFill>
            <a:srgbClr val="14213D"/>
          </a:solidFill>
          <a:ln w="12700">
            <a:solidFill>
              <a:srgbClr val="14213D"/>
            </a:solidFill>
            <a:prstDash val="solid"/>
          </a:ln>
        </p:spPr>
        <p:txBody>
          <a:bodyPr/>
          <a:lstStyle/>
          <a:p>
            <a:endParaRPr lang="en-GB"/>
          </a:p>
        </p:txBody>
      </p:sp>
      <p:sp>
        <p:nvSpPr>
          <p:cNvPr id="27" name="Badge label 5"/>
          <p:cNvSpPr txBox="1"/>
          <p:nvPr/>
        </p:nvSpPr>
        <p:spPr>
          <a:xfrm>
            <a:off x="6400800" y="504748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rPr>
              <a:t>5</a:t>
            </a:r>
            <a:endParaRPr lang="en-US" sz="1300" dirty="0"/>
          </a:p>
        </p:txBody>
      </p:sp>
      <p:sp>
        <p:nvSpPr>
          <p:cNvPr id="28" name="Objective 5"/>
          <p:cNvSpPr txBox="1"/>
          <p:nvPr/>
        </p:nvSpPr>
        <p:spPr>
          <a:xfrm>
            <a:off x="6949440" y="5001768"/>
            <a:ext cx="4800600" cy="786384"/>
          </a:xfrm>
          <a:prstGeom prst="rect">
            <a:avLst/>
          </a:prstGeom>
          <a:noFill/>
          <a:ln/>
        </p:spPr>
        <p:txBody>
          <a:bodyPr wrap="square" lIns="0" tIns="0" rIns="0" bIns="0" rtlCol="0" anchor="t"/>
          <a:lstStyle/>
          <a:p>
            <a:pPr marL="0" indent="0" algn="l">
              <a:buNone/>
            </a:pPr>
            <a:r>
              <a:rPr lang="en-US" sz="1250" b="1" dirty="0">
                <a:solidFill>
                  <a:srgbClr val="14213D"/>
                </a:solidFill>
              </a:rPr>
              <a:t>Reproducibility  </a:t>
            </a:r>
            <a:r>
              <a:rPr lang="en-US" sz="1250" dirty="0">
                <a:solidFill>
                  <a:srgbClr val="1B1F2A"/>
                </a:solidFill>
              </a:rPr>
              <a:t>Repository with the full pipeline and documented schemas for every dataset.</a:t>
            </a:r>
            <a:endParaRPr lang="en-US" sz="1250" dirty="0"/>
          </a:p>
        </p:txBody>
      </p:sp>
      <p:sp>
        <p:nvSpPr>
          <p:cNvPr id="29" name="Slide Number Placeholder 0"/>
          <p:cNvSpPr>
            <a:spLocks noGrp="1"/>
          </p:cNvSpPr>
          <p:nvPr>
            <p:ph type="sldNum" sz="quarter" idx="4294967295"/>
          </p:nvPr>
        </p:nvSpPr>
        <p:spPr>
          <a:xfrm>
            <a:off x="1124712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673"/>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11247120" cy="777240"/>
          </a:xfrm>
          <a:prstGeom prst="rect">
            <a:avLst/>
          </a:prstGeom>
          <a:noFill/>
          <a:ln/>
        </p:spPr>
        <p:txBody>
          <a:bodyPr wrap="square" lIns="0" tIns="0" rIns="0" bIns="0" rtlCol="0" anchor="ctr"/>
          <a:lstStyle/>
          <a:p>
            <a:pPr marL="0" indent="0" algn="l">
              <a:buNone/>
            </a:pPr>
            <a:r>
              <a:rPr lang="en-US" sz="3000" b="1" dirty="0">
                <a:solidFill>
                  <a:schemeClr val="tx2"/>
                </a:solidFill>
              </a:rPr>
              <a:t>Scope, work plan and the outputs produced</a:t>
            </a:r>
            <a:endParaRPr lang="en-US" sz="3000" dirty="0"/>
          </a:p>
        </p:txBody>
      </p:sp>
      <p:pic>
        <p:nvPicPr>
          <p:cNvPr id="3" name="Report Figure 1.1" descr="/tmp/claude-0/-home-claude/3b9ca3d8-d8cd-59f1-9b80-73904a5c6e11/scratchpad/r23/word/media/image1.png"/>
          <p:cNvPicPr>
            <a:picLocks noChangeAspect="1"/>
          </p:cNvPicPr>
          <p:nvPr/>
        </p:nvPicPr>
        <p:blipFill>
          <a:blip r:embed="rId3"/>
          <a:stretch>
            <a:fillRect/>
          </a:stretch>
        </p:blipFill>
        <p:spPr>
          <a:xfrm>
            <a:off x="533400" y="1097280"/>
            <a:ext cx="5608320" cy="4206240"/>
          </a:xfrm>
          <a:prstGeom prst="rect">
            <a:avLst/>
          </a:prstGeom>
        </p:spPr>
      </p:pic>
      <p:sp>
        <p:nvSpPr>
          <p:cNvPr id="4" name="Caption Figure 1.1"/>
          <p:cNvSpPr txBox="1"/>
          <p:nvPr/>
        </p:nvSpPr>
        <p:spPr>
          <a:xfrm>
            <a:off x="457200" y="5321808"/>
            <a:ext cx="5760720" cy="301752"/>
          </a:xfrm>
          <a:prstGeom prst="rect">
            <a:avLst/>
          </a:prstGeom>
          <a:noFill/>
          <a:ln/>
        </p:spPr>
        <p:txBody>
          <a:bodyPr wrap="square" lIns="0" tIns="0" rIns="0" bIns="0" rtlCol="0" anchor="t"/>
          <a:lstStyle/>
          <a:p>
            <a:pPr marL="0" indent="0" algn="ctr">
              <a:buNone/>
            </a:pPr>
            <a:r>
              <a:rPr lang="en-US" sz="1100" i="1" dirty="0">
                <a:solidFill>
                  <a:srgbClr val="5C6673"/>
                </a:solidFill>
              </a:rPr>
              <a:t>Report Figure 1.1: work plan through four milestones (environment, dataset, router, analysis)</a:t>
            </a:r>
            <a:endParaRPr lang="en-US" sz="1100" dirty="0"/>
          </a:p>
        </p:txBody>
      </p:sp>
      <p:sp>
        <p:nvSpPr>
          <p:cNvPr id="5" name="Heading Scope"/>
          <p:cNvSpPr txBox="1"/>
          <p:nvPr/>
        </p:nvSpPr>
        <p:spPr>
          <a:xfrm>
            <a:off x="6583680" y="1143000"/>
            <a:ext cx="5120640" cy="365760"/>
          </a:xfrm>
          <a:prstGeom prst="rect">
            <a:avLst/>
          </a:prstGeom>
          <a:noFill/>
          <a:ln/>
        </p:spPr>
        <p:txBody>
          <a:bodyPr wrap="square" lIns="0" tIns="0" rIns="0" bIns="0" rtlCol="0" anchor="ctr"/>
          <a:lstStyle/>
          <a:p>
            <a:pPr marL="0" indent="0" algn="l">
              <a:buNone/>
            </a:pPr>
            <a:r>
              <a:rPr lang="en-US" sz="1600" b="1" dirty="0">
                <a:solidFill>
                  <a:srgbClr val="14213D"/>
                </a:solidFill>
              </a:rPr>
              <a:t>Scope</a:t>
            </a:r>
            <a:endParaRPr lang="en-US" sz="1600" dirty="0"/>
          </a:p>
        </p:txBody>
      </p:sp>
      <p:sp>
        <p:nvSpPr>
          <p:cNvPr id="6" name="Scope text"/>
          <p:cNvSpPr txBox="1"/>
          <p:nvPr/>
        </p:nvSpPr>
        <p:spPr>
          <a:xfrm>
            <a:off x="6583680" y="1508760"/>
            <a:ext cx="5166360" cy="868680"/>
          </a:xfrm>
          <a:prstGeom prst="rect">
            <a:avLst/>
          </a:prstGeom>
          <a:noFill/>
          <a:ln/>
        </p:spPr>
        <p:txBody>
          <a:bodyPr wrap="square" lIns="0" tIns="0" rIns="0" bIns="0" rtlCol="0" anchor="t"/>
          <a:lstStyle/>
          <a:p>
            <a:pPr marL="0" indent="0" algn="l">
              <a:buNone/>
            </a:pPr>
            <a:r>
              <a:rPr lang="en-US" sz="1300" dirty="0">
                <a:solidFill>
                  <a:srgbClr val="1B1F2A"/>
                </a:solidFill>
              </a:rPr>
              <a:t>475 single-site WebArena tasks (shopping 187, shopping admin 182, forum 106) × 6 budgets (2k to 64k tokens) × 3 strategies = 8,550 episodes, plus 900 RQ3 scheme episodes.</a:t>
            </a:r>
            <a:endParaRPr lang="en-US" sz="1300" dirty="0"/>
          </a:p>
        </p:txBody>
      </p:sp>
      <p:sp>
        <p:nvSpPr>
          <p:cNvPr id="7" name="Heading Outputs"/>
          <p:cNvSpPr txBox="1"/>
          <p:nvPr/>
        </p:nvSpPr>
        <p:spPr>
          <a:xfrm>
            <a:off x="6583680" y="2468880"/>
            <a:ext cx="5120640" cy="365760"/>
          </a:xfrm>
          <a:prstGeom prst="rect">
            <a:avLst/>
          </a:prstGeom>
          <a:noFill/>
          <a:ln/>
        </p:spPr>
        <p:txBody>
          <a:bodyPr wrap="square" lIns="0" tIns="0" rIns="0" bIns="0" rtlCol="0" anchor="ctr"/>
          <a:lstStyle/>
          <a:p>
            <a:pPr marL="0" indent="0" algn="l">
              <a:buNone/>
            </a:pPr>
            <a:r>
              <a:rPr lang="en-US" sz="1600" b="1" dirty="0">
                <a:solidFill>
                  <a:srgbClr val="14213D"/>
                </a:solidFill>
              </a:rPr>
              <a:t>Outputs</a:t>
            </a:r>
            <a:endParaRPr lang="en-US" sz="1600" dirty="0"/>
          </a:p>
        </p:txBody>
      </p:sp>
      <p:sp>
        <p:nvSpPr>
          <p:cNvPr id="8" name="Badge 1"/>
          <p:cNvSpPr/>
          <p:nvPr/>
        </p:nvSpPr>
        <p:spPr>
          <a:xfrm>
            <a:off x="6583680" y="2926080"/>
            <a:ext cx="365760" cy="365760"/>
          </a:xfrm>
          <a:prstGeom prst="ellipse">
            <a:avLst/>
          </a:prstGeom>
          <a:solidFill>
            <a:srgbClr val="2CA02C"/>
          </a:solidFill>
          <a:ln w="12700">
            <a:solidFill>
              <a:srgbClr val="2CA02C"/>
            </a:solidFill>
            <a:prstDash val="solid"/>
          </a:ln>
        </p:spPr>
        <p:txBody>
          <a:bodyPr/>
          <a:lstStyle/>
          <a:p>
            <a:endParaRPr lang="en-GB"/>
          </a:p>
        </p:txBody>
      </p:sp>
      <p:sp>
        <p:nvSpPr>
          <p:cNvPr id="9" name="Badge label 1"/>
          <p:cNvSpPr txBox="1"/>
          <p:nvPr/>
        </p:nvSpPr>
        <p:spPr>
          <a:xfrm>
            <a:off x="6583680" y="292608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rPr>
              <a:t>1</a:t>
            </a:r>
            <a:endParaRPr lang="en-US" sz="1200" dirty="0"/>
          </a:p>
        </p:txBody>
      </p:sp>
      <p:sp>
        <p:nvSpPr>
          <p:cNvPr id="10" name="Output 1"/>
          <p:cNvSpPr txBox="1"/>
          <p:nvPr/>
        </p:nvSpPr>
        <p:spPr>
          <a:xfrm>
            <a:off x="7086600" y="2880360"/>
            <a:ext cx="4663440" cy="530352"/>
          </a:xfrm>
          <a:prstGeom prst="rect">
            <a:avLst/>
          </a:prstGeom>
          <a:noFill/>
          <a:ln/>
        </p:spPr>
        <p:txBody>
          <a:bodyPr wrap="square" lIns="0" tIns="0" rIns="0" bIns="0" rtlCol="0" anchor="ctr"/>
          <a:lstStyle/>
          <a:p>
            <a:pPr marL="0" indent="0" algn="l">
              <a:buNone/>
            </a:pPr>
            <a:r>
              <a:rPr lang="en-US" sz="1250" b="1" dirty="0">
                <a:solidFill>
                  <a:srgbClr val="14213D"/>
                </a:solidFill>
              </a:rPr>
              <a:t>Shared harness: </a:t>
            </a:r>
            <a:r>
              <a:rPr lang="en-US" sz="1250" dirty="0">
                <a:solidFill>
                  <a:srgbClr val="1B1F2A"/>
                </a:solidFill>
              </a:rPr>
              <a:t>wa_env.py + strategy_a/b/c.py with hard per-episode token caps</a:t>
            </a:r>
            <a:endParaRPr lang="en-US" sz="1250" dirty="0"/>
          </a:p>
        </p:txBody>
      </p:sp>
      <p:sp>
        <p:nvSpPr>
          <p:cNvPr id="11" name="Badge 2"/>
          <p:cNvSpPr/>
          <p:nvPr/>
        </p:nvSpPr>
        <p:spPr>
          <a:xfrm>
            <a:off x="6583680" y="3493008"/>
            <a:ext cx="365760" cy="365760"/>
          </a:xfrm>
          <a:prstGeom prst="ellipse">
            <a:avLst/>
          </a:prstGeom>
          <a:solidFill>
            <a:srgbClr val="2CA02C"/>
          </a:solidFill>
          <a:ln w="12700">
            <a:solidFill>
              <a:srgbClr val="2CA02C"/>
            </a:solidFill>
            <a:prstDash val="solid"/>
          </a:ln>
        </p:spPr>
        <p:txBody>
          <a:bodyPr/>
          <a:lstStyle/>
          <a:p>
            <a:endParaRPr lang="en-GB"/>
          </a:p>
        </p:txBody>
      </p:sp>
      <p:sp>
        <p:nvSpPr>
          <p:cNvPr id="12" name="Badge label 2"/>
          <p:cNvSpPr txBox="1"/>
          <p:nvPr/>
        </p:nvSpPr>
        <p:spPr>
          <a:xfrm>
            <a:off x="6583680" y="3493008"/>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rPr>
              <a:t>2</a:t>
            </a:r>
            <a:endParaRPr lang="en-US" sz="1200" dirty="0"/>
          </a:p>
        </p:txBody>
      </p:sp>
      <p:sp>
        <p:nvSpPr>
          <p:cNvPr id="13" name="Output 2"/>
          <p:cNvSpPr txBox="1"/>
          <p:nvPr/>
        </p:nvSpPr>
        <p:spPr>
          <a:xfrm>
            <a:off x="7086600" y="3447288"/>
            <a:ext cx="4663440" cy="530352"/>
          </a:xfrm>
          <a:prstGeom prst="rect">
            <a:avLst/>
          </a:prstGeom>
          <a:noFill/>
          <a:ln/>
        </p:spPr>
        <p:txBody>
          <a:bodyPr wrap="square" lIns="0" tIns="0" rIns="0" bIns="0" rtlCol="0" anchor="ctr"/>
          <a:lstStyle/>
          <a:p>
            <a:pPr marL="0" indent="0" algn="l">
              <a:buNone/>
            </a:pPr>
            <a:r>
              <a:rPr lang="en-US" sz="1250" b="1" dirty="0">
                <a:solidFill>
                  <a:srgbClr val="14213D"/>
                </a:solidFill>
              </a:rPr>
              <a:t>Annotated dataset: </a:t>
            </a:r>
            <a:r>
              <a:rPr lang="en-US" sz="1250" dirty="0">
                <a:solidFill>
                  <a:srgbClr val="1B1F2A"/>
                </a:solidFill>
              </a:rPr>
              <a:t>9,450 episodes, ~116 M tokens, with difficulty, risk and eligibility labels</a:t>
            </a:r>
            <a:endParaRPr lang="en-US" sz="1250" dirty="0"/>
          </a:p>
        </p:txBody>
      </p:sp>
      <p:sp>
        <p:nvSpPr>
          <p:cNvPr id="14" name="Badge 3"/>
          <p:cNvSpPr/>
          <p:nvPr/>
        </p:nvSpPr>
        <p:spPr>
          <a:xfrm>
            <a:off x="6583680" y="4059936"/>
            <a:ext cx="365760" cy="365760"/>
          </a:xfrm>
          <a:prstGeom prst="ellipse">
            <a:avLst/>
          </a:prstGeom>
          <a:solidFill>
            <a:srgbClr val="2CA02C"/>
          </a:solidFill>
          <a:ln w="12700">
            <a:solidFill>
              <a:srgbClr val="2CA02C"/>
            </a:solidFill>
            <a:prstDash val="solid"/>
          </a:ln>
        </p:spPr>
        <p:txBody>
          <a:bodyPr/>
          <a:lstStyle/>
          <a:p>
            <a:endParaRPr lang="en-GB"/>
          </a:p>
        </p:txBody>
      </p:sp>
      <p:sp>
        <p:nvSpPr>
          <p:cNvPr id="15" name="Badge label 3"/>
          <p:cNvSpPr txBox="1"/>
          <p:nvPr/>
        </p:nvSpPr>
        <p:spPr>
          <a:xfrm>
            <a:off x="6583680" y="4059936"/>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rPr>
              <a:t>3</a:t>
            </a:r>
            <a:endParaRPr lang="en-US" sz="1200" dirty="0"/>
          </a:p>
        </p:txBody>
      </p:sp>
      <p:sp>
        <p:nvSpPr>
          <p:cNvPr id="16" name="Output 3"/>
          <p:cNvSpPr txBox="1"/>
          <p:nvPr/>
        </p:nvSpPr>
        <p:spPr>
          <a:xfrm>
            <a:off x="7086600" y="4014216"/>
            <a:ext cx="4663440" cy="530352"/>
          </a:xfrm>
          <a:prstGeom prst="rect">
            <a:avLst/>
          </a:prstGeom>
          <a:noFill/>
          <a:ln/>
        </p:spPr>
        <p:txBody>
          <a:bodyPr wrap="square" lIns="0" tIns="0" rIns="0" bIns="0" rtlCol="0" anchor="ctr"/>
          <a:lstStyle/>
          <a:p>
            <a:pPr marL="0" indent="0" algn="l">
              <a:buNone/>
            </a:pPr>
            <a:r>
              <a:rPr lang="en-US" sz="1250" b="1" dirty="0">
                <a:solidFill>
                  <a:srgbClr val="14213D"/>
                </a:solidFill>
              </a:rPr>
              <a:t>Trained router: </a:t>
            </a:r>
            <a:r>
              <a:rPr lang="en-US" sz="1250" dirty="0">
                <a:solidFill>
                  <a:srgbClr val="1B1F2A"/>
                </a:solidFill>
              </a:rPr>
              <a:t>Strategy C's mode and stop heads with their training data (router_c_models)</a:t>
            </a:r>
            <a:endParaRPr lang="en-US" sz="1250" dirty="0"/>
          </a:p>
        </p:txBody>
      </p:sp>
      <p:sp>
        <p:nvSpPr>
          <p:cNvPr id="17" name="Badge 4"/>
          <p:cNvSpPr/>
          <p:nvPr/>
        </p:nvSpPr>
        <p:spPr>
          <a:xfrm>
            <a:off x="6583680" y="4626864"/>
            <a:ext cx="365760" cy="365760"/>
          </a:xfrm>
          <a:prstGeom prst="ellipse">
            <a:avLst/>
          </a:prstGeom>
          <a:solidFill>
            <a:srgbClr val="2CA02C"/>
          </a:solidFill>
          <a:ln w="12700">
            <a:solidFill>
              <a:srgbClr val="2CA02C"/>
            </a:solidFill>
            <a:prstDash val="solid"/>
          </a:ln>
        </p:spPr>
        <p:txBody>
          <a:bodyPr/>
          <a:lstStyle/>
          <a:p>
            <a:endParaRPr lang="en-GB"/>
          </a:p>
        </p:txBody>
      </p:sp>
      <p:sp>
        <p:nvSpPr>
          <p:cNvPr id="18" name="Badge label 4"/>
          <p:cNvSpPr txBox="1"/>
          <p:nvPr/>
        </p:nvSpPr>
        <p:spPr>
          <a:xfrm>
            <a:off x="6583680" y="4626864"/>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rPr>
              <a:t>4</a:t>
            </a:r>
            <a:endParaRPr lang="en-US" sz="1200" dirty="0"/>
          </a:p>
        </p:txBody>
      </p:sp>
      <p:sp>
        <p:nvSpPr>
          <p:cNvPr id="19" name="Output 4"/>
          <p:cNvSpPr txBox="1"/>
          <p:nvPr/>
        </p:nvSpPr>
        <p:spPr>
          <a:xfrm>
            <a:off x="7086600" y="4581144"/>
            <a:ext cx="4663440" cy="530352"/>
          </a:xfrm>
          <a:prstGeom prst="rect">
            <a:avLst/>
          </a:prstGeom>
          <a:noFill/>
          <a:ln/>
        </p:spPr>
        <p:txBody>
          <a:bodyPr wrap="square" lIns="0" tIns="0" rIns="0" bIns="0" rtlCol="0" anchor="ctr"/>
          <a:lstStyle/>
          <a:p>
            <a:pPr marL="0" indent="0" algn="l">
              <a:buNone/>
            </a:pPr>
            <a:r>
              <a:rPr lang="en-US" sz="1250" b="1" dirty="0">
                <a:solidFill>
                  <a:srgbClr val="14213D"/>
                </a:solidFill>
              </a:rPr>
              <a:t>Analysis pipeline: </a:t>
            </a:r>
            <a:r>
              <a:rPr lang="en-US" sz="1250" dirty="0">
                <a:solidFill>
                  <a:srgbClr val="1B1F2A"/>
                </a:solidFill>
              </a:rPr>
              <a:t>Cost-performance curves, paired McNemar tests, bootstrap intervals</a:t>
            </a:r>
            <a:endParaRPr lang="en-US" sz="1250" dirty="0"/>
          </a:p>
        </p:txBody>
      </p:sp>
      <p:sp>
        <p:nvSpPr>
          <p:cNvPr id="20" name="Badge 5"/>
          <p:cNvSpPr/>
          <p:nvPr/>
        </p:nvSpPr>
        <p:spPr>
          <a:xfrm>
            <a:off x="6583680" y="5193792"/>
            <a:ext cx="365760" cy="365760"/>
          </a:xfrm>
          <a:prstGeom prst="ellipse">
            <a:avLst/>
          </a:prstGeom>
          <a:solidFill>
            <a:srgbClr val="2CA02C"/>
          </a:solidFill>
          <a:ln w="12700">
            <a:solidFill>
              <a:srgbClr val="2CA02C"/>
            </a:solidFill>
            <a:prstDash val="solid"/>
          </a:ln>
        </p:spPr>
        <p:txBody>
          <a:bodyPr/>
          <a:lstStyle/>
          <a:p>
            <a:endParaRPr lang="en-GB"/>
          </a:p>
        </p:txBody>
      </p:sp>
      <p:sp>
        <p:nvSpPr>
          <p:cNvPr id="21" name="Badge label 5"/>
          <p:cNvSpPr txBox="1"/>
          <p:nvPr/>
        </p:nvSpPr>
        <p:spPr>
          <a:xfrm>
            <a:off x="6583680" y="5193792"/>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rPr>
              <a:t>5</a:t>
            </a:r>
            <a:endParaRPr lang="en-US" sz="1200" dirty="0"/>
          </a:p>
        </p:txBody>
      </p:sp>
      <p:sp>
        <p:nvSpPr>
          <p:cNvPr id="22" name="Output 5"/>
          <p:cNvSpPr txBox="1"/>
          <p:nvPr/>
        </p:nvSpPr>
        <p:spPr>
          <a:xfrm>
            <a:off x="7086600" y="5148072"/>
            <a:ext cx="4663440" cy="530352"/>
          </a:xfrm>
          <a:prstGeom prst="rect">
            <a:avLst/>
          </a:prstGeom>
          <a:noFill/>
          <a:ln/>
        </p:spPr>
        <p:txBody>
          <a:bodyPr wrap="square" lIns="0" tIns="0" rIns="0" bIns="0" rtlCol="0" anchor="ctr"/>
          <a:lstStyle/>
          <a:p>
            <a:pPr marL="0" indent="0" algn="l">
              <a:buNone/>
            </a:pPr>
            <a:r>
              <a:rPr lang="en-US" sz="1250" b="1" dirty="0">
                <a:solidFill>
                  <a:srgbClr val="14213D"/>
                </a:solidFill>
              </a:rPr>
              <a:t>Report and repository: </a:t>
            </a:r>
            <a:r>
              <a:rPr lang="en-US" sz="1250" dirty="0">
                <a:solidFill>
                  <a:srgbClr val="1B1F2A"/>
                </a:solidFill>
              </a:rPr>
              <a:t>Reproduction guide, schemas and all tables regenerated from scripts</a:t>
            </a:r>
            <a:endParaRPr lang="en-US" sz="1250" dirty="0"/>
          </a:p>
        </p:txBody>
      </p:sp>
      <p:sp>
        <p:nvSpPr>
          <p:cNvPr id="23" name="Repo line"/>
          <p:cNvSpPr txBox="1"/>
          <p:nvPr/>
        </p:nvSpPr>
        <p:spPr>
          <a:xfrm>
            <a:off x="457200" y="5760720"/>
            <a:ext cx="11247120" cy="365760"/>
          </a:xfrm>
          <a:prstGeom prst="rect">
            <a:avLst/>
          </a:prstGeom>
          <a:noFill/>
          <a:ln/>
        </p:spPr>
        <p:txBody>
          <a:bodyPr wrap="square" lIns="0" tIns="0" rIns="0" bIns="0" rtlCol="0" anchor="ctr"/>
          <a:lstStyle/>
          <a:p>
            <a:pPr marL="0" indent="0" algn="l">
              <a:buNone/>
            </a:pPr>
            <a:r>
              <a:rPr lang="en-US" sz="1200" dirty="0">
                <a:solidFill>
                  <a:srgbClr val="5C6673"/>
                </a:solidFill>
              </a:rPr>
              <a:t>Repository: github.com/Tbeard04/Token-Budget-Orchestration-Strategies-for-Web-Agents</a:t>
            </a:r>
            <a:endParaRPr lang="en-US" sz="1200" dirty="0"/>
          </a:p>
        </p:txBody>
      </p:sp>
      <p:sp>
        <p:nvSpPr>
          <p:cNvPr id="25" name="Slide Number Placeholder 0"/>
          <p:cNvSpPr>
            <a:spLocks noGrp="1"/>
          </p:cNvSpPr>
          <p:nvPr>
            <p:ph type="sldNum" sz="quarter" idx="4294967295"/>
          </p:nvPr>
        </p:nvSpPr>
        <p:spPr>
          <a:xfrm>
            <a:off x="1124712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673"/>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377440"/>
            <a:ext cx="10698480" cy="1280160"/>
          </a:xfrm>
          <a:prstGeom prst="rect">
            <a:avLst/>
          </a:prstGeom>
          <a:noFill/>
          <a:ln/>
        </p:spPr>
        <p:txBody>
          <a:bodyPr wrap="square" lIns="0" tIns="0" rIns="0" bIns="0" rtlCol="0" anchor="ctr"/>
          <a:lstStyle/>
          <a:p>
            <a:pPr marL="0" indent="0" algn="l">
              <a:buNone/>
            </a:pPr>
            <a:r>
              <a:rPr lang="en-US" sz="4000" b="1" dirty="0">
                <a:solidFill>
                  <a:schemeClr val="bg1"/>
                </a:solidFill>
              </a:rPr>
              <a:t>How the study was built</a:t>
            </a:r>
            <a:endParaRPr lang="en-US" sz="4000" dirty="0"/>
          </a:p>
        </p:txBody>
      </p:sp>
      <p:sp>
        <p:nvSpPr>
          <p:cNvPr id="3" name="Text 0"/>
          <p:cNvSpPr>
            <a:spLocks noGrp="1"/>
          </p:cNvSpPr>
          <p:nvPr>
            <p:ph type="body" idx="101" hasCustomPrompt="1"/>
          </p:nvPr>
        </p:nvSpPr>
        <p:spPr>
          <a:xfrm>
            <a:off x="731520" y="3749040"/>
            <a:ext cx="10698480" cy="1097280"/>
          </a:xfrm>
          <a:prstGeom prst="rect">
            <a:avLst/>
          </a:prstGeom>
          <a:noFill/>
          <a:ln/>
        </p:spPr>
        <p:txBody>
          <a:bodyPr wrap="square" lIns="0" tIns="0" rIns="0" bIns="0" rtlCol="0" anchor="t"/>
          <a:lstStyle/>
          <a:p>
            <a:pPr marL="0" indent="0" algn="l">
              <a:buNone/>
            </a:pPr>
            <a:r>
              <a:rPr lang="en-US" sz="1800" dirty="0">
                <a:solidFill>
                  <a:schemeClr val="bg2"/>
                </a:solidFill>
              </a:rPr>
              <a:t>Harness and task scope  ·  Token accounting  ·  Strategy C  ·  Decontamination  ·  Difficulty annotation</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11247120" cy="777240"/>
          </a:xfrm>
          <a:prstGeom prst="rect">
            <a:avLst/>
          </a:prstGeom>
          <a:noFill/>
          <a:ln/>
        </p:spPr>
        <p:txBody>
          <a:bodyPr wrap="square" lIns="0" tIns="0" rIns="0" bIns="0" rtlCol="0" anchor="ctr"/>
          <a:lstStyle/>
          <a:p>
            <a:pPr marL="0" indent="0" algn="l">
              <a:buNone/>
            </a:pPr>
            <a:r>
              <a:rPr lang="en-US" sz="3000" b="1" dirty="0">
                <a:solidFill>
                  <a:schemeClr val="tx2"/>
                </a:solidFill>
              </a:rPr>
              <a:t>One harness, three control flows</a:t>
            </a:r>
            <a:endParaRPr lang="en-US" sz="3000" dirty="0"/>
          </a:p>
        </p:txBody>
      </p:sp>
      <p:pic>
        <p:nvPicPr>
          <p:cNvPr id="3" name="Report Figure 3.1" descr="/tmp/claude-0/-home-claude/3b9ca3d8-d8cd-59f1-9b80-73904a5c6e11/scratchpad/r23/word/media/image2.png"/>
          <p:cNvPicPr>
            <a:picLocks noChangeAspect="1"/>
          </p:cNvPicPr>
          <p:nvPr/>
        </p:nvPicPr>
        <p:blipFill>
          <a:blip r:embed="rId3"/>
          <a:stretch>
            <a:fillRect/>
          </a:stretch>
        </p:blipFill>
        <p:spPr>
          <a:xfrm>
            <a:off x="562064" y="1097280"/>
            <a:ext cx="4910912" cy="4800600"/>
          </a:xfrm>
          <a:prstGeom prst="rect">
            <a:avLst/>
          </a:prstGeom>
        </p:spPr>
      </p:pic>
      <p:sp>
        <p:nvSpPr>
          <p:cNvPr id="4" name="Caption Figure 3.1"/>
          <p:cNvSpPr txBox="1"/>
          <p:nvPr/>
        </p:nvSpPr>
        <p:spPr>
          <a:xfrm>
            <a:off x="457200" y="5916168"/>
            <a:ext cx="5120640" cy="301752"/>
          </a:xfrm>
          <a:prstGeom prst="rect">
            <a:avLst/>
          </a:prstGeom>
          <a:noFill/>
          <a:ln/>
        </p:spPr>
        <p:txBody>
          <a:bodyPr wrap="square" lIns="0" tIns="0" rIns="0" bIns="0" rtlCol="0" anchor="t"/>
          <a:lstStyle/>
          <a:p>
            <a:pPr marL="0" indent="0" algn="ctr">
              <a:buNone/>
            </a:pPr>
            <a:r>
              <a:rPr lang="en-US" sz="1100" i="1" dirty="0">
                <a:solidFill>
                  <a:srgbClr val="5C6673"/>
                </a:solidFill>
              </a:rPr>
              <a:t>Report Figure 3.1: per-step control flow of Strategies A, B and C</a:t>
            </a:r>
            <a:endParaRPr lang="en-US" sz="1100" dirty="0"/>
          </a:p>
        </p:txBody>
      </p:sp>
      <p:sp>
        <p:nvSpPr>
          <p:cNvPr id="5" name="Badge E"/>
          <p:cNvSpPr/>
          <p:nvPr/>
        </p:nvSpPr>
        <p:spPr>
          <a:xfrm>
            <a:off x="5943600" y="1234440"/>
            <a:ext cx="384048" cy="384048"/>
          </a:xfrm>
          <a:prstGeom prst="ellipse">
            <a:avLst/>
          </a:prstGeom>
          <a:solidFill>
            <a:srgbClr val="14213D"/>
          </a:solidFill>
          <a:ln w="12700">
            <a:solidFill>
              <a:srgbClr val="14213D"/>
            </a:solidFill>
            <a:prstDash val="solid"/>
          </a:ln>
        </p:spPr>
        <p:txBody>
          <a:bodyPr/>
          <a:lstStyle/>
          <a:p>
            <a:endParaRPr lang="en-GB"/>
          </a:p>
        </p:txBody>
      </p:sp>
      <p:sp>
        <p:nvSpPr>
          <p:cNvPr id="6" name="Badge label E"/>
          <p:cNvSpPr txBox="1"/>
          <p:nvPr/>
        </p:nvSpPr>
        <p:spPr>
          <a:xfrm>
            <a:off x="5943600" y="123444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rPr>
              <a:t>E</a:t>
            </a:r>
            <a:endParaRPr lang="en-US" sz="1300" dirty="0"/>
          </a:p>
        </p:txBody>
      </p:sp>
      <p:sp>
        <p:nvSpPr>
          <p:cNvPr id="7" name="Row title Environment"/>
          <p:cNvSpPr txBox="1"/>
          <p:nvPr/>
        </p:nvSpPr>
        <p:spPr>
          <a:xfrm>
            <a:off x="6473952" y="1188720"/>
            <a:ext cx="5276088" cy="292608"/>
          </a:xfrm>
          <a:prstGeom prst="rect">
            <a:avLst/>
          </a:prstGeom>
          <a:noFill/>
          <a:ln/>
        </p:spPr>
        <p:txBody>
          <a:bodyPr wrap="square" lIns="0" tIns="0" rIns="0" bIns="0" rtlCol="0" anchor="ctr"/>
          <a:lstStyle/>
          <a:p>
            <a:pPr marL="0" indent="0" algn="l">
              <a:buNone/>
            </a:pPr>
            <a:r>
              <a:rPr lang="en-US" sz="1400" b="1" dirty="0">
                <a:solidFill>
                  <a:srgbClr val="14213D"/>
                </a:solidFill>
              </a:rPr>
              <a:t>Environment</a:t>
            </a:r>
            <a:endParaRPr lang="en-US" sz="1400" dirty="0"/>
          </a:p>
        </p:txBody>
      </p:sp>
      <p:sp>
        <p:nvSpPr>
          <p:cNvPr id="8" name="Row body Environment"/>
          <p:cNvSpPr txBox="1"/>
          <p:nvPr/>
        </p:nvSpPr>
        <p:spPr>
          <a:xfrm>
            <a:off x="6473952" y="1481328"/>
            <a:ext cx="5276088" cy="566928"/>
          </a:xfrm>
          <a:prstGeom prst="rect">
            <a:avLst/>
          </a:prstGeom>
          <a:noFill/>
          <a:ln/>
        </p:spPr>
        <p:txBody>
          <a:bodyPr wrap="square" lIns="0" tIns="0" rIns="0" bIns="0" rtlCol="0" anchor="t"/>
          <a:lstStyle/>
          <a:p>
            <a:pPr marL="0" indent="0" algn="l">
              <a:buNone/>
            </a:pPr>
            <a:r>
              <a:rPr lang="en-US" sz="1250" dirty="0">
                <a:solidFill>
                  <a:srgbClr val="1B1F2A"/>
                </a:solidFill>
              </a:rPr>
              <a:t>WebArena sites as Docker containers on one AWS EC2 t3a.xlarge (shopping :7770, admin :7780, forum :9999); sites rebuilt before each strategy's collection.</a:t>
            </a:r>
            <a:endParaRPr lang="en-US" sz="1250" dirty="0"/>
          </a:p>
        </p:txBody>
      </p:sp>
      <p:sp>
        <p:nvSpPr>
          <p:cNvPr id="9" name="Badge B"/>
          <p:cNvSpPr/>
          <p:nvPr/>
        </p:nvSpPr>
        <p:spPr>
          <a:xfrm>
            <a:off x="5943600" y="2221992"/>
            <a:ext cx="384048" cy="384048"/>
          </a:xfrm>
          <a:prstGeom prst="ellipse">
            <a:avLst/>
          </a:prstGeom>
          <a:solidFill>
            <a:srgbClr val="14213D"/>
          </a:solidFill>
          <a:ln w="12700">
            <a:solidFill>
              <a:srgbClr val="14213D"/>
            </a:solidFill>
            <a:prstDash val="solid"/>
          </a:ln>
        </p:spPr>
        <p:txBody>
          <a:bodyPr/>
          <a:lstStyle/>
          <a:p>
            <a:endParaRPr lang="en-GB"/>
          </a:p>
        </p:txBody>
      </p:sp>
      <p:sp>
        <p:nvSpPr>
          <p:cNvPr id="10" name="Badge label B"/>
          <p:cNvSpPr txBox="1"/>
          <p:nvPr/>
        </p:nvSpPr>
        <p:spPr>
          <a:xfrm>
            <a:off x="5943600" y="2221992"/>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rPr>
              <a:t>B</a:t>
            </a:r>
            <a:endParaRPr lang="en-US" sz="1300" dirty="0"/>
          </a:p>
        </p:txBody>
      </p:sp>
      <p:sp>
        <p:nvSpPr>
          <p:cNvPr id="11" name="Row title Browser"/>
          <p:cNvSpPr txBox="1"/>
          <p:nvPr/>
        </p:nvSpPr>
        <p:spPr>
          <a:xfrm>
            <a:off x="6473952" y="2176272"/>
            <a:ext cx="5276088" cy="292608"/>
          </a:xfrm>
          <a:prstGeom prst="rect">
            <a:avLst/>
          </a:prstGeom>
          <a:noFill/>
          <a:ln/>
        </p:spPr>
        <p:txBody>
          <a:bodyPr wrap="square" lIns="0" tIns="0" rIns="0" bIns="0" rtlCol="0" anchor="ctr"/>
          <a:lstStyle/>
          <a:p>
            <a:pPr marL="0" indent="0" algn="l">
              <a:buNone/>
            </a:pPr>
            <a:r>
              <a:rPr lang="en-US" sz="1400" b="1" dirty="0">
                <a:solidFill>
                  <a:srgbClr val="14213D"/>
                </a:solidFill>
              </a:rPr>
              <a:t>Browser</a:t>
            </a:r>
            <a:endParaRPr lang="en-US" sz="1400" dirty="0"/>
          </a:p>
        </p:txBody>
      </p:sp>
      <p:sp>
        <p:nvSpPr>
          <p:cNvPr id="12" name="Row body Browser"/>
          <p:cNvSpPr txBox="1"/>
          <p:nvPr/>
        </p:nvSpPr>
        <p:spPr>
          <a:xfrm>
            <a:off x="6473952" y="2468880"/>
            <a:ext cx="5276088" cy="566928"/>
          </a:xfrm>
          <a:prstGeom prst="rect">
            <a:avLst/>
          </a:prstGeom>
          <a:noFill/>
          <a:ln/>
        </p:spPr>
        <p:txBody>
          <a:bodyPr wrap="square" lIns="0" tIns="0" rIns="0" bIns="0" rtlCol="0" anchor="t"/>
          <a:lstStyle/>
          <a:p>
            <a:pPr marL="0" indent="0" algn="l">
              <a:buNone/>
            </a:pPr>
            <a:r>
              <a:rPr lang="en-US" sz="1250" dirty="0">
                <a:solidFill>
                  <a:srgbClr val="1B1F2A"/>
                </a:solidFill>
              </a:rPr>
              <a:t>BrowserGym 0.14.2 + Playwright: reset() loads the task, step(action) returns the next accessibility tree and WebArena's reward.</a:t>
            </a:r>
            <a:endParaRPr lang="en-US" sz="1250" dirty="0"/>
          </a:p>
        </p:txBody>
      </p:sp>
      <p:sp>
        <p:nvSpPr>
          <p:cNvPr id="13" name="Badge M"/>
          <p:cNvSpPr/>
          <p:nvPr/>
        </p:nvSpPr>
        <p:spPr>
          <a:xfrm>
            <a:off x="5943600" y="3209544"/>
            <a:ext cx="384048" cy="384048"/>
          </a:xfrm>
          <a:prstGeom prst="ellipse">
            <a:avLst/>
          </a:prstGeom>
          <a:solidFill>
            <a:srgbClr val="14213D"/>
          </a:solidFill>
          <a:ln w="12700">
            <a:solidFill>
              <a:srgbClr val="14213D"/>
            </a:solidFill>
            <a:prstDash val="solid"/>
          </a:ln>
        </p:spPr>
        <p:txBody>
          <a:bodyPr/>
          <a:lstStyle/>
          <a:p>
            <a:endParaRPr lang="en-GB"/>
          </a:p>
        </p:txBody>
      </p:sp>
      <p:sp>
        <p:nvSpPr>
          <p:cNvPr id="14" name="Badge label M"/>
          <p:cNvSpPr txBox="1"/>
          <p:nvPr/>
        </p:nvSpPr>
        <p:spPr>
          <a:xfrm>
            <a:off x="5943600" y="3209544"/>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rPr>
              <a:t>M</a:t>
            </a:r>
            <a:endParaRPr lang="en-US" sz="1300" dirty="0"/>
          </a:p>
        </p:txBody>
      </p:sp>
      <p:sp>
        <p:nvSpPr>
          <p:cNvPr id="15" name="Row title Model and agents"/>
          <p:cNvSpPr txBox="1"/>
          <p:nvPr/>
        </p:nvSpPr>
        <p:spPr>
          <a:xfrm>
            <a:off x="6473952" y="3163824"/>
            <a:ext cx="5276088" cy="292608"/>
          </a:xfrm>
          <a:prstGeom prst="rect">
            <a:avLst/>
          </a:prstGeom>
          <a:noFill/>
          <a:ln/>
        </p:spPr>
        <p:txBody>
          <a:bodyPr wrap="square" lIns="0" tIns="0" rIns="0" bIns="0" rtlCol="0" anchor="ctr"/>
          <a:lstStyle/>
          <a:p>
            <a:pPr marL="0" indent="0" algn="l">
              <a:buNone/>
            </a:pPr>
            <a:r>
              <a:rPr lang="en-US" sz="1400" b="1" dirty="0">
                <a:solidFill>
                  <a:srgbClr val="14213D"/>
                </a:solidFill>
              </a:rPr>
              <a:t>Model and agents</a:t>
            </a:r>
            <a:endParaRPr lang="en-US" sz="1400" dirty="0"/>
          </a:p>
        </p:txBody>
      </p:sp>
      <p:sp>
        <p:nvSpPr>
          <p:cNvPr id="16" name="Row body Model and agents"/>
          <p:cNvSpPr txBox="1"/>
          <p:nvPr/>
        </p:nvSpPr>
        <p:spPr>
          <a:xfrm>
            <a:off x="6473952" y="3456432"/>
            <a:ext cx="5276088" cy="566928"/>
          </a:xfrm>
          <a:prstGeom prst="rect">
            <a:avLst/>
          </a:prstGeom>
          <a:noFill/>
          <a:ln/>
        </p:spPr>
        <p:txBody>
          <a:bodyPr wrap="square" lIns="0" tIns="0" rIns="0" bIns="0" rtlCol="0" anchor="t"/>
          <a:lstStyle/>
          <a:p>
            <a:pPr marL="0" indent="0" algn="l">
              <a:buNone/>
            </a:pPr>
            <a:r>
              <a:rPr lang="en-US" sz="1250" dirty="0">
                <a:solidFill>
                  <a:srgbClr val="1B1F2A"/>
                </a:solidFill>
              </a:rPr>
              <a:t>Pydantic AI typed outputs (justification + one action); GPT-5 mini with reasoning effort pinned to low; token counts reported by the API.</a:t>
            </a:r>
            <a:endParaRPr lang="en-US" sz="1250" dirty="0"/>
          </a:p>
        </p:txBody>
      </p:sp>
      <p:sp>
        <p:nvSpPr>
          <p:cNvPr id="17" name="Badge T"/>
          <p:cNvSpPr/>
          <p:nvPr/>
        </p:nvSpPr>
        <p:spPr>
          <a:xfrm>
            <a:off x="5943600" y="4197096"/>
            <a:ext cx="384048" cy="384048"/>
          </a:xfrm>
          <a:prstGeom prst="ellipse">
            <a:avLst/>
          </a:prstGeom>
          <a:solidFill>
            <a:srgbClr val="14213D"/>
          </a:solidFill>
          <a:ln w="12700">
            <a:solidFill>
              <a:srgbClr val="14213D"/>
            </a:solidFill>
            <a:prstDash val="solid"/>
          </a:ln>
        </p:spPr>
        <p:txBody>
          <a:bodyPr/>
          <a:lstStyle/>
          <a:p>
            <a:endParaRPr lang="en-GB"/>
          </a:p>
        </p:txBody>
      </p:sp>
      <p:sp>
        <p:nvSpPr>
          <p:cNvPr id="18" name="Badge label T"/>
          <p:cNvSpPr txBox="1"/>
          <p:nvPr/>
        </p:nvSpPr>
        <p:spPr>
          <a:xfrm>
            <a:off x="5943600" y="4197096"/>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rPr>
              <a:t>T</a:t>
            </a:r>
            <a:endParaRPr lang="en-US" sz="1300" dirty="0"/>
          </a:p>
        </p:txBody>
      </p:sp>
      <p:sp>
        <p:nvSpPr>
          <p:cNvPr id="19" name="Row title Task scope"/>
          <p:cNvSpPr txBox="1"/>
          <p:nvPr/>
        </p:nvSpPr>
        <p:spPr>
          <a:xfrm>
            <a:off x="6473952" y="4151376"/>
            <a:ext cx="5276088" cy="292608"/>
          </a:xfrm>
          <a:prstGeom prst="rect">
            <a:avLst/>
          </a:prstGeom>
          <a:noFill/>
          <a:ln/>
        </p:spPr>
        <p:txBody>
          <a:bodyPr wrap="square" lIns="0" tIns="0" rIns="0" bIns="0" rtlCol="0" anchor="ctr"/>
          <a:lstStyle/>
          <a:p>
            <a:pPr marL="0" indent="0" algn="l">
              <a:buNone/>
            </a:pPr>
            <a:r>
              <a:rPr lang="en-US" sz="1400" b="1" dirty="0">
                <a:solidFill>
                  <a:srgbClr val="14213D"/>
                </a:solidFill>
              </a:rPr>
              <a:t>Task scope</a:t>
            </a:r>
            <a:endParaRPr lang="en-US" sz="1400" dirty="0"/>
          </a:p>
        </p:txBody>
      </p:sp>
      <p:sp>
        <p:nvSpPr>
          <p:cNvPr id="20" name="Row body Task scope"/>
          <p:cNvSpPr txBox="1"/>
          <p:nvPr/>
        </p:nvSpPr>
        <p:spPr>
          <a:xfrm>
            <a:off x="6473952" y="4443984"/>
            <a:ext cx="5276088" cy="566928"/>
          </a:xfrm>
          <a:prstGeom prst="rect">
            <a:avLst/>
          </a:prstGeom>
          <a:noFill/>
          <a:ln/>
        </p:spPr>
        <p:txBody>
          <a:bodyPr wrap="square" lIns="0" tIns="0" rIns="0" bIns="0" rtlCol="0" anchor="t"/>
          <a:lstStyle/>
          <a:p>
            <a:pPr marL="0" indent="0" algn="l">
              <a:buNone/>
            </a:pPr>
            <a:r>
              <a:rPr lang="en-US" sz="1250" dirty="0">
                <a:solidFill>
                  <a:srgbClr val="1B1F2A"/>
                </a:solidFill>
              </a:rPr>
              <a:t>475 single-site tasks: shopping 187, shopping admin 182, forum 106 (GitLab, map and multi-site tasks excluded; Report Table 3.1).</a:t>
            </a:r>
            <a:endParaRPr lang="en-US" sz="1250" dirty="0"/>
          </a:p>
        </p:txBody>
      </p:sp>
      <p:sp>
        <p:nvSpPr>
          <p:cNvPr id="21" name="Badge G"/>
          <p:cNvSpPr/>
          <p:nvPr/>
        </p:nvSpPr>
        <p:spPr>
          <a:xfrm>
            <a:off x="5943600" y="5184648"/>
            <a:ext cx="384048" cy="384048"/>
          </a:xfrm>
          <a:prstGeom prst="ellipse">
            <a:avLst/>
          </a:prstGeom>
          <a:solidFill>
            <a:srgbClr val="14213D"/>
          </a:solidFill>
          <a:ln w="12700">
            <a:solidFill>
              <a:srgbClr val="14213D"/>
            </a:solidFill>
            <a:prstDash val="solid"/>
          </a:ln>
        </p:spPr>
        <p:txBody>
          <a:bodyPr/>
          <a:lstStyle/>
          <a:p>
            <a:endParaRPr lang="en-GB"/>
          </a:p>
        </p:txBody>
      </p:sp>
      <p:sp>
        <p:nvSpPr>
          <p:cNvPr id="22" name="Badge label G"/>
          <p:cNvSpPr txBox="1"/>
          <p:nvPr/>
        </p:nvSpPr>
        <p:spPr>
          <a:xfrm>
            <a:off x="5943600" y="518464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rPr>
              <a:t>G</a:t>
            </a:r>
            <a:endParaRPr lang="en-US" sz="1300" dirty="0"/>
          </a:p>
        </p:txBody>
      </p:sp>
      <p:sp>
        <p:nvSpPr>
          <p:cNvPr id="23" name="Row title Guards"/>
          <p:cNvSpPr txBox="1"/>
          <p:nvPr/>
        </p:nvSpPr>
        <p:spPr>
          <a:xfrm>
            <a:off x="6473952" y="5138928"/>
            <a:ext cx="5276088" cy="292608"/>
          </a:xfrm>
          <a:prstGeom prst="rect">
            <a:avLst/>
          </a:prstGeom>
          <a:noFill/>
          <a:ln/>
        </p:spPr>
        <p:txBody>
          <a:bodyPr wrap="square" lIns="0" tIns="0" rIns="0" bIns="0" rtlCol="0" anchor="ctr"/>
          <a:lstStyle/>
          <a:p>
            <a:pPr marL="0" indent="0" algn="l">
              <a:buNone/>
            </a:pPr>
            <a:r>
              <a:rPr lang="en-US" sz="1400" b="1" dirty="0">
                <a:solidFill>
                  <a:srgbClr val="14213D"/>
                </a:solidFill>
              </a:rPr>
              <a:t>Guards</a:t>
            </a:r>
            <a:endParaRPr lang="en-US" sz="1400" dirty="0"/>
          </a:p>
        </p:txBody>
      </p:sp>
      <p:sp>
        <p:nvSpPr>
          <p:cNvPr id="24" name="Row body Guards"/>
          <p:cNvSpPr txBox="1"/>
          <p:nvPr/>
        </p:nvSpPr>
        <p:spPr>
          <a:xfrm>
            <a:off x="6473952" y="5431536"/>
            <a:ext cx="5276088" cy="566928"/>
          </a:xfrm>
          <a:prstGeom prst="rect">
            <a:avLst/>
          </a:prstGeom>
          <a:noFill/>
          <a:ln/>
        </p:spPr>
        <p:txBody>
          <a:bodyPr wrap="square" lIns="0" tIns="0" rIns="0" bIns="0" rtlCol="0" anchor="t"/>
          <a:lstStyle/>
          <a:p>
            <a:pPr marL="0" indent="0" algn="l">
              <a:buNone/>
            </a:pPr>
            <a:r>
              <a:rPr lang="en-US" sz="1250" dirty="0">
                <a:solidFill>
                  <a:srgbClr val="1B1F2A"/>
                </a:solidFill>
              </a:rPr>
              <a:t>25-step ceiling, four consecutive action errors, same action from the same page three times.</a:t>
            </a:r>
            <a:endParaRPr lang="en-US" sz="1250" dirty="0"/>
          </a:p>
        </p:txBody>
      </p:sp>
      <p:sp>
        <p:nvSpPr>
          <p:cNvPr id="25" name="Slide Number Placeholder 0"/>
          <p:cNvSpPr>
            <a:spLocks noGrp="1"/>
          </p:cNvSpPr>
          <p:nvPr>
            <p:ph type="sldNum" sz="quarter" idx="4294967295"/>
          </p:nvPr>
        </p:nvSpPr>
        <p:spPr>
          <a:xfrm>
            <a:off x="1124712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673"/>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11247120" cy="777240"/>
          </a:xfrm>
          <a:prstGeom prst="rect">
            <a:avLst/>
          </a:prstGeom>
          <a:noFill/>
          <a:ln/>
        </p:spPr>
        <p:txBody>
          <a:bodyPr wrap="square" lIns="0" tIns="0" rIns="0" bIns="0" rtlCol="0" anchor="ctr"/>
          <a:lstStyle/>
          <a:p>
            <a:pPr marL="0" indent="0" algn="l">
              <a:buNone/>
            </a:pPr>
            <a:r>
              <a:rPr lang="en-US" sz="3000" b="1" dirty="0">
                <a:solidFill>
                  <a:schemeClr val="tx2"/>
                </a:solidFill>
              </a:rPr>
              <a:t>Token accounting: enforced before and after every call</a:t>
            </a:r>
            <a:endParaRPr lang="en-US" sz="3000" dirty="0"/>
          </a:p>
        </p:txBody>
      </p:sp>
      <p:sp>
        <p:nvSpPr>
          <p:cNvPr id="3" name="Card"/>
          <p:cNvSpPr/>
          <p:nvPr/>
        </p:nvSpPr>
        <p:spPr>
          <a:xfrm>
            <a:off x="457200" y="1097280"/>
            <a:ext cx="11247120" cy="1051560"/>
          </a:xfrm>
          <a:prstGeom prst="roundRect">
            <a:avLst>
              <a:gd name="adj" fmla="val 10435"/>
            </a:avLst>
          </a:prstGeom>
          <a:solidFill>
            <a:srgbClr val="EEF1F6"/>
          </a:solidFill>
          <a:ln w="12700">
            <a:solidFill>
              <a:srgbClr val="EEF1F6"/>
            </a:solidFill>
            <a:prstDash val="solid"/>
          </a:ln>
        </p:spPr>
        <p:txBody>
          <a:bodyPr/>
          <a:lstStyle/>
          <a:p>
            <a:endParaRPr lang="en-GB"/>
          </a:p>
        </p:txBody>
      </p:sp>
      <p:sp>
        <p:nvSpPr>
          <p:cNvPr id="4" name="Equation 3.1"/>
          <p:cNvSpPr txBox="1"/>
          <p:nvPr/>
        </p:nvSpPr>
        <p:spPr>
          <a:xfrm>
            <a:off x="685800" y="1143000"/>
            <a:ext cx="10789920" cy="548640"/>
          </a:xfrm>
          <a:prstGeom prst="rect">
            <a:avLst/>
          </a:prstGeom>
          <a:noFill/>
          <a:ln/>
        </p:spPr>
        <p:txBody>
          <a:bodyPr wrap="square" lIns="0" tIns="0" rIns="0" bIns="0" rtlCol="0" anchor="ctr"/>
          <a:lstStyle/>
          <a:p>
            <a:pPr marL="0" indent="0" algn="l">
              <a:buNone/>
            </a:pPr>
            <a:r>
              <a:rPr lang="en-US" sz="1400" b="1" dirty="0">
                <a:solidFill>
                  <a:srgbClr val="14213D"/>
                </a:solidFill>
                <a:latin typeface="Cambria" pitchFamily="34" charset="0"/>
                <a:ea typeface="Cambria" pitchFamily="34" charset="-122"/>
                <a:cs typeface="Cambria" pitchFamily="34" charset="-120"/>
              </a:rPr>
              <a:t>Equation 3.1   </a:t>
            </a:r>
            <a:r>
              <a:rPr lang="en-US" sz="2000" i="1" dirty="0">
                <a:solidFill>
                  <a:srgbClr val="1B1F2A"/>
                </a:solidFill>
                <a:latin typeface="Cambria" pitchFamily="34" charset="0"/>
                <a:ea typeface="Cambria" pitchFamily="34" charset="-122"/>
                <a:cs typeface="Cambria" pitchFamily="34" charset="-120"/>
              </a:rPr>
              <a:t>ĉ</a:t>
            </a:r>
            <a:r>
              <a:rPr lang="en-US" sz="2000" i="1" baseline="-40000" dirty="0">
                <a:solidFill>
                  <a:srgbClr val="1B1F2A"/>
                </a:solidFill>
                <a:latin typeface="Cambria" pitchFamily="34" charset="0"/>
                <a:ea typeface="Cambria" pitchFamily="34" charset="-122"/>
                <a:cs typeface="Cambria" pitchFamily="34" charset="-120"/>
              </a:rPr>
              <a:t>t</a:t>
            </a:r>
            <a:r>
              <a:rPr lang="en-US" sz="2000" dirty="0">
                <a:solidFill>
                  <a:srgbClr val="1B1F2A"/>
                </a:solidFill>
                <a:latin typeface="Cambria" pitchFamily="34" charset="0"/>
                <a:ea typeface="Cambria" pitchFamily="34" charset="-122"/>
                <a:cs typeface="Cambria" pitchFamily="34" charset="-120"/>
              </a:rPr>
              <a:t> = k · ⌈ |x</a:t>
            </a:r>
            <a:r>
              <a:rPr lang="en-US" sz="2000" i="1" baseline="-40000" dirty="0">
                <a:solidFill>
                  <a:srgbClr val="1B1F2A"/>
                </a:solidFill>
                <a:latin typeface="Cambria" pitchFamily="34" charset="0"/>
                <a:ea typeface="Cambria" pitchFamily="34" charset="-122"/>
                <a:cs typeface="Cambria" pitchFamily="34" charset="-120"/>
              </a:rPr>
              <a:t>t</a:t>
            </a:r>
            <a:r>
              <a:rPr lang="en-US" sz="2000" dirty="0">
                <a:solidFill>
                  <a:srgbClr val="1B1F2A"/>
                </a:solidFill>
                <a:latin typeface="Cambria" pitchFamily="34" charset="0"/>
                <a:ea typeface="Cambria" pitchFamily="34" charset="-122"/>
                <a:cs typeface="Cambria" pitchFamily="34" charset="-120"/>
              </a:rPr>
              <a:t>| / 4 ⌉ + m</a:t>
            </a:r>
            <a:r>
              <a:rPr lang="en-US" sz="2000" baseline="-40000" dirty="0">
                <a:solidFill>
                  <a:srgbClr val="1B1F2A"/>
                </a:solidFill>
                <a:latin typeface="Cambria" pitchFamily="34" charset="0"/>
                <a:ea typeface="Cambria" pitchFamily="34" charset="-122"/>
                <a:cs typeface="Cambria" pitchFamily="34" charset="-120"/>
              </a:rPr>
              <a:t>out</a:t>
            </a:r>
            <a:r>
              <a:rPr lang="en-US" sz="2000" dirty="0">
                <a:solidFill>
                  <a:srgbClr val="1B1F2A"/>
                </a:solidFill>
                <a:latin typeface="Cambria" pitchFamily="34" charset="0"/>
                <a:ea typeface="Cambria" pitchFamily="34" charset="-122"/>
                <a:cs typeface="Cambria" pitchFamily="34" charset="-120"/>
              </a:rPr>
              <a:t> + m</a:t>
            </a:r>
            <a:r>
              <a:rPr lang="en-US" sz="2000" baseline="-40000" dirty="0">
                <a:solidFill>
                  <a:srgbClr val="1B1F2A"/>
                </a:solidFill>
                <a:latin typeface="Cambria" pitchFamily="34" charset="0"/>
                <a:ea typeface="Cambria" pitchFamily="34" charset="-122"/>
                <a:cs typeface="Cambria" pitchFamily="34" charset="-120"/>
              </a:rPr>
              <a:t>instr</a:t>
            </a:r>
            <a:r>
              <a:rPr lang="en-US" sz="2000" dirty="0">
                <a:solidFill>
                  <a:srgbClr val="1B1F2A"/>
                </a:solidFill>
                <a:latin typeface="Cambria" pitchFamily="34" charset="0"/>
                <a:ea typeface="Cambria" pitchFamily="34" charset="-122"/>
                <a:cs typeface="Cambria" pitchFamily="34" charset="-120"/>
              </a:rPr>
              <a:t>        proceed only if   C</a:t>
            </a:r>
            <a:r>
              <a:rPr lang="en-US" sz="2000" baseline="-40000" dirty="0">
                <a:solidFill>
                  <a:srgbClr val="1B1F2A"/>
                </a:solidFill>
                <a:latin typeface="Cambria" pitchFamily="34" charset="0"/>
                <a:ea typeface="Cambria" pitchFamily="34" charset="-122"/>
                <a:cs typeface="Cambria" pitchFamily="34" charset="-120"/>
              </a:rPr>
              <a:t>t−1</a:t>
            </a:r>
            <a:r>
              <a:rPr lang="en-US" sz="2000" dirty="0">
                <a:solidFill>
                  <a:srgbClr val="1B1F2A"/>
                </a:solidFill>
                <a:latin typeface="Cambria" pitchFamily="34" charset="0"/>
                <a:ea typeface="Cambria" pitchFamily="34" charset="-122"/>
                <a:cs typeface="Cambria" pitchFamily="34" charset="-120"/>
              </a:rPr>
              <a:t> + ĉ</a:t>
            </a:r>
            <a:r>
              <a:rPr lang="en-US" sz="2000" i="1" baseline="-40000" dirty="0">
                <a:solidFill>
                  <a:srgbClr val="1B1F2A"/>
                </a:solidFill>
                <a:latin typeface="Cambria" pitchFamily="34" charset="0"/>
                <a:ea typeface="Cambria" pitchFamily="34" charset="-122"/>
                <a:cs typeface="Cambria" pitchFamily="34" charset="-120"/>
              </a:rPr>
              <a:t>t</a:t>
            </a:r>
            <a:r>
              <a:rPr lang="en-US" sz="2000" dirty="0">
                <a:solidFill>
                  <a:srgbClr val="1B1F2A"/>
                </a:solidFill>
                <a:latin typeface="Cambria" pitchFamily="34" charset="0"/>
                <a:ea typeface="Cambria" pitchFamily="34" charset="-122"/>
                <a:cs typeface="Cambria" pitchFamily="34" charset="-120"/>
              </a:rPr>
              <a:t> ≤ B</a:t>
            </a:r>
            <a:endParaRPr lang="en-US" sz="2000" dirty="0"/>
          </a:p>
        </p:txBody>
      </p:sp>
      <p:sp>
        <p:nvSpPr>
          <p:cNvPr id="5" name="Equation legend"/>
          <p:cNvSpPr txBox="1"/>
          <p:nvPr/>
        </p:nvSpPr>
        <p:spPr>
          <a:xfrm>
            <a:off x="685800" y="1691640"/>
            <a:ext cx="10789920" cy="365760"/>
          </a:xfrm>
          <a:prstGeom prst="rect">
            <a:avLst/>
          </a:prstGeom>
          <a:noFill/>
          <a:ln/>
        </p:spPr>
        <p:txBody>
          <a:bodyPr wrap="square" lIns="0" tIns="0" rIns="0" bIns="0" rtlCol="0" anchor="ctr"/>
          <a:lstStyle/>
          <a:p>
            <a:pPr marL="0" indent="0" algn="l">
              <a:buNone/>
            </a:pPr>
            <a:r>
              <a:rPr lang="en-US" sz="1150" i="1" dirty="0">
                <a:solidFill>
                  <a:srgbClr val="5C6673"/>
                </a:solidFill>
              </a:rPr>
              <a:t>|x_t| prompt length in characters (4 characters per token), k calls in the step, m_out and m_instr reserves for outputs and instruction blocks, C_t−1 tokens already spent, B the budget.</a:t>
            </a:r>
            <a:endParaRPr lang="en-US" sz="1150" dirty="0"/>
          </a:p>
        </p:txBody>
      </p:sp>
      <p:sp>
        <p:nvSpPr>
          <p:cNvPr id="6" name="Card"/>
          <p:cNvSpPr/>
          <p:nvPr/>
        </p:nvSpPr>
        <p:spPr>
          <a:xfrm>
            <a:off x="457200" y="2377440"/>
            <a:ext cx="5120640" cy="1051560"/>
          </a:xfrm>
          <a:prstGeom prst="roundRect">
            <a:avLst>
              <a:gd name="adj" fmla="val 10435"/>
            </a:avLst>
          </a:prstGeom>
          <a:solidFill>
            <a:srgbClr val="EEF1F6"/>
          </a:solidFill>
          <a:ln w="12700">
            <a:solidFill>
              <a:srgbClr val="EEF1F6"/>
            </a:solidFill>
            <a:prstDash val="solid"/>
          </a:ln>
        </p:spPr>
        <p:txBody>
          <a:bodyPr/>
          <a:lstStyle/>
          <a:p>
            <a:endParaRPr lang="en-GB"/>
          </a:p>
        </p:txBody>
      </p:sp>
      <p:sp>
        <p:nvSpPr>
          <p:cNvPr id="7" name="Badge A"/>
          <p:cNvSpPr/>
          <p:nvPr/>
        </p:nvSpPr>
        <p:spPr>
          <a:xfrm>
            <a:off x="640080" y="2560320"/>
            <a:ext cx="457200" cy="457200"/>
          </a:xfrm>
          <a:prstGeom prst="ellipse">
            <a:avLst/>
          </a:prstGeom>
          <a:solidFill>
            <a:srgbClr val="1F77B4"/>
          </a:solidFill>
          <a:ln w="12700">
            <a:solidFill>
              <a:srgbClr val="1F77B4"/>
            </a:solidFill>
            <a:prstDash val="solid"/>
          </a:ln>
        </p:spPr>
        <p:txBody>
          <a:bodyPr/>
          <a:lstStyle/>
          <a:p>
            <a:endParaRPr lang="en-GB"/>
          </a:p>
        </p:txBody>
      </p:sp>
      <p:sp>
        <p:nvSpPr>
          <p:cNvPr id="8" name="Badge label A"/>
          <p:cNvSpPr txBox="1"/>
          <p:nvPr/>
        </p:nvSpPr>
        <p:spPr>
          <a:xfrm>
            <a:off x="640080" y="256032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rPr>
              <a:t>A</a:t>
            </a:r>
            <a:endParaRPr lang="en-US" sz="1600" dirty="0"/>
          </a:p>
        </p:txBody>
      </p:sp>
      <p:sp>
        <p:nvSpPr>
          <p:cNvPr id="9" name="Param title A"/>
          <p:cNvSpPr txBox="1"/>
          <p:nvPr/>
        </p:nvSpPr>
        <p:spPr>
          <a:xfrm>
            <a:off x="1234440" y="2468880"/>
            <a:ext cx="4206240" cy="320040"/>
          </a:xfrm>
          <a:prstGeom prst="rect">
            <a:avLst/>
          </a:prstGeom>
          <a:noFill/>
          <a:ln/>
        </p:spPr>
        <p:txBody>
          <a:bodyPr wrap="square" lIns="0" tIns="0" rIns="0" bIns="0" rtlCol="0" anchor="ctr"/>
          <a:lstStyle/>
          <a:p>
            <a:pPr marL="0" indent="0" algn="l">
              <a:buNone/>
            </a:pPr>
            <a:r>
              <a:rPr lang="en-US" sz="1300" b="1" dirty="0">
                <a:solidFill>
                  <a:srgbClr val="14213D"/>
                </a:solidFill>
              </a:rPr>
              <a:t>k = 1, no reserves</a:t>
            </a:r>
            <a:endParaRPr lang="en-US" sz="1300" dirty="0"/>
          </a:p>
        </p:txBody>
      </p:sp>
      <p:sp>
        <p:nvSpPr>
          <p:cNvPr id="10" name="Param body A"/>
          <p:cNvSpPr txBox="1"/>
          <p:nvPr/>
        </p:nvSpPr>
        <p:spPr>
          <a:xfrm>
            <a:off x="1234440" y="2788920"/>
            <a:ext cx="4206240" cy="621792"/>
          </a:xfrm>
          <a:prstGeom prst="rect">
            <a:avLst/>
          </a:prstGeom>
          <a:noFill/>
          <a:ln/>
        </p:spPr>
        <p:txBody>
          <a:bodyPr wrap="square" lIns="0" tIns="0" rIns="0" bIns="0" rtlCol="0" anchor="t"/>
          <a:lstStyle/>
          <a:p>
            <a:pPr marL="0" indent="0" algn="l">
              <a:buNone/>
            </a:pPr>
            <a:r>
              <a:rPr lang="en-US" sz="1150" dirty="0">
                <a:solidFill>
                  <a:srgbClr val="1B1F2A"/>
                </a:solidFill>
              </a:rPr>
              <a:t>Estimate covers the prompt only, so the final step can overshoot by its output; the post-call check then ends the episode (overshoot bounded to one step).</a:t>
            </a:r>
            <a:endParaRPr lang="en-US" sz="1150" dirty="0"/>
          </a:p>
        </p:txBody>
      </p:sp>
      <p:sp>
        <p:nvSpPr>
          <p:cNvPr id="11" name="Card"/>
          <p:cNvSpPr/>
          <p:nvPr/>
        </p:nvSpPr>
        <p:spPr>
          <a:xfrm>
            <a:off x="457200" y="3566160"/>
            <a:ext cx="5120640" cy="1051560"/>
          </a:xfrm>
          <a:prstGeom prst="roundRect">
            <a:avLst>
              <a:gd name="adj" fmla="val 10435"/>
            </a:avLst>
          </a:prstGeom>
          <a:solidFill>
            <a:srgbClr val="EEF1F6"/>
          </a:solidFill>
          <a:ln w="12700">
            <a:solidFill>
              <a:srgbClr val="EEF1F6"/>
            </a:solidFill>
            <a:prstDash val="solid"/>
          </a:ln>
        </p:spPr>
        <p:txBody>
          <a:bodyPr/>
          <a:lstStyle/>
          <a:p>
            <a:endParaRPr lang="en-GB"/>
          </a:p>
        </p:txBody>
      </p:sp>
      <p:sp>
        <p:nvSpPr>
          <p:cNvPr id="12" name="Badge B"/>
          <p:cNvSpPr/>
          <p:nvPr/>
        </p:nvSpPr>
        <p:spPr>
          <a:xfrm>
            <a:off x="640080" y="3749040"/>
            <a:ext cx="457200" cy="457200"/>
          </a:xfrm>
          <a:prstGeom prst="ellipse">
            <a:avLst/>
          </a:prstGeom>
          <a:solidFill>
            <a:srgbClr val="FF7F0E"/>
          </a:solidFill>
          <a:ln w="12700">
            <a:solidFill>
              <a:srgbClr val="FF7F0E"/>
            </a:solidFill>
            <a:prstDash val="solid"/>
          </a:ln>
        </p:spPr>
        <p:txBody>
          <a:bodyPr/>
          <a:lstStyle/>
          <a:p>
            <a:endParaRPr lang="en-GB"/>
          </a:p>
        </p:txBody>
      </p:sp>
      <p:sp>
        <p:nvSpPr>
          <p:cNvPr id="13" name="Badge label B"/>
          <p:cNvSpPr txBox="1"/>
          <p:nvPr/>
        </p:nvSpPr>
        <p:spPr>
          <a:xfrm>
            <a:off x="640080" y="374904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rPr>
              <a:t>B</a:t>
            </a:r>
            <a:endParaRPr lang="en-US" sz="1600" dirty="0"/>
          </a:p>
        </p:txBody>
      </p:sp>
      <p:sp>
        <p:nvSpPr>
          <p:cNvPr id="14" name="Param title B"/>
          <p:cNvSpPr txBox="1"/>
          <p:nvPr/>
        </p:nvSpPr>
        <p:spPr>
          <a:xfrm>
            <a:off x="1234440" y="3657600"/>
            <a:ext cx="4206240" cy="320040"/>
          </a:xfrm>
          <a:prstGeom prst="rect">
            <a:avLst/>
          </a:prstGeom>
          <a:noFill/>
          <a:ln/>
        </p:spPr>
        <p:txBody>
          <a:bodyPr wrap="square" lIns="0" tIns="0" rIns="0" bIns="0" rtlCol="0" anchor="ctr"/>
          <a:lstStyle/>
          <a:p>
            <a:pPr marL="0" indent="0" algn="l">
              <a:buNone/>
            </a:pPr>
            <a:r>
              <a:rPr lang="en-US" sz="1300" b="1" dirty="0">
                <a:solidFill>
                  <a:srgbClr val="14213D"/>
                </a:solidFill>
              </a:rPr>
              <a:t>k = 3, m_out = 900, m_instr ≈ 2,050</a:t>
            </a:r>
            <a:endParaRPr lang="en-US" sz="1300" dirty="0"/>
          </a:p>
        </p:txBody>
      </p:sp>
      <p:sp>
        <p:nvSpPr>
          <p:cNvPr id="15" name="Param body B"/>
          <p:cNvSpPr txBox="1"/>
          <p:nvPr/>
        </p:nvSpPr>
        <p:spPr>
          <a:xfrm>
            <a:off x="1234440" y="3977640"/>
            <a:ext cx="4206240" cy="621792"/>
          </a:xfrm>
          <a:prstGeom prst="rect">
            <a:avLst/>
          </a:prstGeom>
          <a:noFill/>
          <a:ln/>
        </p:spPr>
        <p:txBody>
          <a:bodyPr wrap="square" lIns="0" tIns="0" rIns="0" bIns="0" rtlCol="0" anchor="t"/>
          <a:lstStyle/>
          <a:p>
            <a:pPr marL="0" indent="0" algn="l">
              <a:buNone/>
            </a:pPr>
            <a:r>
              <a:rPr lang="en-US" sz="1150" dirty="0">
                <a:solidFill>
                  <a:srgbClr val="1B1F2A"/>
                </a:solidFill>
              </a:rPr>
              <a:t>Three prompts and three instruction blocks must fit before the step starts; otherwise budget_would_exceed with zero spend.</a:t>
            </a:r>
            <a:endParaRPr lang="en-US" sz="1150" dirty="0"/>
          </a:p>
        </p:txBody>
      </p:sp>
      <p:sp>
        <p:nvSpPr>
          <p:cNvPr id="16" name="Card"/>
          <p:cNvSpPr/>
          <p:nvPr/>
        </p:nvSpPr>
        <p:spPr>
          <a:xfrm>
            <a:off x="457200" y="4754880"/>
            <a:ext cx="5120640" cy="1051560"/>
          </a:xfrm>
          <a:prstGeom prst="roundRect">
            <a:avLst>
              <a:gd name="adj" fmla="val 10435"/>
            </a:avLst>
          </a:prstGeom>
          <a:solidFill>
            <a:srgbClr val="EEF1F6"/>
          </a:solidFill>
          <a:ln w="12700">
            <a:solidFill>
              <a:srgbClr val="EEF1F6"/>
            </a:solidFill>
            <a:prstDash val="solid"/>
          </a:ln>
        </p:spPr>
        <p:txBody>
          <a:bodyPr/>
          <a:lstStyle/>
          <a:p>
            <a:endParaRPr lang="en-GB"/>
          </a:p>
        </p:txBody>
      </p:sp>
      <p:sp>
        <p:nvSpPr>
          <p:cNvPr id="17" name="Badge C"/>
          <p:cNvSpPr/>
          <p:nvPr/>
        </p:nvSpPr>
        <p:spPr>
          <a:xfrm>
            <a:off x="640080" y="4937760"/>
            <a:ext cx="457200" cy="457200"/>
          </a:xfrm>
          <a:prstGeom prst="ellipse">
            <a:avLst/>
          </a:prstGeom>
          <a:solidFill>
            <a:srgbClr val="2CA02C"/>
          </a:solidFill>
          <a:ln w="12700">
            <a:solidFill>
              <a:srgbClr val="2CA02C"/>
            </a:solidFill>
            <a:prstDash val="solid"/>
          </a:ln>
        </p:spPr>
        <p:txBody>
          <a:bodyPr/>
          <a:lstStyle/>
          <a:p>
            <a:endParaRPr lang="en-GB"/>
          </a:p>
        </p:txBody>
      </p:sp>
      <p:sp>
        <p:nvSpPr>
          <p:cNvPr id="18" name="Badge label C"/>
          <p:cNvSpPr txBox="1"/>
          <p:nvPr/>
        </p:nvSpPr>
        <p:spPr>
          <a:xfrm>
            <a:off x="640080" y="493776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rPr>
              <a:t>C</a:t>
            </a:r>
            <a:endParaRPr lang="en-US" sz="1600" dirty="0"/>
          </a:p>
        </p:txBody>
      </p:sp>
      <p:sp>
        <p:nvSpPr>
          <p:cNvPr id="19" name="Param title C"/>
          <p:cNvSpPr txBox="1"/>
          <p:nvPr/>
        </p:nvSpPr>
        <p:spPr>
          <a:xfrm>
            <a:off x="1234440" y="4846320"/>
            <a:ext cx="4206240" cy="320040"/>
          </a:xfrm>
          <a:prstGeom prst="rect">
            <a:avLst/>
          </a:prstGeom>
          <a:noFill/>
          <a:ln/>
        </p:spPr>
        <p:txBody>
          <a:bodyPr wrap="square" lIns="0" tIns="0" rIns="0" bIns="0" rtlCol="0" anchor="ctr"/>
          <a:lstStyle/>
          <a:p>
            <a:pPr marL="0" indent="0" algn="l">
              <a:buNone/>
            </a:pPr>
            <a:r>
              <a:rPr lang="en-US" sz="1300" b="1" dirty="0">
                <a:solidFill>
                  <a:srgbClr val="14213D"/>
                </a:solidFill>
              </a:rPr>
              <a:t>Whichever mode the router chose</a:t>
            </a:r>
            <a:endParaRPr lang="en-US" sz="1300" dirty="0"/>
          </a:p>
        </p:txBody>
      </p:sp>
      <p:sp>
        <p:nvSpPr>
          <p:cNvPr id="20" name="Param body C"/>
          <p:cNvSpPr txBox="1"/>
          <p:nvPr/>
        </p:nvSpPr>
        <p:spPr>
          <a:xfrm>
            <a:off x="1234440" y="5166360"/>
            <a:ext cx="4206240" cy="621792"/>
          </a:xfrm>
          <a:prstGeom prst="rect">
            <a:avLst/>
          </a:prstGeom>
          <a:noFill/>
          <a:ln/>
        </p:spPr>
        <p:txBody>
          <a:bodyPr wrap="square" lIns="0" tIns="0" rIns="0" bIns="0" rtlCol="0" anchor="t"/>
          <a:lstStyle/>
          <a:p>
            <a:pPr marL="0" indent="0" algn="l">
              <a:buNone/>
            </a:pPr>
            <a:r>
              <a:rPr lang="en-US" sz="1150" dirty="0">
                <a:solidFill>
                  <a:srgbClr val="1B1F2A"/>
                </a:solidFill>
              </a:rPr>
              <a:t>Plus a router_stop before any step when the stop head fires.</a:t>
            </a:r>
            <a:endParaRPr lang="en-US" sz="1150" dirty="0"/>
          </a:p>
        </p:txBody>
      </p:sp>
      <p:graphicFrame>
        <p:nvGraphicFramePr>
          <p:cNvPr id="21" name="Table"/>
          <p:cNvGraphicFramePr>
            <a:graphicFrameLocks noGrp="1"/>
          </p:cNvGraphicFramePr>
          <p:nvPr>
            <p:extLst>
              <p:ext uri="{D42A27DB-BD31-4B8C-83A1-F6EECF244321}">
                <p14:modId xmlns:p14="http://schemas.microsoft.com/office/powerpoint/2010/main" val="1579011935"/>
              </p:ext>
            </p:extLst>
          </p:nvPr>
        </p:nvGraphicFramePr>
        <p:xfrm>
          <a:off x="5943600" y="2377440"/>
          <a:ext cx="5806440" cy="3127248"/>
        </p:xfrm>
        <a:graphic>
          <a:graphicData uri="http://schemas.openxmlformats.org/drawingml/2006/table">
            <a:tbl>
              <a:tblPr/>
              <a:tblGrid>
                <a:gridCol w="205740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tblGrid>
              <a:tr h="347472">
                <a:tc>
                  <a:txBody>
                    <a:bodyPr/>
                    <a:lstStyle/>
                    <a:p>
                      <a:pPr marL="0" indent="0" algn="l">
                        <a:buNone/>
                      </a:pPr>
                      <a:r>
                        <a:rPr lang="en-US" sz="1100" b="1" dirty="0">
                          <a:solidFill>
                            <a:srgbClr val="FFFFFF"/>
                          </a:solidFill>
                        </a:rPr>
                        <a:t>Termination reason</a:t>
                      </a:r>
                      <a:endParaRPr lang="en-US" sz="11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14213D"/>
                    </a:solidFill>
                  </a:tcPr>
                </a:tc>
                <a:tc>
                  <a:txBody>
                    <a:bodyPr/>
                    <a:lstStyle/>
                    <a:p>
                      <a:pPr marL="0" indent="0" algn="l">
                        <a:buNone/>
                      </a:pPr>
                      <a:r>
                        <a:rPr lang="en-US" sz="1100" b="1" dirty="0">
                          <a:solidFill>
                            <a:srgbClr val="FFFFFF"/>
                          </a:solidFill>
                        </a:rPr>
                        <a:t>Fires when</a:t>
                      </a:r>
                      <a:endParaRPr lang="en-US" sz="11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14213D"/>
                    </a:solidFill>
                  </a:tcPr>
                </a:tc>
                <a:tc>
                  <a:txBody>
                    <a:bodyPr/>
                    <a:lstStyle/>
                    <a:p>
                      <a:pPr marL="0" indent="0" algn="l">
                        <a:buNone/>
                      </a:pPr>
                      <a:r>
                        <a:rPr lang="en-US" sz="1100" b="1" dirty="0">
                          <a:solidFill>
                            <a:srgbClr val="FFFFFF"/>
                          </a:solidFill>
                        </a:rPr>
                        <a:t>Failure class</a:t>
                      </a:r>
                      <a:endParaRPr lang="en-US" sz="11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347472">
                <a:tc>
                  <a:txBody>
                    <a:bodyPr/>
                    <a:lstStyle/>
                    <a:p>
                      <a:pPr marL="0" indent="0" algn="l">
                        <a:buNone/>
                      </a:pPr>
                      <a:r>
                        <a:rPr lang="en-US" sz="1100" dirty="0">
                          <a:solidFill>
                            <a:srgbClr val="1B1F2A"/>
                          </a:solidFill>
                        </a:rPr>
                        <a:t>success</a:t>
                      </a:r>
                      <a:endParaRPr lang="en-US" sz="11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B1F2A"/>
                          </a:solidFill>
                        </a:rPr>
                        <a:t>WebArena's evaluator returns reward 1</a:t>
                      </a:r>
                      <a:endParaRPr lang="en-US" sz="11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B1F2A"/>
                          </a:solidFill>
                        </a:rPr>
                        <a:t>Success</a:t>
                      </a:r>
                      <a:endParaRPr lang="en-US" sz="11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47472">
                <a:tc>
                  <a:txBody>
                    <a:bodyPr/>
                    <a:lstStyle/>
                    <a:p>
                      <a:pPr marL="0" indent="0" algn="l">
                        <a:buNone/>
                      </a:pPr>
                      <a:r>
                        <a:rPr lang="en-US" sz="1100" dirty="0">
                          <a:solidFill>
                            <a:srgbClr val="1B1F2A"/>
                          </a:solidFill>
                        </a:rPr>
                        <a:t>env_terminated</a:t>
                      </a:r>
                      <a:endParaRPr lang="en-US" sz="11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tc>
                  <a:txBody>
                    <a:bodyPr/>
                    <a:lstStyle/>
                    <a:p>
                      <a:pPr marL="0" indent="0" algn="l">
                        <a:buNone/>
                      </a:pPr>
                      <a:r>
                        <a:rPr lang="en-US" sz="1100" dirty="0">
                          <a:solidFill>
                            <a:srgbClr val="1B1F2A"/>
                          </a:solidFill>
                        </a:rPr>
                        <a:t>An answer is submitted and judged wrong</a:t>
                      </a:r>
                      <a:endParaRPr lang="en-US" sz="11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tc>
                  <a:txBody>
                    <a:bodyPr/>
                    <a:lstStyle/>
                    <a:p>
                      <a:pPr marL="0" indent="0" algn="l">
                        <a:buNone/>
                      </a:pPr>
                      <a:r>
                        <a:rPr lang="en-US" sz="1100" dirty="0">
                          <a:solidFill>
                            <a:srgbClr val="1B1F2A"/>
                          </a:solidFill>
                        </a:rPr>
                        <a:t>Wrong answer</a:t>
                      </a:r>
                      <a:endParaRPr lang="en-US" sz="11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extLst>
                  <a:ext uri="{0D108BD9-81ED-4DB2-BD59-A6C34878D82A}">
                    <a16:rowId xmlns:a16="http://schemas.microsoft.com/office/drawing/2014/main" val="10002"/>
                  </a:ext>
                </a:extLst>
              </a:tr>
              <a:tr h="347472">
                <a:tc>
                  <a:txBody>
                    <a:bodyPr/>
                    <a:lstStyle/>
                    <a:p>
                      <a:pPr marL="0" indent="0" algn="l">
                        <a:buNone/>
                      </a:pPr>
                      <a:r>
                        <a:rPr lang="en-US" sz="1100" dirty="0">
                          <a:solidFill>
                            <a:srgbClr val="1B1F2A"/>
                          </a:solidFill>
                        </a:rPr>
                        <a:t>budget_would_exceed</a:t>
                      </a:r>
                      <a:endParaRPr lang="en-US" sz="11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B1F2A"/>
                          </a:solidFill>
                        </a:rPr>
                        <a:t>Pre-step estimate would exceed the cap</a:t>
                      </a:r>
                      <a:endParaRPr lang="en-US" sz="11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B1F2A"/>
                          </a:solidFill>
                        </a:rPr>
                        <a:t>Budget exhausted</a:t>
                      </a:r>
                      <a:endParaRPr lang="en-US" sz="11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47472">
                <a:tc>
                  <a:txBody>
                    <a:bodyPr/>
                    <a:lstStyle/>
                    <a:p>
                      <a:pPr marL="0" indent="0" algn="l">
                        <a:buNone/>
                      </a:pPr>
                      <a:r>
                        <a:rPr lang="en-US" sz="1100" dirty="0">
                          <a:solidFill>
                            <a:srgbClr val="1B1F2A"/>
                          </a:solidFill>
                        </a:rPr>
                        <a:t>safety_token_cap</a:t>
                      </a:r>
                      <a:endParaRPr lang="en-US" sz="11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tc>
                  <a:txBody>
                    <a:bodyPr/>
                    <a:lstStyle/>
                    <a:p>
                      <a:pPr marL="0" indent="0" algn="l">
                        <a:buNone/>
                      </a:pPr>
                      <a:r>
                        <a:rPr lang="en-US" sz="1100" dirty="0">
                          <a:solidFill>
                            <a:srgbClr val="1B1F2A"/>
                          </a:solidFill>
                        </a:rPr>
                        <a:t>Running total reaches the cap after a call</a:t>
                      </a:r>
                      <a:endParaRPr lang="en-US" sz="11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tc>
                  <a:txBody>
                    <a:bodyPr/>
                    <a:lstStyle/>
                    <a:p>
                      <a:pPr marL="0" indent="0" algn="l">
                        <a:buNone/>
                      </a:pPr>
                      <a:r>
                        <a:rPr lang="en-US" sz="1100" dirty="0">
                          <a:solidFill>
                            <a:srgbClr val="1B1F2A"/>
                          </a:solidFill>
                        </a:rPr>
                        <a:t>Budget exhausted</a:t>
                      </a:r>
                      <a:endParaRPr lang="en-US" sz="11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extLst>
                  <a:ext uri="{0D108BD9-81ED-4DB2-BD59-A6C34878D82A}">
                    <a16:rowId xmlns:a16="http://schemas.microsoft.com/office/drawing/2014/main" val="10004"/>
                  </a:ext>
                </a:extLst>
              </a:tr>
              <a:tr h="347472">
                <a:tc>
                  <a:txBody>
                    <a:bodyPr/>
                    <a:lstStyle/>
                    <a:p>
                      <a:pPr marL="0" indent="0" algn="l">
                        <a:buNone/>
                      </a:pPr>
                      <a:r>
                        <a:rPr lang="en-US" sz="1100" dirty="0">
                          <a:solidFill>
                            <a:srgbClr val="1B1F2A"/>
                          </a:solidFill>
                        </a:rPr>
                        <a:t>budget_exhausted_mid_step</a:t>
                      </a:r>
                      <a:endParaRPr lang="en-US" sz="11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B1F2A"/>
                          </a:solidFill>
                        </a:rPr>
                        <a:t>Cap reached between B's three calls</a:t>
                      </a:r>
                      <a:endParaRPr lang="en-US" sz="11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B1F2A"/>
                          </a:solidFill>
                        </a:rPr>
                        <a:t>Budget exhausted</a:t>
                      </a:r>
                      <a:endParaRPr lang="en-US" sz="11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47472">
                <a:tc>
                  <a:txBody>
                    <a:bodyPr/>
                    <a:lstStyle/>
                    <a:p>
                      <a:pPr marL="0" indent="0" algn="l">
                        <a:buNone/>
                      </a:pPr>
                      <a:r>
                        <a:rPr lang="en-US" sz="1100" dirty="0">
                          <a:solidFill>
                            <a:srgbClr val="1B1F2A"/>
                          </a:solidFill>
                        </a:rPr>
                        <a:t>navigation_cycle</a:t>
                      </a:r>
                      <a:endParaRPr lang="en-US" sz="11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tc>
                  <a:txBody>
                    <a:bodyPr/>
                    <a:lstStyle/>
                    <a:p>
                      <a:pPr marL="0" indent="0" algn="l">
                        <a:buNone/>
                      </a:pPr>
                      <a:r>
                        <a:rPr lang="en-US" sz="1100" dirty="0">
                          <a:solidFill>
                            <a:srgbClr val="1B1F2A"/>
                          </a:solidFill>
                        </a:rPr>
                        <a:t>Same action from the same page 3 times</a:t>
                      </a:r>
                      <a:endParaRPr lang="en-US" sz="11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tc>
                  <a:txBody>
                    <a:bodyPr/>
                    <a:lstStyle/>
                    <a:p>
                      <a:pPr marL="0" indent="0" algn="l">
                        <a:buNone/>
                      </a:pPr>
                      <a:r>
                        <a:rPr lang="en-US" sz="1100" dirty="0">
                          <a:solidFill>
                            <a:srgbClr val="1B1F2A"/>
                          </a:solidFill>
                        </a:rPr>
                        <a:t>Stuck (guard)</a:t>
                      </a:r>
                      <a:endParaRPr lang="en-US" sz="11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extLst>
                  <a:ext uri="{0D108BD9-81ED-4DB2-BD59-A6C34878D82A}">
                    <a16:rowId xmlns:a16="http://schemas.microsoft.com/office/drawing/2014/main" val="10006"/>
                  </a:ext>
                </a:extLst>
              </a:tr>
              <a:tr h="347472">
                <a:tc>
                  <a:txBody>
                    <a:bodyPr/>
                    <a:lstStyle/>
                    <a:p>
                      <a:pPr marL="0" indent="0" algn="l">
                        <a:buNone/>
                      </a:pPr>
                      <a:r>
                        <a:rPr lang="en-US" sz="1100" dirty="0">
                          <a:solidFill>
                            <a:srgbClr val="1B1F2A"/>
                          </a:solidFill>
                        </a:rPr>
                        <a:t>repeated_action_failure</a:t>
                      </a:r>
                      <a:endParaRPr lang="en-US" sz="11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B1F2A"/>
                          </a:solidFill>
                        </a:rPr>
                        <a:t>Four consecutive action errors</a:t>
                      </a:r>
                      <a:endParaRPr lang="en-US" sz="11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B1F2A"/>
                          </a:solidFill>
                        </a:rPr>
                        <a:t>Stuck (guard)</a:t>
                      </a:r>
                      <a:endParaRPr lang="en-US" sz="11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47472">
                <a:tc>
                  <a:txBody>
                    <a:bodyPr/>
                    <a:lstStyle/>
                    <a:p>
                      <a:pPr marL="0" indent="0" algn="l">
                        <a:buNone/>
                      </a:pPr>
                      <a:r>
                        <a:rPr lang="en-US" sz="1100" dirty="0">
                          <a:solidFill>
                            <a:srgbClr val="1B1F2A"/>
                          </a:solidFill>
                        </a:rPr>
                        <a:t>router_stop</a:t>
                      </a:r>
                      <a:endParaRPr lang="en-US" sz="11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tc>
                  <a:txBody>
                    <a:bodyPr/>
                    <a:lstStyle/>
                    <a:p>
                      <a:pPr marL="0" indent="0" algn="l">
                        <a:buNone/>
                      </a:pPr>
                      <a:r>
                        <a:rPr lang="en-US" sz="1100" dirty="0">
                          <a:solidFill>
                            <a:srgbClr val="1B1F2A"/>
                          </a:solidFill>
                        </a:rPr>
                        <a:t>Strategy C's stop head ends the episode</a:t>
                      </a:r>
                      <a:endParaRPr lang="en-US" sz="11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tc>
                  <a:txBody>
                    <a:bodyPr/>
                    <a:lstStyle/>
                    <a:p>
                      <a:pPr marL="0" indent="0" algn="l">
                        <a:buNone/>
                      </a:pPr>
                      <a:r>
                        <a:rPr lang="en-US" sz="1100" dirty="0">
                          <a:solidFill>
                            <a:srgbClr val="1B1F2A"/>
                          </a:solidFill>
                        </a:rPr>
                        <a:t>Router stop</a:t>
                      </a:r>
                      <a:endParaRPr lang="en-US" sz="11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extLst>
                  <a:ext uri="{0D108BD9-81ED-4DB2-BD59-A6C34878D82A}">
                    <a16:rowId xmlns:a16="http://schemas.microsoft.com/office/drawing/2014/main" val="10008"/>
                  </a:ext>
                </a:extLst>
              </a:tr>
            </a:tbl>
          </a:graphicData>
        </a:graphic>
      </p:graphicFrame>
      <p:sp>
        <p:nvSpPr>
          <p:cNvPr id="22" name="Caption Report Table"/>
          <p:cNvSpPr txBox="1"/>
          <p:nvPr/>
        </p:nvSpPr>
        <p:spPr>
          <a:xfrm>
            <a:off x="5943600" y="5614416"/>
            <a:ext cx="5806440" cy="274320"/>
          </a:xfrm>
          <a:prstGeom prst="rect">
            <a:avLst/>
          </a:prstGeom>
          <a:noFill/>
          <a:ln/>
        </p:spPr>
        <p:txBody>
          <a:bodyPr wrap="square" lIns="0" tIns="0" rIns="0" bIns="0" rtlCol="0" anchor="t"/>
          <a:lstStyle/>
          <a:p>
            <a:pPr marL="0" indent="0" algn="l">
              <a:buNone/>
            </a:pPr>
            <a:r>
              <a:rPr lang="en-US" sz="1100" i="1" dirty="0">
                <a:solidFill>
                  <a:srgbClr val="5C6673"/>
                </a:solidFill>
              </a:rPr>
              <a:t>Report Table 3.3 (Appendix): termination reasons and failure classes</a:t>
            </a:r>
            <a:endParaRPr lang="en-US" sz="1100" dirty="0"/>
          </a:p>
        </p:txBody>
      </p:sp>
      <p:sp>
        <p:nvSpPr>
          <p:cNvPr id="25" name="Slide Number Placeholder 0"/>
          <p:cNvSpPr>
            <a:spLocks noGrp="1"/>
          </p:cNvSpPr>
          <p:nvPr>
            <p:ph type="sldNum" sz="quarter" idx="4294967295"/>
          </p:nvPr>
        </p:nvSpPr>
        <p:spPr>
          <a:xfrm>
            <a:off x="1124712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673"/>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11247120" cy="777240"/>
          </a:xfrm>
          <a:prstGeom prst="rect">
            <a:avLst/>
          </a:prstGeom>
          <a:noFill/>
          <a:ln/>
        </p:spPr>
        <p:txBody>
          <a:bodyPr wrap="square" lIns="0" tIns="0" rIns="0" bIns="0" rtlCol="0" anchor="ctr"/>
          <a:lstStyle/>
          <a:p>
            <a:pPr marL="0" indent="0" algn="l">
              <a:buNone/>
            </a:pPr>
            <a:r>
              <a:rPr lang="en-US" sz="3000" b="1" dirty="0">
                <a:solidFill>
                  <a:schemeClr val="tx2"/>
                </a:solidFill>
              </a:rPr>
              <a:t>Strategy C: two small heads trained offline, consulted live</a:t>
            </a:r>
            <a:endParaRPr lang="en-US" sz="3000" dirty="0"/>
          </a:p>
        </p:txBody>
      </p:sp>
      <p:pic>
        <p:nvPicPr>
          <p:cNvPr id="3" name="Report Figure 3.2" descr="/tmp/claude-0/-home-claude/3b9ca3d8-d8cd-59f1-9b80-73904a5c6e11/scratchpad/r23/word/media/image3.png"/>
          <p:cNvPicPr>
            <a:picLocks noChangeAspect="1"/>
          </p:cNvPicPr>
          <p:nvPr/>
        </p:nvPicPr>
        <p:blipFill>
          <a:blip r:embed="rId3"/>
          <a:stretch>
            <a:fillRect/>
          </a:stretch>
        </p:blipFill>
        <p:spPr>
          <a:xfrm>
            <a:off x="457200" y="1106011"/>
            <a:ext cx="7589520" cy="3320098"/>
          </a:xfrm>
          <a:prstGeom prst="rect">
            <a:avLst/>
          </a:prstGeom>
        </p:spPr>
      </p:pic>
      <p:sp>
        <p:nvSpPr>
          <p:cNvPr id="4" name="Caption Figure 3.2"/>
          <p:cNvSpPr txBox="1"/>
          <p:nvPr/>
        </p:nvSpPr>
        <p:spPr>
          <a:xfrm>
            <a:off x="457200" y="4453128"/>
            <a:ext cx="7589520" cy="301752"/>
          </a:xfrm>
          <a:prstGeom prst="rect">
            <a:avLst/>
          </a:prstGeom>
          <a:noFill/>
          <a:ln/>
        </p:spPr>
        <p:txBody>
          <a:bodyPr wrap="square" lIns="0" tIns="0" rIns="0" bIns="0" rtlCol="0" anchor="t"/>
          <a:lstStyle/>
          <a:p>
            <a:pPr marL="0" indent="0" algn="ctr">
              <a:buNone/>
            </a:pPr>
            <a:r>
              <a:rPr lang="en-US" sz="1100" i="1" dirty="0">
                <a:solidFill>
                  <a:srgbClr val="5C6673"/>
                </a:solidFill>
              </a:rPr>
              <a:t>Report Figure 3.2: offline training of the mode and stop heads and their use in a live episode</a:t>
            </a:r>
            <a:endParaRPr lang="en-US" sz="1100" dirty="0"/>
          </a:p>
        </p:txBody>
      </p:sp>
      <p:sp>
        <p:nvSpPr>
          <p:cNvPr id="5" name="Heading Training"/>
          <p:cNvSpPr txBox="1"/>
          <p:nvPr/>
        </p:nvSpPr>
        <p:spPr>
          <a:xfrm>
            <a:off x="8321040" y="1143000"/>
            <a:ext cx="3474720" cy="365760"/>
          </a:xfrm>
          <a:prstGeom prst="rect">
            <a:avLst/>
          </a:prstGeom>
          <a:noFill/>
          <a:ln/>
        </p:spPr>
        <p:txBody>
          <a:bodyPr wrap="square" lIns="0" tIns="0" rIns="0" bIns="0" rtlCol="0" anchor="ctr"/>
          <a:lstStyle/>
          <a:p>
            <a:pPr marL="0" indent="0" algn="l">
              <a:buNone/>
            </a:pPr>
            <a:r>
              <a:rPr lang="en-US" sz="1600" b="1" dirty="0">
                <a:solidFill>
                  <a:srgbClr val="14213D"/>
                </a:solidFill>
              </a:rPr>
              <a:t>Training</a:t>
            </a:r>
            <a:endParaRPr lang="en-US" sz="1600" dirty="0"/>
          </a:p>
        </p:txBody>
      </p:sp>
      <p:sp>
        <p:nvSpPr>
          <p:cNvPr id="6" name="Bullets"/>
          <p:cNvSpPr txBox="1"/>
          <p:nvPr/>
        </p:nvSpPr>
        <p:spPr>
          <a:xfrm>
            <a:off x="8321040" y="1508760"/>
            <a:ext cx="3474720" cy="3017520"/>
          </a:xfrm>
          <a:prstGeom prst="rect">
            <a:avLst/>
          </a:prstGeom>
          <a:noFill/>
          <a:ln/>
        </p:spPr>
        <p:txBody>
          <a:bodyPr wrap="square" lIns="0" tIns="0" rIns="0" bIns="0" rtlCol="0" anchor="t"/>
          <a:lstStyle/>
          <a:p>
            <a:pPr marL="177800" indent="-177800" algn="l">
              <a:spcAft>
                <a:spcPts val="600"/>
              </a:spcAft>
              <a:buSzPct val="100000"/>
              <a:buChar char="•"/>
            </a:pPr>
            <a:r>
              <a:rPr lang="en-US" sz="1250" dirty="0">
                <a:solidFill>
                  <a:srgbClr val="1B1F2A"/>
                </a:solidFill>
              </a:rPr>
              <a:t>Data: decontaminated A and B episodes → 2,560 mode pairs, 17,439 step transitions</a:t>
            </a:r>
            <a:endParaRPr lang="en-US" sz="1250" dirty="0"/>
          </a:p>
          <a:p>
            <a:pPr marL="177800" indent="-177800" algn="l">
              <a:spcAft>
                <a:spcPts val="600"/>
              </a:spcAft>
              <a:buSzPct val="100000"/>
              <a:buChar char="•"/>
            </a:pPr>
            <a:r>
              <a:rPr lang="en-US" sz="1250" dirty="0">
                <a:solidFill>
                  <a:srgbClr val="1B1F2A"/>
                </a:solidFill>
              </a:rPr>
              <a:t>Two MLPs (2 × 64 ReLU): mode head 18 features, stop head 24 features</a:t>
            </a:r>
            <a:endParaRPr lang="en-US" sz="1250" dirty="0"/>
          </a:p>
          <a:p>
            <a:pPr marL="177800" indent="-177800" algn="l">
              <a:spcAft>
                <a:spcPts val="600"/>
              </a:spcAft>
              <a:buSzPct val="100000"/>
              <a:buChar char="•"/>
            </a:pPr>
            <a:r>
              <a:rPr lang="en-US" sz="1250" dirty="0">
                <a:solidFill>
                  <a:srgbClr val="1B1F2A"/>
                </a:solidFill>
              </a:rPr>
              <a:t>Advantage-weighted regression with entropy weight α; 5 task-level folds</a:t>
            </a:r>
            <a:endParaRPr lang="en-US" sz="1250" dirty="0"/>
          </a:p>
          <a:p>
            <a:pPr marL="177800" indent="-177800" algn="l">
              <a:spcAft>
                <a:spcPts val="600"/>
              </a:spcAft>
              <a:buSzPct val="100000"/>
              <a:buChar char="•"/>
            </a:pPr>
            <a:r>
              <a:rPr lang="en-US" sz="1250" dirty="0">
                <a:solidFill>
                  <a:srgbClr val="1B1F2A"/>
                </a:solidFill>
              </a:rPr>
              <a:t>Stop threshold = largest saving that keeps ≥ 90% of A's successes</a:t>
            </a:r>
            <a:endParaRPr lang="en-US" sz="1250" dirty="0"/>
          </a:p>
        </p:txBody>
      </p:sp>
      <p:graphicFrame>
        <p:nvGraphicFramePr>
          <p:cNvPr id="10" name="Table"/>
          <p:cNvGraphicFramePr>
            <a:graphicFrameLocks noGrp="1"/>
          </p:cNvGraphicFramePr>
          <p:nvPr>
            <p:extLst>
              <p:ext uri="{D42A27DB-BD31-4B8C-83A1-F6EECF244321}">
                <p14:modId xmlns:p14="http://schemas.microsoft.com/office/powerpoint/2010/main" val="1579011935"/>
              </p:ext>
            </p:extLst>
          </p:nvPr>
        </p:nvGraphicFramePr>
        <p:xfrm>
          <a:off x="8321040" y="3931920"/>
          <a:ext cx="3474720" cy="1243584"/>
        </p:xfrm>
        <a:graphic>
          <a:graphicData uri="http://schemas.openxmlformats.org/drawingml/2006/table">
            <a:tbl>
              <a:tblPr/>
              <a:tblGrid>
                <a:gridCol w="128016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777240">
                  <a:extLst>
                    <a:ext uri="{9D8B030D-6E8A-4147-A177-3AD203B41FA5}">
                      <a16:colId xmlns:a16="http://schemas.microsoft.com/office/drawing/2014/main" val="20002"/>
                    </a:ext>
                  </a:extLst>
                </a:gridCol>
                <a:gridCol w="777240">
                  <a:extLst>
                    <a:ext uri="{9D8B030D-6E8A-4147-A177-3AD203B41FA5}">
                      <a16:colId xmlns:a16="http://schemas.microsoft.com/office/drawing/2014/main" val="20003"/>
                    </a:ext>
                  </a:extLst>
                </a:gridCol>
              </a:tblGrid>
              <a:tr h="310896">
                <a:tc>
                  <a:txBody>
                    <a:bodyPr/>
                    <a:lstStyle/>
                    <a:p>
                      <a:pPr marL="0" indent="0" algn="l">
                        <a:buNone/>
                      </a:pPr>
                      <a:r>
                        <a:rPr lang="en-US" sz="1150" b="1" dirty="0">
                          <a:solidFill>
                            <a:srgbClr val="FFFFFF"/>
                          </a:solidFill>
                        </a:rPr>
                        <a:t>Model</a:t>
                      </a:r>
                      <a:endParaRPr lang="en-US" sz="115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14213D"/>
                    </a:solidFill>
                  </a:tcPr>
                </a:tc>
                <a:tc>
                  <a:txBody>
                    <a:bodyPr/>
                    <a:lstStyle/>
                    <a:p>
                      <a:pPr marL="0" indent="0" algn="l">
                        <a:buNone/>
                      </a:pPr>
                      <a:r>
                        <a:rPr lang="en-US" sz="1150" b="1" dirty="0">
                          <a:solidFill>
                            <a:srgbClr val="FFFFFF"/>
                          </a:solidFill>
                        </a:rPr>
                        <a:t>α</a:t>
                      </a:r>
                      <a:endParaRPr lang="en-US" sz="115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14213D"/>
                    </a:solidFill>
                  </a:tcPr>
                </a:tc>
                <a:tc>
                  <a:txBody>
                    <a:bodyPr/>
                    <a:lstStyle/>
                    <a:p>
                      <a:pPr marL="0" indent="0" algn="l">
                        <a:buNone/>
                      </a:pPr>
                      <a:r>
                        <a:rPr lang="en-US" sz="1150" b="1" dirty="0">
                          <a:solidFill>
                            <a:srgbClr val="FFFFFF"/>
                          </a:solidFill>
                        </a:rPr>
                        <a:t>Kept</a:t>
                      </a:r>
                      <a:endParaRPr lang="en-US" sz="115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14213D"/>
                    </a:solidFill>
                  </a:tcPr>
                </a:tc>
                <a:tc>
                  <a:txBody>
                    <a:bodyPr/>
                    <a:lstStyle/>
                    <a:p>
                      <a:pPr marL="0" indent="0" algn="l">
                        <a:buNone/>
                      </a:pPr>
                      <a:r>
                        <a:rPr lang="en-US" sz="1150" b="1" dirty="0">
                          <a:solidFill>
                            <a:srgbClr val="FFFFFF"/>
                          </a:solidFill>
                        </a:rPr>
                        <a:t>Saved</a:t>
                      </a:r>
                      <a:endParaRPr lang="en-US" sz="115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310896">
                <a:tc>
                  <a:txBody>
                    <a:bodyPr/>
                    <a:lstStyle/>
                    <a:p>
                      <a:pPr marL="0" indent="0" algn="l">
                        <a:buNone/>
                      </a:pPr>
                      <a:r>
                        <a:rPr lang="en-US" sz="1150" dirty="0">
                          <a:solidFill>
                            <a:srgbClr val="1B1F2A"/>
                          </a:solidFill>
                        </a:rPr>
                        <a:t>1</a:t>
                      </a:r>
                      <a:endParaRPr lang="en-US" sz="115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B1F2A"/>
                          </a:solidFill>
                        </a:rPr>
                        <a:t>0.01</a:t>
                      </a:r>
                      <a:endParaRPr lang="en-US" sz="115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B1F2A"/>
                          </a:solidFill>
                        </a:rPr>
                        <a:t>91.2%</a:t>
                      </a:r>
                      <a:endParaRPr lang="en-US" sz="115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B1F2A"/>
                          </a:solidFill>
                        </a:rPr>
                        <a:t>22.4%</a:t>
                      </a:r>
                      <a:endParaRPr lang="en-US" sz="115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lgn="l">
                        <a:buNone/>
                      </a:pPr>
                      <a:r>
                        <a:rPr lang="en-US" sz="1150" b="1" dirty="0">
                          <a:solidFill>
                            <a:srgbClr val="1B1F2A"/>
                          </a:solidFill>
                        </a:rPr>
                        <a:t>2 (selected)</a:t>
                      </a:r>
                      <a:endParaRPr lang="en-US" sz="115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tc>
                  <a:txBody>
                    <a:bodyPr/>
                    <a:lstStyle/>
                    <a:p>
                      <a:pPr marL="0" indent="0" algn="l">
                        <a:buNone/>
                      </a:pPr>
                      <a:r>
                        <a:rPr lang="en-US" sz="1150" dirty="0">
                          <a:solidFill>
                            <a:srgbClr val="1B1F2A"/>
                          </a:solidFill>
                        </a:rPr>
                        <a:t>0.05</a:t>
                      </a:r>
                      <a:endParaRPr lang="en-US" sz="115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tc>
                  <a:txBody>
                    <a:bodyPr/>
                    <a:lstStyle/>
                    <a:p>
                      <a:pPr marL="0" indent="0" algn="l">
                        <a:buNone/>
                      </a:pPr>
                      <a:r>
                        <a:rPr lang="en-US" sz="1150" b="1" dirty="0">
                          <a:solidFill>
                            <a:srgbClr val="1B1F2A"/>
                          </a:solidFill>
                        </a:rPr>
                        <a:t>91.8%</a:t>
                      </a:r>
                      <a:endParaRPr lang="en-US" sz="115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tc>
                  <a:txBody>
                    <a:bodyPr/>
                    <a:lstStyle/>
                    <a:p>
                      <a:pPr marL="0" indent="0" algn="l">
                        <a:buNone/>
                      </a:pPr>
                      <a:r>
                        <a:rPr lang="en-US" sz="1150" b="1" dirty="0">
                          <a:solidFill>
                            <a:srgbClr val="1B1F2A"/>
                          </a:solidFill>
                        </a:rPr>
                        <a:t>22.0%</a:t>
                      </a:r>
                      <a:endParaRPr lang="en-US" sz="115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extLst>
                  <a:ext uri="{0D108BD9-81ED-4DB2-BD59-A6C34878D82A}">
                    <a16:rowId xmlns:a16="http://schemas.microsoft.com/office/drawing/2014/main" val="10002"/>
                  </a:ext>
                </a:extLst>
              </a:tr>
              <a:tr h="310896">
                <a:tc>
                  <a:txBody>
                    <a:bodyPr/>
                    <a:lstStyle/>
                    <a:p>
                      <a:pPr marL="0" indent="0" algn="l">
                        <a:buNone/>
                      </a:pPr>
                      <a:r>
                        <a:rPr lang="en-US" sz="1150" dirty="0">
                          <a:solidFill>
                            <a:srgbClr val="1B1F2A"/>
                          </a:solidFill>
                        </a:rPr>
                        <a:t>3</a:t>
                      </a:r>
                      <a:endParaRPr lang="en-US" sz="115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B1F2A"/>
                          </a:solidFill>
                        </a:rPr>
                        <a:t>0.10</a:t>
                      </a:r>
                      <a:endParaRPr lang="en-US" sz="115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B1F2A"/>
                          </a:solidFill>
                        </a:rPr>
                        <a:t>91.0%</a:t>
                      </a:r>
                      <a:endParaRPr lang="en-US" sz="115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B1F2A"/>
                          </a:solidFill>
                        </a:rPr>
                        <a:t>22.1%</a:t>
                      </a:r>
                      <a:endParaRPr lang="en-US" sz="115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8" name="Caption Report Table"/>
          <p:cNvSpPr txBox="1"/>
          <p:nvPr/>
        </p:nvSpPr>
        <p:spPr>
          <a:xfrm>
            <a:off x="8321040" y="5285232"/>
            <a:ext cx="3474720" cy="274320"/>
          </a:xfrm>
          <a:prstGeom prst="rect">
            <a:avLst/>
          </a:prstGeom>
          <a:noFill/>
          <a:ln/>
        </p:spPr>
        <p:txBody>
          <a:bodyPr wrap="square" lIns="0" tIns="0" rIns="0" bIns="0" rtlCol="0" anchor="t"/>
          <a:lstStyle/>
          <a:p>
            <a:pPr marL="0" indent="0" algn="l">
              <a:buNone/>
            </a:pPr>
            <a:r>
              <a:rPr lang="en-US" sz="1100" i="1" dirty="0">
                <a:solidFill>
                  <a:srgbClr val="5C6673"/>
                </a:solidFill>
              </a:rPr>
              <a:t>Report Table 3.5 (Appendix): offline replay, relative to always running A</a:t>
            </a:r>
            <a:endParaRPr lang="en-US" sz="1100" dirty="0"/>
          </a:p>
        </p:txBody>
      </p:sp>
      <p:sp>
        <p:nvSpPr>
          <p:cNvPr id="9" name="Live use note"/>
          <p:cNvSpPr txBox="1"/>
          <p:nvPr/>
        </p:nvSpPr>
        <p:spPr>
          <a:xfrm>
            <a:off x="457200" y="4846320"/>
            <a:ext cx="7589520" cy="822960"/>
          </a:xfrm>
          <a:prstGeom prst="rect">
            <a:avLst/>
          </a:prstGeom>
          <a:noFill/>
          <a:ln/>
        </p:spPr>
        <p:txBody>
          <a:bodyPr wrap="square" lIns="0" tIns="0" rIns="0" bIns="0" rtlCol="0" anchor="t"/>
          <a:lstStyle/>
          <a:p>
            <a:pPr marL="0" indent="0" algn="l">
              <a:buNone/>
            </a:pPr>
            <a:r>
              <a:rPr lang="en-US" sz="1250" dirty="0">
                <a:solidFill>
                  <a:srgbClr val="1B1F2A"/>
                </a:solidFill>
              </a:rPr>
              <a:t>Live: the mode head decides once per episode (execute = A, cycle = B); the stop head is consulted before every step and ends the episode with router_stop, spending nothing further.</a:t>
            </a:r>
            <a:endParaRPr lang="en-US" sz="1250" dirty="0"/>
          </a:p>
        </p:txBody>
      </p:sp>
      <p:sp>
        <p:nvSpPr>
          <p:cNvPr id="25" name="Slide Number Placeholder 0"/>
          <p:cNvSpPr>
            <a:spLocks noGrp="1"/>
          </p:cNvSpPr>
          <p:nvPr>
            <p:ph type="sldNum" sz="quarter" idx="4294967295"/>
          </p:nvPr>
        </p:nvSpPr>
        <p:spPr>
          <a:xfrm>
            <a:off x="1124712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673"/>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11247120" cy="777240"/>
          </a:xfrm>
          <a:prstGeom prst="rect">
            <a:avLst/>
          </a:prstGeom>
          <a:noFill/>
          <a:ln/>
        </p:spPr>
        <p:txBody>
          <a:bodyPr wrap="square" lIns="0" tIns="0" rIns="0" bIns="0" rtlCol="0" anchor="ctr"/>
          <a:lstStyle/>
          <a:p>
            <a:pPr marL="0" indent="0" algn="l">
              <a:buNone/>
            </a:pPr>
            <a:r>
              <a:rPr lang="en-US" sz="3000" b="1" dirty="0">
                <a:solidFill>
                  <a:schemeClr val="tx2"/>
                </a:solidFill>
              </a:rPr>
              <a:t>Collection and decontamination of a stateful benchmark</a:t>
            </a:r>
            <a:endParaRPr lang="en-US" sz="3000" dirty="0"/>
          </a:p>
        </p:txBody>
      </p:sp>
      <p:pic>
        <p:nvPicPr>
          <p:cNvPr id="3" name="Report Figure 3.3" descr="/tmp/claude-0/-home-claude/3b9ca3d8-d8cd-59f1-9b80-73904a5c6e11/scratchpad/r23/word/media/image4.png"/>
          <p:cNvPicPr>
            <a:picLocks noChangeAspect="1"/>
          </p:cNvPicPr>
          <p:nvPr/>
        </p:nvPicPr>
        <p:blipFill>
          <a:blip r:embed="rId3"/>
          <a:stretch>
            <a:fillRect/>
          </a:stretch>
        </p:blipFill>
        <p:spPr>
          <a:xfrm>
            <a:off x="681932" y="1097280"/>
            <a:ext cx="3756777" cy="4846320"/>
          </a:xfrm>
          <a:prstGeom prst="rect">
            <a:avLst/>
          </a:prstGeom>
        </p:spPr>
      </p:pic>
      <p:sp>
        <p:nvSpPr>
          <p:cNvPr id="4" name="Caption Figure 3.3"/>
          <p:cNvSpPr txBox="1"/>
          <p:nvPr/>
        </p:nvSpPr>
        <p:spPr>
          <a:xfrm>
            <a:off x="457200" y="5961888"/>
            <a:ext cx="4206240" cy="301752"/>
          </a:xfrm>
          <a:prstGeom prst="rect">
            <a:avLst/>
          </a:prstGeom>
          <a:noFill/>
          <a:ln/>
        </p:spPr>
        <p:txBody>
          <a:bodyPr wrap="square" lIns="0" tIns="0" rIns="0" bIns="0" rtlCol="0" anchor="t"/>
          <a:lstStyle/>
          <a:p>
            <a:pPr marL="0" indent="0" algn="ctr">
              <a:buNone/>
            </a:pPr>
            <a:r>
              <a:rPr lang="en-US" sz="1100" i="1" dirty="0">
                <a:solidFill>
                  <a:srgbClr val="5C6673"/>
                </a:solidFill>
              </a:rPr>
              <a:t>Report Figure 3.3: the decontamination pipeline</a:t>
            </a:r>
            <a:endParaRPr lang="en-US" sz="1100" dirty="0"/>
          </a:p>
        </p:txBody>
      </p:sp>
      <p:sp>
        <p:nvSpPr>
          <p:cNvPr id="5" name="Heading Why it is needed"/>
          <p:cNvSpPr txBox="1"/>
          <p:nvPr/>
        </p:nvSpPr>
        <p:spPr>
          <a:xfrm>
            <a:off x="5029200" y="1143000"/>
            <a:ext cx="6675120" cy="365760"/>
          </a:xfrm>
          <a:prstGeom prst="rect">
            <a:avLst/>
          </a:prstGeom>
          <a:noFill/>
          <a:ln/>
        </p:spPr>
        <p:txBody>
          <a:bodyPr wrap="square" lIns="0" tIns="0" rIns="0" bIns="0" rtlCol="0" anchor="ctr"/>
          <a:lstStyle/>
          <a:p>
            <a:pPr marL="0" indent="0" algn="l">
              <a:buNone/>
            </a:pPr>
            <a:r>
              <a:rPr lang="en-US" sz="1600" b="1" dirty="0">
                <a:solidFill>
                  <a:srgbClr val="14213D"/>
                </a:solidFill>
              </a:rPr>
              <a:t>Why it is needed</a:t>
            </a:r>
            <a:endParaRPr lang="en-US" sz="1600" dirty="0"/>
          </a:p>
        </p:txBody>
      </p:sp>
      <p:sp>
        <p:nvSpPr>
          <p:cNvPr id="6" name="Decontamination text"/>
          <p:cNvSpPr txBox="1"/>
          <p:nvPr/>
        </p:nvSpPr>
        <p:spPr>
          <a:xfrm>
            <a:off x="5029200" y="1508760"/>
            <a:ext cx="6675120" cy="1234440"/>
          </a:xfrm>
          <a:prstGeom prst="rect">
            <a:avLst/>
          </a:prstGeom>
          <a:noFill/>
          <a:ln/>
        </p:spPr>
        <p:txBody>
          <a:bodyPr wrap="square" lIns="0" tIns="0" rIns="0" bIns="0" rtlCol="0" anchor="t"/>
          <a:lstStyle/>
          <a:p>
            <a:pPr marL="0" indent="0" algn="l">
              <a:buNone/>
            </a:pPr>
            <a:r>
              <a:rPr lang="en-US" sz="1250" dirty="0">
                <a:solidFill>
                  <a:srgbClr val="1B1F2A"/>
                </a:solidFill>
              </a:rPr>
              <a:t>WebArena's sites keep state between episodes and every task is attempted six times per strategy. After a success on a state-changing task, later attempts find the work already done. Rule: within each (strategy, task) group, episodes after the first success on an idempotent or non-idempotent task are flagged ineligible; read-only tasks are exempt.</a:t>
            </a:r>
            <a:endParaRPr lang="en-US" sz="1250" dirty="0"/>
          </a:p>
        </p:txBody>
      </p:sp>
      <p:graphicFrame>
        <p:nvGraphicFramePr>
          <p:cNvPr id="11" name="Table"/>
          <p:cNvGraphicFramePr>
            <a:graphicFrameLocks noGrp="1"/>
          </p:cNvGraphicFramePr>
          <p:nvPr>
            <p:extLst>
              <p:ext uri="{D42A27DB-BD31-4B8C-83A1-F6EECF244321}">
                <p14:modId xmlns:p14="http://schemas.microsoft.com/office/powerpoint/2010/main" val="1579011935"/>
              </p:ext>
            </p:extLst>
          </p:nvPr>
        </p:nvGraphicFramePr>
        <p:xfrm>
          <a:off x="5029200" y="2880360"/>
          <a:ext cx="6675120" cy="1554480"/>
        </p:xfrm>
        <a:graphic>
          <a:graphicData uri="http://schemas.openxmlformats.org/drawingml/2006/table">
            <a:tbl>
              <a:tblPr/>
              <a:tblGrid>
                <a:gridCol w="210312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tblGrid>
              <a:tr h="310896">
                <a:tc>
                  <a:txBody>
                    <a:bodyPr/>
                    <a:lstStyle/>
                    <a:p>
                      <a:pPr marL="0" indent="0" algn="l">
                        <a:buNone/>
                      </a:pPr>
                      <a:r>
                        <a:rPr lang="en-US" sz="1200" b="1" dirty="0">
                          <a:solidFill>
                            <a:srgbClr val="FFFFFF"/>
                          </a:solidFill>
                        </a:rPr>
                        <a:t>Run</a:t>
                      </a:r>
                      <a:endParaRPr lang="en-US" sz="12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14213D"/>
                    </a:solidFill>
                  </a:tcPr>
                </a:tc>
                <a:tc>
                  <a:txBody>
                    <a:bodyPr/>
                    <a:lstStyle/>
                    <a:p>
                      <a:pPr marL="0" indent="0" algn="l">
                        <a:buNone/>
                      </a:pPr>
                      <a:r>
                        <a:rPr lang="en-US" sz="1200" b="1" dirty="0">
                          <a:solidFill>
                            <a:srgbClr val="FFFFFF"/>
                          </a:solidFill>
                        </a:rPr>
                        <a:t>Dates (2026)</a:t>
                      </a:r>
                      <a:endParaRPr lang="en-US" sz="12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14213D"/>
                    </a:solidFill>
                  </a:tcPr>
                </a:tc>
                <a:tc>
                  <a:txBody>
                    <a:bodyPr/>
                    <a:lstStyle/>
                    <a:p>
                      <a:pPr marL="0" indent="0" algn="l">
                        <a:buNone/>
                      </a:pPr>
                      <a:r>
                        <a:rPr lang="en-US" sz="1200" b="1" dirty="0">
                          <a:solidFill>
                            <a:srgbClr val="FFFFFF"/>
                          </a:solidFill>
                        </a:rPr>
                        <a:t>Episodes</a:t>
                      </a:r>
                      <a:endParaRPr lang="en-US" sz="12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14213D"/>
                    </a:solidFill>
                  </a:tcPr>
                </a:tc>
                <a:tc>
                  <a:txBody>
                    <a:bodyPr/>
                    <a:lstStyle/>
                    <a:p>
                      <a:pPr marL="0" indent="0" algn="l">
                        <a:buNone/>
                      </a:pPr>
                      <a:r>
                        <a:rPr lang="en-US" sz="1200" b="1" dirty="0">
                          <a:solidFill>
                            <a:srgbClr val="FFFFFF"/>
                          </a:solidFill>
                        </a:rPr>
                        <a:t>Tokens</a:t>
                      </a:r>
                      <a:endParaRPr lang="en-US" sz="12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14213D"/>
                    </a:solidFill>
                  </a:tcPr>
                </a:tc>
                <a:tc>
                  <a:txBody>
                    <a:bodyPr/>
                    <a:lstStyle/>
                    <a:p>
                      <a:pPr marL="0" indent="0" algn="l">
                        <a:buNone/>
                      </a:pPr>
                      <a:r>
                        <a:rPr lang="en-US" sz="1200" b="1" dirty="0">
                          <a:solidFill>
                            <a:srgbClr val="FFFFFF"/>
                          </a:solidFill>
                        </a:rPr>
                        <a:t>Eligible</a:t>
                      </a:r>
                      <a:endParaRPr lang="en-US" sz="12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310896">
                <a:tc>
                  <a:txBody>
                    <a:bodyPr/>
                    <a:lstStyle/>
                    <a:p>
                      <a:pPr marL="0" indent="0" algn="l">
                        <a:buNone/>
                      </a:pPr>
                      <a:r>
                        <a:rPr lang="en-US" sz="1200" dirty="0">
                          <a:solidFill>
                            <a:srgbClr val="1B1F2A"/>
                          </a:solidFill>
                        </a:rPr>
                        <a:t>Strategy A, main grid</a:t>
                      </a:r>
                      <a:endParaRPr lang="en-US" sz="12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1F2A"/>
                          </a:solidFill>
                        </a:rPr>
                        <a:t>29 Jul – 12 Aug</a:t>
                      </a:r>
                      <a:endParaRPr lang="en-US" sz="12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1F2A"/>
                          </a:solidFill>
                        </a:rPr>
                        <a:t>2,850</a:t>
                      </a:r>
                      <a:endParaRPr lang="en-US" sz="12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1F2A"/>
                          </a:solidFill>
                        </a:rPr>
                        <a:t>29.5 M</a:t>
                      </a:r>
                      <a:endParaRPr lang="en-US" sz="12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1F2A"/>
                          </a:solidFill>
                        </a:rPr>
                        <a:t>2,627 (92.2%)</a:t>
                      </a:r>
                      <a:endParaRPr lang="en-US" sz="12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lgn="l">
                        <a:buNone/>
                      </a:pPr>
                      <a:r>
                        <a:rPr lang="en-US" sz="1200" dirty="0">
                          <a:solidFill>
                            <a:srgbClr val="1B1F2A"/>
                          </a:solidFill>
                        </a:rPr>
                        <a:t>Strategy B, main grid</a:t>
                      </a:r>
                      <a:endParaRPr lang="en-US" sz="12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tc>
                  <a:txBody>
                    <a:bodyPr/>
                    <a:lstStyle/>
                    <a:p>
                      <a:pPr marL="0" indent="0" algn="l">
                        <a:buNone/>
                      </a:pPr>
                      <a:r>
                        <a:rPr lang="en-US" sz="1200" dirty="0">
                          <a:solidFill>
                            <a:srgbClr val="1B1F2A"/>
                          </a:solidFill>
                        </a:rPr>
                        <a:t>7 – 12 Aug</a:t>
                      </a:r>
                      <a:endParaRPr lang="en-US" sz="12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tc>
                  <a:txBody>
                    <a:bodyPr/>
                    <a:lstStyle/>
                    <a:p>
                      <a:pPr marL="0" indent="0" algn="l">
                        <a:buNone/>
                      </a:pPr>
                      <a:r>
                        <a:rPr lang="en-US" sz="1200" dirty="0">
                          <a:solidFill>
                            <a:srgbClr val="1B1F2A"/>
                          </a:solidFill>
                        </a:rPr>
                        <a:t>2,850</a:t>
                      </a:r>
                      <a:endParaRPr lang="en-US" sz="12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tc>
                  <a:txBody>
                    <a:bodyPr/>
                    <a:lstStyle/>
                    <a:p>
                      <a:pPr marL="0" indent="0" algn="l">
                        <a:buNone/>
                      </a:pPr>
                      <a:r>
                        <a:rPr lang="en-US" sz="1200" dirty="0">
                          <a:solidFill>
                            <a:srgbClr val="1B1F2A"/>
                          </a:solidFill>
                        </a:rPr>
                        <a:t>44.3 M</a:t>
                      </a:r>
                      <a:endParaRPr lang="en-US" sz="12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tc>
                  <a:txBody>
                    <a:bodyPr/>
                    <a:lstStyle/>
                    <a:p>
                      <a:pPr marL="0" indent="0" algn="l">
                        <a:buNone/>
                      </a:pPr>
                      <a:r>
                        <a:rPr lang="en-US" sz="1200" dirty="0">
                          <a:solidFill>
                            <a:srgbClr val="1B1F2A"/>
                          </a:solidFill>
                        </a:rPr>
                        <a:t>2,723 (95.5%)</a:t>
                      </a:r>
                      <a:endParaRPr lang="en-US" sz="12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extLst>
                  <a:ext uri="{0D108BD9-81ED-4DB2-BD59-A6C34878D82A}">
                    <a16:rowId xmlns:a16="http://schemas.microsoft.com/office/drawing/2014/main" val="10002"/>
                  </a:ext>
                </a:extLst>
              </a:tr>
              <a:tr h="310896">
                <a:tc>
                  <a:txBody>
                    <a:bodyPr/>
                    <a:lstStyle/>
                    <a:p>
                      <a:pPr marL="0" indent="0" algn="l">
                        <a:buNone/>
                      </a:pPr>
                      <a:r>
                        <a:rPr lang="en-US" sz="1200" dirty="0">
                          <a:solidFill>
                            <a:srgbClr val="1B1F2A"/>
                          </a:solidFill>
                        </a:rPr>
                        <a:t>Strategy C, main grid</a:t>
                      </a:r>
                      <a:endParaRPr lang="en-US" sz="12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1F2A"/>
                          </a:solidFill>
                        </a:rPr>
                        <a:t>25 – 28 Sep</a:t>
                      </a:r>
                      <a:endParaRPr lang="en-US" sz="12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1F2A"/>
                          </a:solidFill>
                        </a:rPr>
                        <a:t>2,850</a:t>
                      </a:r>
                      <a:endParaRPr lang="en-US" sz="12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1F2A"/>
                          </a:solidFill>
                        </a:rPr>
                        <a:t>23.7 M</a:t>
                      </a:r>
                      <a:endParaRPr lang="en-US" sz="12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1F2A"/>
                          </a:solidFill>
                        </a:rPr>
                        <a:t>2,604 (91.4%)</a:t>
                      </a:r>
                      <a:endParaRPr lang="en-US" sz="12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lgn="l">
                        <a:buNone/>
                      </a:pPr>
                      <a:r>
                        <a:rPr lang="en-US" sz="1200" dirty="0">
                          <a:solidFill>
                            <a:srgbClr val="1B1F2A"/>
                          </a:solidFill>
                        </a:rPr>
                        <a:t>Spending schemes (RQ3)</a:t>
                      </a:r>
                      <a:endParaRPr lang="en-US" sz="12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tc>
                  <a:txBody>
                    <a:bodyPr/>
                    <a:lstStyle/>
                    <a:p>
                      <a:pPr marL="0" indent="0" algn="l">
                        <a:buNone/>
                      </a:pPr>
                      <a:r>
                        <a:rPr lang="en-US" sz="1200" dirty="0">
                          <a:solidFill>
                            <a:srgbClr val="1B1F2A"/>
                          </a:solidFill>
                        </a:rPr>
                        <a:t>28 – 29 Sep</a:t>
                      </a:r>
                      <a:endParaRPr lang="en-US" sz="12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tc>
                  <a:txBody>
                    <a:bodyPr/>
                    <a:lstStyle/>
                    <a:p>
                      <a:pPr marL="0" indent="0" algn="l">
                        <a:buNone/>
                      </a:pPr>
                      <a:r>
                        <a:rPr lang="en-US" sz="1200" dirty="0">
                          <a:solidFill>
                            <a:srgbClr val="1B1F2A"/>
                          </a:solidFill>
                        </a:rPr>
                        <a:t>900</a:t>
                      </a:r>
                      <a:endParaRPr lang="en-US" sz="12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tc>
                  <a:txBody>
                    <a:bodyPr/>
                    <a:lstStyle/>
                    <a:p>
                      <a:pPr marL="0" indent="0" algn="l">
                        <a:buNone/>
                      </a:pPr>
                      <a:r>
                        <a:rPr lang="en-US" sz="1200" dirty="0">
                          <a:solidFill>
                            <a:srgbClr val="1B1F2A"/>
                          </a:solidFill>
                        </a:rPr>
                        <a:t>18.4 M</a:t>
                      </a:r>
                      <a:endParaRPr lang="en-US" sz="12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tc>
                  <a:txBody>
                    <a:bodyPr/>
                    <a:lstStyle/>
                    <a:p>
                      <a:pPr marL="0" indent="0" algn="l">
                        <a:buNone/>
                      </a:pPr>
                      <a:r>
                        <a:rPr lang="en-US" sz="1200" dirty="0">
                          <a:solidFill>
                            <a:srgbClr val="1B1F2A"/>
                          </a:solidFill>
                        </a:rPr>
                        <a:t>900 (read-only)</a:t>
                      </a:r>
                      <a:endParaRPr lang="en-US" sz="12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extLst>
                  <a:ext uri="{0D108BD9-81ED-4DB2-BD59-A6C34878D82A}">
                    <a16:rowId xmlns:a16="http://schemas.microsoft.com/office/drawing/2014/main" val="10004"/>
                  </a:ext>
                </a:extLst>
              </a:tr>
            </a:tbl>
          </a:graphicData>
        </a:graphic>
      </p:graphicFrame>
      <p:sp>
        <p:nvSpPr>
          <p:cNvPr id="8" name="Caption Report Table"/>
          <p:cNvSpPr txBox="1"/>
          <p:nvPr/>
        </p:nvSpPr>
        <p:spPr>
          <a:xfrm>
            <a:off x="5029200" y="4544568"/>
            <a:ext cx="6675120" cy="274320"/>
          </a:xfrm>
          <a:prstGeom prst="rect">
            <a:avLst/>
          </a:prstGeom>
          <a:noFill/>
          <a:ln/>
        </p:spPr>
        <p:txBody>
          <a:bodyPr wrap="square" lIns="0" tIns="0" rIns="0" bIns="0" rtlCol="0" anchor="t"/>
          <a:lstStyle/>
          <a:p>
            <a:pPr marL="0" indent="0" algn="l">
              <a:buNone/>
            </a:pPr>
            <a:r>
              <a:rPr lang="en-US" sz="1100" i="1" dirty="0">
                <a:solidFill>
                  <a:srgbClr val="5C6673"/>
                </a:solidFill>
              </a:rPr>
              <a:t>Report Table 3.6 (Appendix): the collection runs</a:t>
            </a:r>
            <a:endParaRPr lang="en-US" sz="1100" dirty="0"/>
          </a:p>
        </p:txBody>
      </p:sp>
      <p:graphicFrame>
        <p:nvGraphicFramePr>
          <p:cNvPr id="21" name="Table"/>
          <p:cNvGraphicFramePr>
            <a:graphicFrameLocks noGrp="1"/>
          </p:cNvGraphicFramePr>
          <p:nvPr>
            <p:extLst>
              <p:ext uri="{D42A27DB-BD31-4B8C-83A1-F6EECF244321}">
                <p14:modId xmlns:p14="http://schemas.microsoft.com/office/powerpoint/2010/main" val="1579011935"/>
              </p:ext>
            </p:extLst>
          </p:nvPr>
        </p:nvGraphicFramePr>
        <p:xfrm>
          <a:off x="5029200" y="4709160"/>
          <a:ext cx="6675120" cy="1371600"/>
        </p:xfrm>
        <a:graphic>
          <a:graphicData uri="http://schemas.openxmlformats.org/drawingml/2006/table">
            <a:tbl>
              <a:tblPr/>
              <a:tblGrid>
                <a:gridCol w="210312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tblGrid>
              <a:tr h="274320">
                <a:tc>
                  <a:txBody>
                    <a:bodyPr/>
                    <a:lstStyle/>
                    <a:p>
                      <a:pPr marL="0" indent="0" algn="l">
                        <a:buNone/>
                      </a:pPr>
                      <a:r>
                        <a:rPr lang="en-US" sz="1200" b="1" dirty="0">
                          <a:solidFill>
                            <a:srgbClr val="FFFFFF"/>
                          </a:solidFill>
                        </a:rPr>
                        <a:t>Site</a:t>
                      </a:r>
                      <a:endParaRPr lang="en-US" sz="12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14213D"/>
                    </a:solidFill>
                  </a:tcPr>
                </a:tc>
                <a:tc>
                  <a:txBody>
                    <a:bodyPr/>
                    <a:lstStyle/>
                    <a:p>
                      <a:pPr marL="0" indent="0" algn="l">
                        <a:buNone/>
                      </a:pPr>
                      <a:r>
                        <a:rPr lang="en-US" sz="1200" b="1" dirty="0">
                          <a:solidFill>
                            <a:srgbClr val="FFFFFF"/>
                          </a:solidFill>
                        </a:rPr>
                        <a:t>Read-only</a:t>
                      </a:r>
                      <a:endParaRPr lang="en-US" sz="12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14213D"/>
                    </a:solidFill>
                  </a:tcPr>
                </a:tc>
                <a:tc>
                  <a:txBody>
                    <a:bodyPr/>
                    <a:lstStyle/>
                    <a:p>
                      <a:pPr marL="0" indent="0" algn="l">
                        <a:buNone/>
                      </a:pPr>
                      <a:r>
                        <a:rPr lang="en-US" sz="1200" b="1" dirty="0">
                          <a:solidFill>
                            <a:srgbClr val="FFFFFF"/>
                          </a:solidFill>
                        </a:rPr>
                        <a:t>Idempotent</a:t>
                      </a:r>
                      <a:endParaRPr lang="en-US" sz="12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14213D"/>
                    </a:solidFill>
                  </a:tcPr>
                </a:tc>
                <a:tc>
                  <a:txBody>
                    <a:bodyPr/>
                    <a:lstStyle/>
                    <a:p>
                      <a:pPr marL="0" indent="0" algn="l">
                        <a:buNone/>
                      </a:pPr>
                      <a:r>
                        <a:rPr lang="en-US" sz="1200" b="1" dirty="0">
                          <a:solidFill>
                            <a:srgbClr val="FFFFFF"/>
                          </a:solidFill>
                        </a:rPr>
                        <a:t>Non-idempotent</a:t>
                      </a:r>
                      <a:endParaRPr lang="en-US" sz="12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14213D"/>
                    </a:solidFill>
                  </a:tcPr>
                </a:tc>
                <a:tc>
                  <a:txBody>
                    <a:bodyPr/>
                    <a:lstStyle/>
                    <a:p>
                      <a:pPr marL="0" indent="0" algn="l">
                        <a:buNone/>
                      </a:pPr>
                      <a:r>
                        <a:rPr lang="en-US" sz="1200" b="1" dirty="0">
                          <a:solidFill>
                            <a:srgbClr val="FFFFFF"/>
                          </a:solidFill>
                        </a:rPr>
                        <a:t>Total</a:t>
                      </a:r>
                      <a:endParaRPr lang="en-US" sz="12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274320">
                <a:tc>
                  <a:txBody>
                    <a:bodyPr/>
                    <a:lstStyle/>
                    <a:p>
                      <a:pPr marL="0" indent="0" algn="l">
                        <a:buNone/>
                      </a:pPr>
                      <a:r>
                        <a:rPr lang="en-US" sz="1200" dirty="0">
                          <a:solidFill>
                            <a:srgbClr val="1B1F2A"/>
                          </a:solidFill>
                        </a:rPr>
                        <a:t>Shopping</a:t>
                      </a:r>
                      <a:endParaRPr lang="en-US" sz="12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1F2A"/>
                          </a:solidFill>
                        </a:rPr>
                        <a:t>131</a:t>
                      </a:r>
                      <a:endParaRPr lang="en-US" sz="12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1F2A"/>
                          </a:solidFill>
                        </a:rPr>
                        <a:t>21</a:t>
                      </a:r>
                      <a:endParaRPr lang="en-US" sz="12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1F2A"/>
                          </a:solidFill>
                        </a:rPr>
                        <a:t>35</a:t>
                      </a:r>
                      <a:endParaRPr lang="en-US" sz="12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1F2A"/>
                          </a:solidFill>
                        </a:rPr>
                        <a:t>187</a:t>
                      </a:r>
                      <a:endParaRPr lang="en-US" sz="12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74320">
                <a:tc>
                  <a:txBody>
                    <a:bodyPr/>
                    <a:lstStyle/>
                    <a:p>
                      <a:pPr marL="0" indent="0" algn="l">
                        <a:buNone/>
                      </a:pPr>
                      <a:r>
                        <a:rPr lang="en-US" sz="1200" dirty="0">
                          <a:solidFill>
                            <a:srgbClr val="1B1F2A"/>
                          </a:solidFill>
                        </a:rPr>
                        <a:t>Shopping admin</a:t>
                      </a:r>
                      <a:endParaRPr lang="en-US" sz="12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tc>
                  <a:txBody>
                    <a:bodyPr/>
                    <a:lstStyle/>
                    <a:p>
                      <a:pPr marL="0" indent="0" algn="l">
                        <a:buNone/>
                      </a:pPr>
                      <a:r>
                        <a:rPr lang="en-US" sz="1200" dirty="0">
                          <a:solidFill>
                            <a:srgbClr val="1B1F2A"/>
                          </a:solidFill>
                        </a:rPr>
                        <a:t>101</a:t>
                      </a:r>
                      <a:endParaRPr lang="en-US" sz="12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tc>
                  <a:txBody>
                    <a:bodyPr/>
                    <a:lstStyle/>
                    <a:p>
                      <a:pPr marL="0" indent="0" algn="l">
                        <a:buNone/>
                      </a:pPr>
                      <a:r>
                        <a:rPr lang="en-US" sz="1200" dirty="0">
                          <a:solidFill>
                            <a:srgbClr val="1B1F2A"/>
                          </a:solidFill>
                        </a:rPr>
                        <a:t>0</a:t>
                      </a:r>
                      <a:endParaRPr lang="en-US" sz="12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tc>
                  <a:txBody>
                    <a:bodyPr/>
                    <a:lstStyle/>
                    <a:p>
                      <a:pPr marL="0" indent="0" algn="l">
                        <a:buNone/>
                      </a:pPr>
                      <a:r>
                        <a:rPr lang="en-US" sz="1200" dirty="0">
                          <a:solidFill>
                            <a:srgbClr val="1B1F2A"/>
                          </a:solidFill>
                        </a:rPr>
                        <a:t>81</a:t>
                      </a:r>
                      <a:endParaRPr lang="en-US" sz="12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tc>
                  <a:txBody>
                    <a:bodyPr/>
                    <a:lstStyle/>
                    <a:p>
                      <a:pPr marL="0" indent="0" algn="l">
                        <a:buNone/>
                      </a:pPr>
                      <a:r>
                        <a:rPr lang="en-US" sz="1200" dirty="0">
                          <a:solidFill>
                            <a:srgbClr val="1B1F2A"/>
                          </a:solidFill>
                        </a:rPr>
                        <a:t>182</a:t>
                      </a:r>
                      <a:endParaRPr lang="en-US" sz="12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extLst>
                  <a:ext uri="{0D108BD9-81ED-4DB2-BD59-A6C34878D82A}">
                    <a16:rowId xmlns:a16="http://schemas.microsoft.com/office/drawing/2014/main" val="10002"/>
                  </a:ext>
                </a:extLst>
              </a:tr>
              <a:tr h="274320">
                <a:tc>
                  <a:txBody>
                    <a:bodyPr/>
                    <a:lstStyle/>
                    <a:p>
                      <a:pPr marL="0" indent="0" algn="l">
                        <a:buNone/>
                      </a:pPr>
                      <a:r>
                        <a:rPr lang="en-US" sz="1200" dirty="0">
                          <a:solidFill>
                            <a:srgbClr val="1B1F2A"/>
                          </a:solidFill>
                        </a:rPr>
                        <a:t>Forum</a:t>
                      </a:r>
                      <a:endParaRPr lang="en-US" sz="12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1F2A"/>
                          </a:solidFill>
                        </a:rPr>
                        <a:t>11</a:t>
                      </a:r>
                      <a:endParaRPr lang="en-US" sz="12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1F2A"/>
                          </a:solidFill>
                        </a:rPr>
                        <a:t>15</a:t>
                      </a:r>
                      <a:endParaRPr lang="en-US" sz="12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1F2A"/>
                          </a:solidFill>
                        </a:rPr>
                        <a:t>80</a:t>
                      </a:r>
                      <a:endParaRPr lang="en-US" sz="12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1F2A"/>
                          </a:solidFill>
                        </a:rPr>
                        <a:t>106</a:t>
                      </a:r>
                      <a:endParaRPr lang="en-US" sz="12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74320">
                <a:tc>
                  <a:txBody>
                    <a:bodyPr/>
                    <a:lstStyle/>
                    <a:p>
                      <a:pPr marL="0" indent="0" algn="l">
                        <a:buNone/>
                      </a:pPr>
                      <a:r>
                        <a:rPr lang="en-US" sz="1200" b="1" dirty="0">
                          <a:solidFill>
                            <a:srgbClr val="1B1F2A"/>
                          </a:solidFill>
                        </a:rPr>
                        <a:t>Total</a:t>
                      </a:r>
                      <a:endParaRPr lang="en-US" sz="12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tc>
                  <a:txBody>
                    <a:bodyPr/>
                    <a:lstStyle/>
                    <a:p>
                      <a:pPr marL="0" indent="0" algn="l">
                        <a:buNone/>
                      </a:pPr>
                      <a:r>
                        <a:rPr lang="en-US" sz="1200" b="1" dirty="0">
                          <a:solidFill>
                            <a:srgbClr val="1B1F2A"/>
                          </a:solidFill>
                        </a:rPr>
                        <a:t>243 (51%)</a:t>
                      </a:r>
                      <a:endParaRPr lang="en-US" sz="12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tc>
                  <a:txBody>
                    <a:bodyPr/>
                    <a:lstStyle/>
                    <a:p>
                      <a:pPr marL="0" indent="0" algn="l">
                        <a:buNone/>
                      </a:pPr>
                      <a:r>
                        <a:rPr lang="en-US" sz="1200" b="1" dirty="0">
                          <a:solidFill>
                            <a:srgbClr val="1B1F2A"/>
                          </a:solidFill>
                        </a:rPr>
                        <a:t>36 (8%)</a:t>
                      </a:r>
                      <a:endParaRPr lang="en-US" sz="12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tc>
                  <a:txBody>
                    <a:bodyPr/>
                    <a:lstStyle/>
                    <a:p>
                      <a:pPr marL="0" indent="0" algn="l">
                        <a:buNone/>
                      </a:pPr>
                      <a:r>
                        <a:rPr lang="en-US" sz="1200" b="1" dirty="0">
                          <a:solidFill>
                            <a:srgbClr val="1B1F2A"/>
                          </a:solidFill>
                        </a:rPr>
                        <a:t>196 (41%)</a:t>
                      </a:r>
                      <a:endParaRPr lang="en-US" sz="12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tc>
                  <a:txBody>
                    <a:bodyPr/>
                    <a:lstStyle/>
                    <a:p>
                      <a:pPr marL="0" indent="0" algn="l">
                        <a:buNone/>
                      </a:pPr>
                      <a:r>
                        <a:rPr lang="en-US" sz="1200" b="1" dirty="0">
                          <a:solidFill>
                            <a:srgbClr val="1B1F2A"/>
                          </a:solidFill>
                        </a:rPr>
                        <a:t>475</a:t>
                      </a:r>
                      <a:endParaRPr lang="en-US" sz="12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extLst>
                  <a:ext uri="{0D108BD9-81ED-4DB2-BD59-A6C34878D82A}">
                    <a16:rowId xmlns:a16="http://schemas.microsoft.com/office/drawing/2014/main" val="10004"/>
                  </a:ext>
                </a:extLst>
              </a:tr>
            </a:tbl>
          </a:graphicData>
        </a:graphic>
      </p:graphicFrame>
      <p:sp>
        <p:nvSpPr>
          <p:cNvPr id="10" name="Caption Report Table"/>
          <p:cNvSpPr txBox="1"/>
          <p:nvPr/>
        </p:nvSpPr>
        <p:spPr>
          <a:xfrm>
            <a:off x="5029200" y="6190488"/>
            <a:ext cx="6675120" cy="274320"/>
          </a:xfrm>
          <a:prstGeom prst="rect">
            <a:avLst/>
          </a:prstGeom>
          <a:noFill/>
          <a:ln/>
        </p:spPr>
        <p:txBody>
          <a:bodyPr wrap="square" lIns="0" tIns="0" rIns="0" bIns="0" rtlCol="0" anchor="t"/>
          <a:lstStyle/>
          <a:p>
            <a:pPr marL="0" indent="0" algn="l">
              <a:buNone/>
            </a:pPr>
            <a:r>
              <a:rPr lang="en-US" sz="1100" i="1" dirty="0">
                <a:solidFill>
                  <a:srgbClr val="5C6673"/>
                </a:solidFill>
              </a:rPr>
              <a:t>Report Table 3.7 (Appendix): contamination-risk level by site</a:t>
            </a:r>
            <a:endParaRPr lang="en-US" sz="1100" dirty="0"/>
          </a:p>
        </p:txBody>
      </p:sp>
      <p:sp>
        <p:nvSpPr>
          <p:cNvPr id="25" name="Slide Number Placeholder 0"/>
          <p:cNvSpPr>
            <a:spLocks noGrp="1"/>
          </p:cNvSpPr>
          <p:nvPr>
            <p:ph type="sldNum" sz="quarter" idx="4294967295"/>
          </p:nvPr>
        </p:nvSpPr>
        <p:spPr>
          <a:xfrm>
            <a:off x="1124712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673"/>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11247120" cy="777240"/>
          </a:xfrm>
          <a:prstGeom prst="rect">
            <a:avLst/>
          </a:prstGeom>
          <a:noFill/>
          <a:ln/>
        </p:spPr>
        <p:txBody>
          <a:bodyPr wrap="square" lIns="0" tIns="0" rIns="0" bIns="0" rtlCol="0" anchor="ctr"/>
          <a:lstStyle/>
          <a:p>
            <a:pPr marL="0" indent="0" algn="l">
              <a:buNone/>
            </a:pPr>
            <a:r>
              <a:rPr lang="en-US" sz="3000" b="1" dirty="0">
                <a:solidFill>
                  <a:schemeClr val="tx2"/>
                </a:solidFill>
              </a:rPr>
              <a:t>Difficulty labels independent of how the agents fared</a:t>
            </a:r>
            <a:endParaRPr lang="en-US" sz="3000" dirty="0"/>
          </a:p>
        </p:txBody>
      </p:sp>
      <p:sp>
        <p:nvSpPr>
          <p:cNvPr id="3" name="Heading Rubric (Report Table 3.8)"/>
          <p:cNvSpPr txBox="1"/>
          <p:nvPr/>
        </p:nvSpPr>
        <p:spPr>
          <a:xfrm>
            <a:off x="457200" y="1143000"/>
            <a:ext cx="5212080" cy="365760"/>
          </a:xfrm>
          <a:prstGeom prst="rect">
            <a:avLst/>
          </a:prstGeom>
          <a:noFill/>
          <a:ln/>
        </p:spPr>
        <p:txBody>
          <a:bodyPr wrap="square" lIns="0" tIns="0" rIns="0" bIns="0" rtlCol="0" anchor="ctr"/>
          <a:lstStyle/>
          <a:p>
            <a:pPr marL="0" indent="0" algn="l">
              <a:buNone/>
            </a:pPr>
            <a:r>
              <a:rPr lang="en-US" sz="1600" b="1" dirty="0">
                <a:solidFill>
                  <a:srgbClr val="14213D"/>
                </a:solidFill>
              </a:rPr>
              <a:t>Rubric (Report Table 3.8)</a:t>
            </a:r>
            <a:endParaRPr lang="en-US" sz="1600" dirty="0"/>
          </a:p>
        </p:txBody>
      </p:sp>
      <p:sp>
        <p:nvSpPr>
          <p:cNvPr id="4" name="Bullets"/>
          <p:cNvSpPr txBox="1"/>
          <p:nvPr/>
        </p:nvSpPr>
        <p:spPr>
          <a:xfrm>
            <a:off x="457200" y="1554480"/>
            <a:ext cx="5212080" cy="2651760"/>
          </a:xfrm>
          <a:prstGeom prst="rect">
            <a:avLst/>
          </a:prstGeom>
          <a:noFill/>
          <a:ln/>
        </p:spPr>
        <p:txBody>
          <a:bodyPr wrap="square" lIns="0" tIns="0" rIns="0" bIns="0" rtlCol="0" anchor="t"/>
          <a:lstStyle/>
          <a:p>
            <a:pPr marL="177800" indent="-177800" algn="l">
              <a:spcAft>
                <a:spcPts val="700"/>
              </a:spcAft>
              <a:buSzPct val="100000"/>
              <a:buChar char="•"/>
            </a:pPr>
            <a:r>
              <a:rPr lang="en-US" sz="1400" dirty="0">
                <a:solidFill>
                  <a:srgbClr val="1B1F2A"/>
                </a:solidFill>
              </a:rPr>
              <a:t>Four dimensions scored 0 to 2: pages to traverse, retrieval type, interaction, target locatability</a:t>
            </a:r>
            <a:endParaRPr lang="en-US" sz="1400" dirty="0"/>
          </a:p>
          <a:p>
            <a:pPr marL="177800" indent="-177800" algn="l">
              <a:spcAft>
                <a:spcPts val="700"/>
              </a:spcAft>
              <a:buSzPct val="100000"/>
              <a:buChar char="•"/>
            </a:pPr>
            <a:r>
              <a:rPr lang="en-US" sz="1400" dirty="0">
                <a:solidFill>
                  <a:srgbClr val="1B1F2A"/>
                </a:solidFill>
              </a:rPr>
              <a:t>Total 0 to 8 banded into Easy (0–2), Medium (3–5), Hard (6–8)</a:t>
            </a:r>
            <a:endParaRPr lang="en-US" sz="1400" dirty="0"/>
          </a:p>
          <a:p>
            <a:pPr marL="177800" indent="-177800" algn="l">
              <a:spcAft>
                <a:spcPts val="700"/>
              </a:spcAft>
              <a:buSzPct val="100000"/>
              <a:buChar char="•"/>
            </a:pPr>
            <a:r>
              <a:rPr lang="en-US" sz="1400" dirty="0">
                <a:solidFill>
                  <a:srgbClr val="1B1F2A"/>
                </a:solidFill>
              </a:rPr>
              <a:t>Scored by an LLM annotator (GPT-5 mini, typed output) from the task's intent and evaluation criteria; template siblings harmonised</a:t>
            </a:r>
            <a:endParaRPr lang="en-US" sz="1400" dirty="0"/>
          </a:p>
          <a:p>
            <a:pPr marL="177800" indent="-177800" algn="l">
              <a:spcAft>
                <a:spcPts val="700"/>
              </a:spcAft>
              <a:buSzPct val="100000"/>
              <a:buChar char="•"/>
            </a:pPr>
            <a:r>
              <a:rPr lang="en-US" sz="1400" dirty="0">
                <a:solidFill>
                  <a:srgbClr val="1B1F2A"/>
                </a:solidFill>
              </a:rPr>
              <a:t>Validated against 50 hand-labelled tasks: 20 shown as exemplars, 30 held out</a:t>
            </a:r>
            <a:endParaRPr lang="en-US" sz="1400" dirty="0"/>
          </a:p>
        </p:txBody>
      </p:sp>
      <p:sp>
        <p:nvSpPr>
          <p:cNvPr id="5" name="Stat 156"/>
          <p:cNvSpPr txBox="1"/>
          <p:nvPr/>
        </p:nvSpPr>
        <p:spPr>
          <a:xfrm>
            <a:off x="457200" y="4023360"/>
            <a:ext cx="1554480" cy="822960"/>
          </a:xfrm>
          <a:prstGeom prst="rect">
            <a:avLst/>
          </a:prstGeom>
          <a:noFill/>
          <a:ln/>
        </p:spPr>
        <p:txBody>
          <a:bodyPr wrap="square" lIns="0" tIns="0" rIns="0" bIns="0" rtlCol="0" anchor="b"/>
          <a:lstStyle/>
          <a:p>
            <a:pPr marL="0" indent="0" algn="l">
              <a:buNone/>
            </a:pPr>
            <a:r>
              <a:rPr lang="en-US" sz="3400" b="1" dirty="0">
                <a:solidFill>
                  <a:srgbClr val="2CA02C"/>
                </a:solidFill>
                <a:latin typeface="Cambria" pitchFamily="34" charset="0"/>
                <a:ea typeface="Cambria" pitchFamily="34" charset="-122"/>
                <a:cs typeface="Cambria" pitchFamily="34" charset="-120"/>
              </a:rPr>
              <a:t>156</a:t>
            </a:r>
            <a:endParaRPr lang="en-US" sz="3400" dirty="0"/>
          </a:p>
        </p:txBody>
      </p:sp>
      <p:sp>
        <p:nvSpPr>
          <p:cNvPr id="6" name="Stat label 156"/>
          <p:cNvSpPr txBox="1"/>
          <p:nvPr/>
        </p:nvSpPr>
        <p:spPr>
          <a:xfrm>
            <a:off x="457200" y="4864608"/>
            <a:ext cx="1554480" cy="685800"/>
          </a:xfrm>
          <a:prstGeom prst="rect">
            <a:avLst/>
          </a:prstGeom>
          <a:noFill/>
          <a:ln/>
        </p:spPr>
        <p:txBody>
          <a:bodyPr wrap="square" lIns="0" tIns="0" rIns="0" bIns="0" rtlCol="0" anchor="t"/>
          <a:lstStyle/>
          <a:p>
            <a:pPr marL="0" indent="0" algn="l">
              <a:buNone/>
            </a:pPr>
            <a:r>
              <a:rPr lang="en-US" sz="1300" dirty="0">
                <a:solidFill>
                  <a:srgbClr val="5C6673"/>
                </a:solidFill>
              </a:rPr>
              <a:t>Easy tasks (33%)</a:t>
            </a:r>
            <a:endParaRPr lang="en-US" sz="1300" dirty="0"/>
          </a:p>
        </p:txBody>
      </p:sp>
      <p:sp>
        <p:nvSpPr>
          <p:cNvPr id="7" name="Stat 250"/>
          <p:cNvSpPr txBox="1"/>
          <p:nvPr/>
        </p:nvSpPr>
        <p:spPr>
          <a:xfrm>
            <a:off x="2194560" y="4023360"/>
            <a:ext cx="1554480" cy="822960"/>
          </a:xfrm>
          <a:prstGeom prst="rect">
            <a:avLst/>
          </a:prstGeom>
          <a:noFill/>
          <a:ln/>
        </p:spPr>
        <p:txBody>
          <a:bodyPr wrap="square" lIns="0" tIns="0" rIns="0" bIns="0" rtlCol="0" anchor="b"/>
          <a:lstStyle/>
          <a:p>
            <a:pPr marL="0" indent="0" algn="l">
              <a:buNone/>
            </a:pPr>
            <a:r>
              <a:rPr lang="en-US" sz="3400" b="1" dirty="0">
                <a:solidFill>
                  <a:srgbClr val="FCA311"/>
                </a:solidFill>
                <a:latin typeface="Cambria" pitchFamily="34" charset="0"/>
                <a:ea typeface="Cambria" pitchFamily="34" charset="-122"/>
                <a:cs typeface="Cambria" pitchFamily="34" charset="-120"/>
              </a:rPr>
              <a:t>250</a:t>
            </a:r>
            <a:endParaRPr lang="en-US" sz="3400" dirty="0"/>
          </a:p>
        </p:txBody>
      </p:sp>
      <p:sp>
        <p:nvSpPr>
          <p:cNvPr id="8" name="Stat label 250"/>
          <p:cNvSpPr txBox="1"/>
          <p:nvPr/>
        </p:nvSpPr>
        <p:spPr>
          <a:xfrm>
            <a:off x="2194560" y="4864608"/>
            <a:ext cx="1554480" cy="685800"/>
          </a:xfrm>
          <a:prstGeom prst="rect">
            <a:avLst/>
          </a:prstGeom>
          <a:noFill/>
          <a:ln/>
        </p:spPr>
        <p:txBody>
          <a:bodyPr wrap="square" lIns="0" tIns="0" rIns="0" bIns="0" rtlCol="0" anchor="t"/>
          <a:lstStyle/>
          <a:p>
            <a:pPr marL="0" indent="0" algn="l">
              <a:buNone/>
            </a:pPr>
            <a:r>
              <a:rPr lang="en-US" sz="1300" dirty="0">
                <a:solidFill>
                  <a:srgbClr val="5C6673"/>
                </a:solidFill>
              </a:rPr>
              <a:t>Medium tasks (53%)</a:t>
            </a:r>
            <a:endParaRPr lang="en-US" sz="1300" dirty="0"/>
          </a:p>
        </p:txBody>
      </p:sp>
      <p:sp>
        <p:nvSpPr>
          <p:cNvPr id="9" name="Stat 69"/>
          <p:cNvSpPr txBox="1"/>
          <p:nvPr/>
        </p:nvSpPr>
        <p:spPr>
          <a:xfrm>
            <a:off x="3931920" y="4023360"/>
            <a:ext cx="1554480" cy="822960"/>
          </a:xfrm>
          <a:prstGeom prst="rect">
            <a:avLst/>
          </a:prstGeom>
          <a:noFill/>
          <a:ln/>
        </p:spPr>
        <p:txBody>
          <a:bodyPr wrap="square" lIns="0" tIns="0" rIns="0" bIns="0" rtlCol="0" anchor="b"/>
          <a:lstStyle/>
          <a:p>
            <a:pPr marL="0" indent="0" algn="l">
              <a:buNone/>
            </a:pPr>
            <a:r>
              <a:rPr lang="en-US" sz="3400" b="1" dirty="0">
                <a:solidFill>
                  <a:srgbClr val="FF7F0E"/>
                </a:solidFill>
                <a:latin typeface="Cambria" pitchFamily="34" charset="0"/>
                <a:ea typeface="Cambria" pitchFamily="34" charset="-122"/>
                <a:cs typeface="Cambria" pitchFamily="34" charset="-120"/>
              </a:rPr>
              <a:t>69</a:t>
            </a:r>
            <a:endParaRPr lang="en-US" sz="3400" dirty="0"/>
          </a:p>
        </p:txBody>
      </p:sp>
      <p:sp>
        <p:nvSpPr>
          <p:cNvPr id="10" name="Stat label 69"/>
          <p:cNvSpPr txBox="1"/>
          <p:nvPr/>
        </p:nvSpPr>
        <p:spPr>
          <a:xfrm>
            <a:off x="3931920" y="4864608"/>
            <a:ext cx="1554480" cy="685800"/>
          </a:xfrm>
          <a:prstGeom prst="rect">
            <a:avLst/>
          </a:prstGeom>
          <a:noFill/>
          <a:ln/>
        </p:spPr>
        <p:txBody>
          <a:bodyPr wrap="square" lIns="0" tIns="0" rIns="0" bIns="0" rtlCol="0" anchor="t"/>
          <a:lstStyle/>
          <a:p>
            <a:pPr marL="0" indent="0" algn="l">
              <a:buNone/>
            </a:pPr>
            <a:r>
              <a:rPr lang="en-US" sz="1300" dirty="0">
                <a:solidFill>
                  <a:srgbClr val="5C6673"/>
                </a:solidFill>
              </a:rPr>
              <a:t>Hard tasks (15%)</a:t>
            </a:r>
            <a:endParaRPr lang="en-US" sz="1300" dirty="0"/>
          </a:p>
        </p:txBody>
      </p:sp>
      <p:graphicFrame>
        <p:nvGraphicFramePr>
          <p:cNvPr id="12" name="Table"/>
          <p:cNvGraphicFramePr>
            <a:graphicFrameLocks noGrp="1"/>
          </p:cNvGraphicFramePr>
          <p:nvPr>
            <p:extLst>
              <p:ext uri="{D42A27DB-BD31-4B8C-83A1-F6EECF244321}">
                <p14:modId xmlns:p14="http://schemas.microsoft.com/office/powerpoint/2010/main" val="1579011935"/>
              </p:ext>
            </p:extLst>
          </p:nvPr>
        </p:nvGraphicFramePr>
        <p:xfrm>
          <a:off x="6035040" y="1143000"/>
          <a:ext cx="5715000" cy="1920240"/>
        </p:xfrm>
        <a:graphic>
          <a:graphicData uri="http://schemas.openxmlformats.org/drawingml/2006/table">
            <a:tbl>
              <a:tblPr/>
              <a:tblGrid>
                <a:gridCol w="205740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tblGrid>
              <a:tr h="274320">
                <a:tc>
                  <a:txBody>
                    <a:bodyPr/>
                    <a:lstStyle/>
                    <a:p>
                      <a:pPr marL="0" indent="0" algn="l">
                        <a:buNone/>
                      </a:pPr>
                      <a:r>
                        <a:rPr lang="en-US" sz="1200" b="1" dirty="0">
                          <a:solidFill>
                            <a:srgbClr val="FFFFFF"/>
                          </a:solidFill>
                        </a:rPr>
                        <a:t>Measure</a:t>
                      </a:r>
                      <a:endParaRPr lang="en-US" sz="12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14213D"/>
                    </a:solidFill>
                  </a:tcPr>
                </a:tc>
                <a:tc>
                  <a:txBody>
                    <a:bodyPr/>
                    <a:lstStyle/>
                    <a:p>
                      <a:pPr marL="0" indent="0" algn="l">
                        <a:buNone/>
                      </a:pPr>
                      <a:r>
                        <a:rPr lang="en-US" sz="1200" b="1" dirty="0">
                          <a:solidFill>
                            <a:srgbClr val="FFFFFF"/>
                          </a:solidFill>
                        </a:rPr>
                        <a:t>Held out (n = 30)</a:t>
                      </a:r>
                      <a:endParaRPr lang="en-US" sz="12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14213D"/>
                    </a:solidFill>
                  </a:tcPr>
                </a:tc>
                <a:tc>
                  <a:txBody>
                    <a:bodyPr/>
                    <a:lstStyle/>
                    <a:p>
                      <a:pPr marL="0" indent="0" algn="l">
                        <a:buNone/>
                      </a:pPr>
                      <a:r>
                        <a:rPr lang="en-US" sz="1200" b="1" dirty="0">
                          <a:solidFill>
                            <a:srgbClr val="FFFFFF"/>
                          </a:solidFill>
                        </a:rPr>
                        <a:t>Exemplars (n = 20)</a:t>
                      </a:r>
                      <a:endParaRPr lang="en-US" sz="12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14213D"/>
                    </a:solidFill>
                  </a:tcPr>
                </a:tc>
                <a:tc>
                  <a:txBody>
                    <a:bodyPr/>
                    <a:lstStyle/>
                    <a:p>
                      <a:pPr marL="0" indent="0" algn="l">
                        <a:buNone/>
                      </a:pPr>
                      <a:r>
                        <a:rPr lang="en-US" sz="1200" b="1" dirty="0">
                          <a:solidFill>
                            <a:srgbClr val="FFFFFF"/>
                          </a:solidFill>
                        </a:rPr>
                        <a:t>All (n = 50)</a:t>
                      </a:r>
                      <a:endParaRPr lang="en-US" sz="12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274320">
                <a:tc>
                  <a:txBody>
                    <a:bodyPr/>
                    <a:lstStyle/>
                    <a:p>
                      <a:pPr marL="0" indent="0" algn="l">
                        <a:buNone/>
                      </a:pPr>
                      <a:r>
                        <a:rPr lang="en-US" sz="1200" dirty="0">
                          <a:solidFill>
                            <a:srgbClr val="1B1F2A"/>
                          </a:solidFill>
                        </a:rPr>
                        <a:t>Pages to traverse</a:t>
                      </a:r>
                      <a:endParaRPr lang="en-US" sz="12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1F2A"/>
                          </a:solidFill>
                        </a:rPr>
                        <a:t>0.43</a:t>
                      </a:r>
                      <a:endParaRPr lang="en-US" sz="12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1F2A"/>
                          </a:solidFill>
                        </a:rPr>
                        <a:t>0.79</a:t>
                      </a:r>
                      <a:endParaRPr lang="en-US" sz="12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1F2A"/>
                          </a:solidFill>
                        </a:rPr>
                        <a:t>0.64</a:t>
                      </a:r>
                      <a:endParaRPr lang="en-US" sz="12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74320">
                <a:tc>
                  <a:txBody>
                    <a:bodyPr/>
                    <a:lstStyle/>
                    <a:p>
                      <a:pPr marL="0" indent="0" algn="l">
                        <a:buNone/>
                      </a:pPr>
                      <a:r>
                        <a:rPr lang="en-US" sz="1200" dirty="0">
                          <a:solidFill>
                            <a:srgbClr val="1B1F2A"/>
                          </a:solidFill>
                        </a:rPr>
                        <a:t>Retrieval type</a:t>
                      </a:r>
                      <a:endParaRPr lang="en-US" sz="12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tc>
                  <a:txBody>
                    <a:bodyPr/>
                    <a:lstStyle/>
                    <a:p>
                      <a:pPr marL="0" indent="0" algn="l">
                        <a:buNone/>
                      </a:pPr>
                      <a:r>
                        <a:rPr lang="en-US" sz="1200" dirty="0">
                          <a:solidFill>
                            <a:srgbClr val="1B1F2A"/>
                          </a:solidFill>
                        </a:rPr>
                        <a:t>0.60</a:t>
                      </a:r>
                      <a:endParaRPr lang="en-US" sz="12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tc>
                  <a:txBody>
                    <a:bodyPr/>
                    <a:lstStyle/>
                    <a:p>
                      <a:pPr marL="0" indent="0" algn="l">
                        <a:buNone/>
                      </a:pPr>
                      <a:r>
                        <a:rPr lang="en-US" sz="1200" dirty="0">
                          <a:solidFill>
                            <a:srgbClr val="1B1F2A"/>
                          </a:solidFill>
                        </a:rPr>
                        <a:t>0.88</a:t>
                      </a:r>
                      <a:endParaRPr lang="en-US" sz="12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tc>
                  <a:txBody>
                    <a:bodyPr/>
                    <a:lstStyle/>
                    <a:p>
                      <a:pPr marL="0" indent="0" algn="l">
                        <a:buNone/>
                      </a:pPr>
                      <a:r>
                        <a:rPr lang="en-US" sz="1200" dirty="0">
                          <a:solidFill>
                            <a:srgbClr val="1B1F2A"/>
                          </a:solidFill>
                        </a:rPr>
                        <a:t>0.77</a:t>
                      </a:r>
                      <a:endParaRPr lang="en-US" sz="12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extLst>
                  <a:ext uri="{0D108BD9-81ED-4DB2-BD59-A6C34878D82A}">
                    <a16:rowId xmlns:a16="http://schemas.microsoft.com/office/drawing/2014/main" val="10002"/>
                  </a:ext>
                </a:extLst>
              </a:tr>
              <a:tr h="274320">
                <a:tc>
                  <a:txBody>
                    <a:bodyPr/>
                    <a:lstStyle/>
                    <a:p>
                      <a:pPr marL="0" indent="0" algn="l">
                        <a:buNone/>
                      </a:pPr>
                      <a:r>
                        <a:rPr lang="en-US" sz="1200" dirty="0">
                          <a:solidFill>
                            <a:srgbClr val="1B1F2A"/>
                          </a:solidFill>
                        </a:rPr>
                        <a:t>Interaction</a:t>
                      </a:r>
                      <a:endParaRPr lang="en-US" sz="12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1F2A"/>
                          </a:solidFill>
                        </a:rPr>
                        <a:t>0.74</a:t>
                      </a:r>
                      <a:endParaRPr lang="en-US" sz="12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1F2A"/>
                          </a:solidFill>
                        </a:rPr>
                        <a:t>0.85</a:t>
                      </a:r>
                      <a:endParaRPr lang="en-US" sz="12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1F2A"/>
                          </a:solidFill>
                        </a:rPr>
                        <a:t>0.80</a:t>
                      </a:r>
                      <a:endParaRPr lang="en-US" sz="12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74320">
                <a:tc>
                  <a:txBody>
                    <a:bodyPr/>
                    <a:lstStyle/>
                    <a:p>
                      <a:pPr marL="0" indent="0" algn="l">
                        <a:buNone/>
                      </a:pPr>
                      <a:r>
                        <a:rPr lang="en-US" sz="1200" dirty="0">
                          <a:solidFill>
                            <a:srgbClr val="1B1F2A"/>
                          </a:solidFill>
                        </a:rPr>
                        <a:t>Target locatability</a:t>
                      </a:r>
                      <a:endParaRPr lang="en-US" sz="12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tc>
                  <a:txBody>
                    <a:bodyPr/>
                    <a:lstStyle/>
                    <a:p>
                      <a:pPr marL="0" indent="0" algn="l">
                        <a:buNone/>
                      </a:pPr>
                      <a:r>
                        <a:rPr lang="en-US" sz="1200" dirty="0">
                          <a:solidFill>
                            <a:srgbClr val="1B1F2A"/>
                          </a:solidFill>
                        </a:rPr>
                        <a:t>0.76</a:t>
                      </a:r>
                      <a:endParaRPr lang="en-US" sz="12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tc>
                  <a:txBody>
                    <a:bodyPr/>
                    <a:lstStyle/>
                    <a:p>
                      <a:pPr marL="0" indent="0" algn="l">
                        <a:buNone/>
                      </a:pPr>
                      <a:r>
                        <a:rPr lang="en-US" sz="1200" dirty="0">
                          <a:solidFill>
                            <a:srgbClr val="1B1F2A"/>
                          </a:solidFill>
                        </a:rPr>
                        <a:t>0.93</a:t>
                      </a:r>
                      <a:endParaRPr lang="en-US" sz="12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tc>
                  <a:txBody>
                    <a:bodyPr/>
                    <a:lstStyle/>
                    <a:p>
                      <a:pPr marL="0" indent="0" algn="l">
                        <a:buNone/>
                      </a:pPr>
                      <a:r>
                        <a:rPr lang="en-US" sz="1200" dirty="0">
                          <a:solidFill>
                            <a:srgbClr val="1B1F2A"/>
                          </a:solidFill>
                        </a:rPr>
                        <a:t>0.85</a:t>
                      </a:r>
                      <a:endParaRPr lang="en-US" sz="12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extLst>
                  <a:ext uri="{0D108BD9-81ED-4DB2-BD59-A6C34878D82A}">
                    <a16:rowId xmlns:a16="http://schemas.microsoft.com/office/drawing/2014/main" val="10004"/>
                  </a:ext>
                </a:extLst>
              </a:tr>
              <a:tr h="274320">
                <a:tc>
                  <a:txBody>
                    <a:bodyPr/>
                    <a:lstStyle/>
                    <a:p>
                      <a:pPr marL="0" indent="0" algn="l">
                        <a:buNone/>
                      </a:pPr>
                      <a:r>
                        <a:rPr lang="en-US" sz="1200" b="1" dirty="0">
                          <a:solidFill>
                            <a:srgbClr val="1B1F2A"/>
                          </a:solidFill>
                        </a:rPr>
                        <a:t>Mean of four dimensions</a:t>
                      </a:r>
                      <a:endParaRPr lang="en-US" sz="12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tc>
                  <a:txBody>
                    <a:bodyPr/>
                    <a:lstStyle/>
                    <a:p>
                      <a:pPr marL="0" indent="0" algn="l">
                        <a:buNone/>
                      </a:pPr>
                      <a:r>
                        <a:rPr lang="en-US" sz="1200" b="1" dirty="0">
                          <a:solidFill>
                            <a:srgbClr val="1B1F2A"/>
                          </a:solidFill>
                        </a:rPr>
                        <a:t>0.63</a:t>
                      </a:r>
                      <a:endParaRPr lang="en-US" sz="12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tc>
                  <a:txBody>
                    <a:bodyPr/>
                    <a:lstStyle/>
                    <a:p>
                      <a:pPr marL="0" indent="0" algn="l">
                        <a:buNone/>
                      </a:pPr>
                      <a:r>
                        <a:rPr lang="en-US" sz="1200" b="1" dirty="0">
                          <a:solidFill>
                            <a:srgbClr val="1B1F2A"/>
                          </a:solidFill>
                        </a:rPr>
                        <a:t>0.87</a:t>
                      </a:r>
                      <a:endParaRPr lang="en-US" sz="12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tc>
                  <a:txBody>
                    <a:bodyPr/>
                    <a:lstStyle/>
                    <a:p>
                      <a:pPr marL="0" indent="0" algn="l">
                        <a:buNone/>
                      </a:pPr>
                      <a:r>
                        <a:rPr lang="en-US" sz="1200" b="1" dirty="0">
                          <a:solidFill>
                            <a:srgbClr val="1B1F2A"/>
                          </a:solidFill>
                        </a:rPr>
                        <a:t>0.76</a:t>
                      </a:r>
                      <a:endParaRPr lang="en-US" sz="12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74320">
                <a:tc>
                  <a:txBody>
                    <a:bodyPr/>
                    <a:lstStyle/>
                    <a:p>
                      <a:pPr marL="0" indent="0" algn="l">
                        <a:buNone/>
                      </a:pPr>
                      <a:r>
                        <a:rPr lang="en-US" sz="1200" dirty="0">
                          <a:solidFill>
                            <a:srgbClr val="1B1F2A"/>
                          </a:solidFill>
                        </a:rPr>
                        <a:t>Tier agreement (exact)</a:t>
                      </a:r>
                      <a:endParaRPr lang="en-US" sz="12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tc>
                  <a:txBody>
                    <a:bodyPr/>
                    <a:lstStyle/>
                    <a:p>
                      <a:pPr marL="0" indent="0" algn="l">
                        <a:buNone/>
                      </a:pPr>
                      <a:r>
                        <a:rPr lang="en-US" sz="1200" dirty="0">
                          <a:solidFill>
                            <a:srgbClr val="1B1F2A"/>
                          </a:solidFill>
                        </a:rPr>
                        <a:t>67%</a:t>
                      </a:r>
                      <a:endParaRPr lang="en-US" sz="12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tc>
                  <a:txBody>
                    <a:bodyPr/>
                    <a:lstStyle/>
                    <a:p>
                      <a:pPr marL="0" indent="0" algn="l">
                        <a:buNone/>
                      </a:pPr>
                      <a:r>
                        <a:rPr lang="en-US" sz="1200" dirty="0">
                          <a:solidFill>
                            <a:srgbClr val="1B1F2A"/>
                          </a:solidFill>
                        </a:rPr>
                        <a:t>90%</a:t>
                      </a:r>
                      <a:endParaRPr lang="en-US" sz="12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tc>
                  <a:txBody>
                    <a:bodyPr/>
                    <a:lstStyle/>
                    <a:p>
                      <a:pPr marL="0" indent="0" algn="l">
                        <a:buNone/>
                      </a:pPr>
                      <a:r>
                        <a:rPr lang="en-US" sz="1200" dirty="0">
                          <a:solidFill>
                            <a:srgbClr val="1B1F2A"/>
                          </a:solidFill>
                        </a:rPr>
                        <a:t>76%</a:t>
                      </a:r>
                      <a:endParaRPr lang="en-US" sz="12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extLst>
                  <a:ext uri="{0D108BD9-81ED-4DB2-BD59-A6C34878D82A}">
                    <a16:rowId xmlns:a16="http://schemas.microsoft.com/office/drawing/2014/main" val="10006"/>
                  </a:ext>
                </a:extLst>
              </a:tr>
            </a:tbl>
          </a:graphicData>
        </a:graphic>
      </p:graphicFrame>
      <p:sp>
        <p:nvSpPr>
          <p:cNvPr id="11" name="Caption Report Table"/>
          <p:cNvSpPr txBox="1"/>
          <p:nvPr/>
        </p:nvSpPr>
        <p:spPr>
          <a:xfrm>
            <a:off x="6035040" y="3172968"/>
            <a:ext cx="5715000" cy="274320"/>
          </a:xfrm>
          <a:prstGeom prst="rect">
            <a:avLst/>
          </a:prstGeom>
          <a:noFill/>
          <a:ln/>
        </p:spPr>
        <p:txBody>
          <a:bodyPr wrap="square" lIns="0" tIns="0" rIns="0" bIns="0" rtlCol="0" anchor="t"/>
          <a:lstStyle/>
          <a:p>
            <a:pPr marL="0" indent="0" algn="l">
              <a:buNone/>
            </a:pPr>
            <a:r>
              <a:rPr lang="en-US" sz="1100" i="1" dirty="0">
                <a:solidFill>
                  <a:srgbClr val="5C6673"/>
                </a:solidFill>
              </a:rPr>
              <a:t>Report Table 3.9 (Appendix): agreement between hand labels and the LLM annotator</a:t>
            </a:r>
            <a:endParaRPr lang="en-US" sz="1100" dirty="0"/>
          </a:p>
        </p:txBody>
      </p:sp>
      <p:pic>
        <p:nvPicPr>
          <p:cNvPr id="13" name="Report Figure 3.4" descr="/tmp/claude-0/-home-claude/3b9ca3d8-d8cd-59f1-9b80-73904a5c6e11/scratchpad/r23/word/media/image5.png"/>
          <p:cNvPicPr>
            <a:picLocks noChangeAspect="1"/>
          </p:cNvPicPr>
          <p:nvPr/>
        </p:nvPicPr>
        <p:blipFill>
          <a:blip r:embed="rId3"/>
          <a:stretch>
            <a:fillRect/>
          </a:stretch>
        </p:blipFill>
        <p:spPr>
          <a:xfrm>
            <a:off x="6035040" y="3850566"/>
            <a:ext cx="5715000" cy="1625747"/>
          </a:xfrm>
          <a:prstGeom prst="rect">
            <a:avLst/>
          </a:prstGeom>
        </p:spPr>
      </p:pic>
      <p:sp>
        <p:nvSpPr>
          <p:cNvPr id="14" name="Caption Figure 3.4"/>
          <p:cNvSpPr txBox="1"/>
          <p:nvPr/>
        </p:nvSpPr>
        <p:spPr>
          <a:xfrm>
            <a:off x="6035040" y="5779008"/>
            <a:ext cx="5715000" cy="301752"/>
          </a:xfrm>
          <a:prstGeom prst="rect">
            <a:avLst/>
          </a:prstGeom>
          <a:noFill/>
          <a:ln/>
        </p:spPr>
        <p:txBody>
          <a:bodyPr wrap="square" lIns="0" tIns="0" rIns="0" bIns="0" rtlCol="0" anchor="t"/>
          <a:lstStyle/>
          <a:p>
            <a:pPr marL="0" indent="0" algn="ctr">
              <a:buNone/>
            </a:pPr>
            <a:r>
              <a:rPr lang="en-US" sz="1100" i="1" dirty="0">
                <a:solidFill>
                  <a:srgbClr val="5C6673"/>
                </a:solidFill>
              </a:rPr>
              <a:t>Report Figure 3.4: difficulty tier by site</a:t>
            </a:r>
            <a:endParaRPr lang="en-US" sz="1100" dirty="0"/>
          </a:p>
        </p:txBody>
      </p:sp>
      <p:sp>
        <p:nvSpPr>
          <p:cNvPr id="25" name="Slide Number Placeholder 0"/>
          <p:cNvSpPr>
            <a:spLocks noGrp="1"/>
          </p:cNvSpPr>
          <p:nvPr>
            <p:ph type="sldNum" sz="quarter" idx="4294967295"/>
          </p:nvPr>
        </p:nvSpPr>
        <p:spPr>
          <a:xfrm>
            <a:off x="1124712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673"/>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377440"/>
            <a:ext cx="10698480" cy="1280160"/>
          </a:xfrm>
          <a:prstGeom prst="rect">
            <a:avLst/>
          </a:prstGeom>
          <a:noFill/>
          <a:ln/>
        </p:spPr>
        <p:txBody>
          <a:bodyPr wrap="square" lIns="0" tIns="0" rIns="0" bIns="0" rtlCol="0" anchor="ctr"/>
          <a:lstStyle/>
          <a:p>
            <a:pPr marL="0" indent="0" algn="l">
              <a:buNone/>
            </a:pPr>
            <a:r>
              <a:rPr lang="en-US" sz="4000" b="1" dirty="0">
                <a:solidFill>
                  <a:schemeClr val="bg1"/>
                </a:solidFill>
              </a:rPr>
              <a:t>Demonstration</a:t>
            </a:r>
            <a:endParaRPr lang="en-US" sz="4000" dirty="0"/>
          </a:p>
        </p:txBody>
      </p:sp>
      <p:sp>
        <p:nvSpPr>
          <p:cNvPr id="3" name="Text 0"/>
          <p:cNvSpPr>
            <a:spLocks noGrp="1"/>
          </p:cNvSpPr>
          <p:nvPr>
            <p:ph type="body" idx="101" hasCustomPrompt="1"/>
          </p:nvPr>
        </p:nvSpPr>
        <p:spPr>
          <a:xfrm>
            <a:off x="731520" y="3749040"/>
            <a:ext cx="10698480" cy="1097280"/>
          </a:xfrm>
          <a:prstGeom prst="rect">
            <a:avLst/>
          </a:prstGeom>
          <a:noFill/>
          <a:ln/>
        </p:spPr>
        <p:txBody>
          <a:bodyPr wrap="square" lIns="0" tIns="0" rIns="0" bIns="0" rtlCol="0" anchor="t"/>
          <a:lstStyle/>
          <a:p>
            <a:pPr marL="0" indent="0" algn="l">
              <a:buNone/>
            </a:pPr>
            <a:r>
              <a:rPr lang="en-US" sz="1800" dirty="0">
                <a:solidFill>
                  <a:schemeClr val="bg2"/>
                </a:solidFill>
              </a:rPr>
              <a:t>The software running </a:t>
            </a:r>
            <a:r>
              <a:rPr lang="en-US" dirty="0"/>
              <a:t>|</a:t>
            </a:r>
            <a:r>
              <a:rPr lang="en-US" sz="1800" dirty="0">
                <a:solidFill>
                  <a:schemeClr val="bg2"/>
                </a:solidFill>
              </a:rPr>
              <a:t> An episode record </a:t>
            </a:r>
            <a:r>
              <a:rPr lang="en-US" dirty="0"/>
              <a:t>|</a:t>
            </a:r>
            <a:r>
              <a:rPr lang="en-US" sz="1800" dirty="0">
                <a:solidFill>
                  <a:schemeClr val="bg2"/>
                </a:solidFill>
              </a:rPr>
              <a:t> Analysis Output | Code walkthrough</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11247120" cy="777240"/>
          </a:xfrm>
          <a:prstGeom prst="rect">
            <a:avLst/>
          </a:prstGeom>
          <a:noFill/>
          <a:ln/>
        </p:spPr>
        <p:txBody>
          <a:bodyPr wrap="square" lIns="0" tIns="0" rIns="0" bIns="0" rtlCol="0" anchor="ctr"/>
          <a:lstStyle/>
          <a:p>
            <a:pPr marL="0" indent="0" algn="l">
              <a:buNone/>
            </a:pPr>
            <a:r>
              <a:rPr lang="en-US" sz="3000" b="1" dirty="0">
                <a:solidFill>
                  <a:schemeClr val="tx2"/>
                </a:solidFill>
              </a:rPr>
              <a:t>On screen: an episode, its record and the analysis</a:t>
            </a:r>
            <a:endParaRPr lang="en-US" sz="3000" dirty="0"/>
          </a:p>
        </p:txBody>
      </p:sp>
      <p:sp>
        <p:nvSpPr>
          <p:cNvPr id="3" name="Card"/>
          <p:cNvSpPr/>
          <p:nvPr/>
        </p:nvSpPr>
        <p:spPr>
          <a:xfrm>
            <a:off x="457200" y="1188720"/>
            <a:ext cx="3611880" cy="3931920"/>
          </a:xfrm>
          <a:prstGeom prst="roundRect">
            <a:avLst>
              <a:gd name="adj" fmla="val 3038"/>
            </a:avLst>
          </a:prstGeom>
          <a:solidFill>
            <a:srgbClr val="EEF1F6"/>
          </a:solidFill>
          <a:ln w="12700">
            <a:solidFill>
              <a:srgbClr val="EEF1F6"/>
            </a:solidFill>
            <a:prstDash val="solid"/>
          </a:ln>
        </p:spPr>
        <p:txBody>
          <a:bodyPr/>
          <a:lstStyle/>
          <a:p>
            <a:endParaRPr lang="en-GB"/>
          </a:p>
        </p:txBody>
      </p:sp>
      <p:sp>
        <p:nvSpPr>
          <p:cNvPr id="4" name="Badge 1"/>
          <p:cNvSpPr/>
          <p:nvPr/>
        </p:nvSpPr>
        <p:spPr>
          <a:xfrm>
            <a:off x="685800" y="1417320"/>
            <a:ext cx="548640" cy="548640"/>
          </a:xfrm>
          <a:prstGeom prst="ellipse">
            <a:avLst/>
          </a:prstGeom>
          <a:solidFill>
            <a:srgbClr val="14213D"/>
          </a:solidFill>
          <a:ln w="12700">
            <a:solidFill>
              <a:srgbClr val="14213D"/>
            </a:solidFill>
            <a:prstDash val="solid"/>
          </a:ln>
        </p:spPr>
        <p:txBody>
          <a:bodyPr/>
          <a:lstStyle/>
          <a:p>
            <a:endParaRPr lang="en-GB"/>
          </a:p>
        </p:txBody>
      </p:sp>
      <p:sp>
        <p:nvSpPr>
          <p:cNvPr id="5" name="Badge label 1"/>
          <p:cNvSpPr txBox="1"/>
          <p:nvPr/>
        </p:nvSpPr>
        <p:spPr>
          <a:xfrm>
            <a:off x="685800" y="141732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rPr>
              <a:t>1</a:t>
            </a:r>
            <a:endParaRPr lang="en-US" sz="2000" dirty="0"/>
          </a:p>
        </p:txBody>
      </p:sp>
      <p:sp>
        <p:nvSpPr>
          <p:cNvPr id="6" name="Demo title 1"/>
          <p:cNvSpPr txBox="1"/>
          <p:nvPr/>
        </p:nvSpPr>
        <p:spPr>
          <a:xfrm>
            <a:off x="1371600" y="1417320"/>
            <a:ext cx="2514600" cy="548640"/>
          </a:xfrm>
          <a:prstGeom prst="rect">
            <a:avLst/>
          </a:prstGeom>
          <a:noFill/>
          <a:ln/>
        </p:spPr>
        <p:txBody>
          <a:bodyPr wrap="square" lIns="0" tIns="0" rIns="0" bIns="0" rtlCol="0" anchor="ctr"/>
          <a:lstStyle/>
          <a:p>
            <a:pPr marL="0" indent="0" algn="l">
              <a:buNone/>
            </a:pPr>
            <a:r>
              <a:rPr lang="en-US" sz="1600" b="1" dirty="0">
                <a:solidFill>
                  <a:srgbClr val="14213D"/>
                </a:solidFill>
              </a:rPr>
              <a:t>Run one episode</a:t>
            </a:r>
            <a:endParaRPr lang="en-US" sz="1600" dirty="0"/>
          </a:p>
        </p:txBody>
      </p:sp>
      <p:sp>
        <p:nvSpPr>
          <p:cNvPr id="7" name="Demo cmd box 1"/>
          <p:cNvSpPr/>
          <p:nvPr/>
        </p:nvSpPr>
        <p:spPr>
          <a:xfrm>
            <a:off x="685800" y="2103120"/>
            <a:ext cx="3154680" cy="457200"/>
          </a:xfrm>
          <a:prstGeom prst="roundRect">
            <a:avLst>
              <a:gd name="adj" fmla="val 12000"/>
            </a:avLst>
          </a:prstGeom>
          <a:solidFill>
            <a:srgbClr val="1E2535"/>
          </a:solidFill>
          <a:ln w="12700">
            <a:solidFill>
              <a:srgbClr val="1E2535"/>
            </a:solidFill>
            <a:prstDash val="solid"/>
          </a:ln>
        </p:spPr>
        <p:txBody>
          <a:bodyPr/>
          <a:lstStyle/>
          <a:p>
            <a:endParaRPr lang="en-GB"/>
          </a:p>
        </p:txBody>
      </p:sp>
      <p:sp>
        <p:nvSpPr>
          <p:cNvPr id="8" name="Demo cmd 1"/>
          <p:cNvSpPr txBox="1"/>
          <p:nvPr/>
        </p:nvSpPr>
        <p:spPr>
          <a:xfrm>
            <a:off x="685800" y="2103120"/>
            <a:ext cx="3154680" cy="457200"/>
          </a:xfrm>
          <a:prstGeom prst="rect">
            <a:avLst/>
          </a:prstGeom>
          <a:noFill/>
          <a:ln/>
        </p:spPr>
        <p:txBody>
          <a:bodyPr wrap="square" lIns="0" tIns="0" rIns="0" bIns="0" rtlCol="0" anchor="ctr"/>
          <a:lstStyle/>
          <a:p>
            <a:pPr marL="0" indent="0" algn="l">
              <a:buNone/>
            </a:pPr>
            <a:r>
              <a:rPr lang="en-US" sz="1050" dirty="0">
                <a:solidFill>
                  <a:srgbClr val="E6EAF2"/>
                </a:solidFill>
                <a:latin typeface="Courier New" pitchFamily="34" charset="0"/>
                <a:ea typeface="Courier New" pitchFamily="34" charset="-122"/>
                <a:cs typeface="Courier New" pitchFamily="34" charset="-120"/>
              </a:rPr>
              <a:t>python strategy_a.py --budget 16000 276</a:t>
            </a:r>
            <a:endParaRPr lang="en-US" sz="1050" dirty="0"/>
          </a:p>
        </p:txBody>
      </p:sp>
      <p:sp>
        <p:nvSpPr>
          <p:cNvPr id="9" name="Demo bullets 1"/>
          <p:cNvSpPr txBox="1"/>
          <p:nvPr/>
        </p:nvSpPr>
        <p:spPr>
          <a:xfrm>
            <a:off x="685800" y="2743200"/>
            <a:ext cx="3154680" cy="2194560"/>
          </a:xfrm>
          <a:prstGeom prst="rect">
            <a:avLst/>
          </a:prstGeom>
          <a:noFill/>
          <a:ln/>
        </p:spPr>
        <p:txBody>
          <a:bodyPr wrap="square" lIns="0" tIns="0" rIns="0" bIns="0" rtlCol="0" anchor="t"/>
          <a:lstStyle/>
          <a:p>
            <a:pPr marL="177800" indent="-177800" algn="l">
              <a:spcAft>
                <a:spcPts val="700"/>
              </a:spcAft>
              <a:buSzPct val="100000"/>
              <a:buChar char="•"/>
            </a:pPr>
            <a:r>
              <a:rPr lang="en-US" sz="1350" dirty="0">
                <a:solidFill>
                  <a:srgbClr val="1B1F2A"/>
                </a:solidFill>
              </a:rPr>
              <a:t>Terminal prints each step: reasoning, action, URL, tokens in / out and the cumulative total</a:t>
            </a:r>
            <a:endParaRPr lang="en-US" sz="1350" dirty="0"/>
          </a:p>
          <a:p>
            <a:pPr marL="177800" indent="-177800" algn="l">
              <a:spcAft>
                <a:spcPts val="700"/>
              </a:spcAft>
              <a:buSzPct val="100000"/>
              <a:buChar char="•"/>
            </a:pPr>
            <a:r>
              <a:rPr lang="en-US" sz="1350" dirty="0">
                <a:solidFill>
                  <a:srgbClr val="1B1F2A"/>
                </a:solidFill>
              </a:rPr>
              <a:t>Watch the pre-step budget check and the final termination reason</a:t>
            </a:r>
            <a:endParaRPr lang="en-US" sz="1350" dirty="0"/>
          </a:p>
          <a:p>
            <a:pPr marL="177800" indent="-177800" algn="l">
              <a:spcAft>
                <a:spcPts val="700"/>
              </a:spcAft>
              <a:buSzPct val="100000"/>
              <a:buChar char="•"/>
            </a:pPr>
            <a:r>
              <a:rPr lang="en-US" sz="1350" dirty="0">
                <a:solidFill>
                  <a:srgbClr val="1B1F2A"/>
                </a:solidFill>
              </a:rPr>
              <a:t>Same command shape for strategy_b.py and strategy_c.py</a:t>
            </a:r>
            <a:endParaRPr lang="en-US" sz="1350" dirty="0"/>
          </a:p>
        </p:txBody>
      </p:sp>
      <p:sp>
        <p:nvSpPr>
          <p:cNvPr id="10" name="Card"/>
          <p:cNvSpPr/>
          <p:nvPr/>
        </p:nvSpPr>
        <p:spPr>
          <a:xfrm>
            <a:off x="4297680" y="1188720"/>
            <a:ext cx="3611880" cy="3931920"/>
          </a:xfrm>
          <a:prstGeom prst="roundRect">
            <a:avLst>
              <a:gd name="adj" fmla="val 3038"/>
            </a:avLst>
          </a:prstGeom>
          <a:solidFill>
            <a:srgbClr val="EEF1F6"/>
          </a:solidFill>
          <a:ln w="12700">
            <a:solidFill>
              <a:srgbClr val="EEF1F6"/>
            </a:solidFill>
            <a:prstDash val="solid"/>
          </a:ln>
        </p:spPr>
        <p:txBody>
          <a:bodyPr/>
          <a:lstStyle/>
          <a:p>
            <a:endParaRPr lang="en-GB"/>
          </a:p>
        </p:txBody>
      </p:sp>
      <p:sp>
        <p:nvSpPr>
          <p:cNvPr id="11" name="Badge 2"/>
          <p:cNvSpPr/>
          <p:nvPr/>
        </p:nvSpPr>
        <p:spPr>
          <a:xfrm>
            <a:off x="4526280" y="1417320"/>
            <a:ext cx="548640" cy="548640"/>
          </a:xfrm>
          <a:prstGeom prst="ellipse">
            <a:avLst/>
          </a:prstGeom>
          <a:solidFill>
            <a:srgbClr val="14213D"/>
          </a:solidFill>
          <a:ln w="12700">
            <a:solidFill>
              <a:srgbClr val="14213D"/>
            </a:solidFill>
            <a:prstDash val="solid"/>
          </a:ln>
        </p:spPr>
        <p:txBody>
          <a:bodyPr/>
          <a:lstStyle/>
          <a:p>
            <a:endParaRPr lang="en-GB"/>
          </a:p>
        </p:txBody>
      </p:sp>
      <p:sp>
        <p:nvSpPr>
          <p:cNvPr id="12" name="Badge label 2"/>
          <p:cNvSpPr txBox="1"/>
          <p:nvPr/>
        </p:nvSpPr>
        <p:spPr>
          <a:xfrm>
            <a:off x="4526280" y="141732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rPr>
              <a:t>2</a:t>
            </a:r>
            <a:endParaRPr lang="en-US" sz="2000" dirty="0"/>
          </a:p>
        </p:txBody>
      </p:sp>
      <p:sp>
        <p:nvSpPr>
          <p:cNvPr id="13" name="Demo title 2"/>
          <p:cNvSpPr txBox="1"/>
          <p:nvPr/>
        </p:nvSpPr>
        <p:spPr>
          <a:xfrm>
            <a:off x="5212080" y="1417320"/>
            <a:ext cx="2514600" cy="548640"/>
          </a:xfrm>
          <a:prstGeom prst="rect">
            <a:avLst/>
          </a:prstGeom>
          <a:noFill/>
          <a:ln/>
        </p:spPr>
        <p:txBody>
          <a:bodyPr wrap="square" lIns="0" tIns="0" rIns="0" bIns="0" rtlCol="0" anchor="ctr"/>
          <a:lstStyle/>
          <a:p>
            <a:pPr marL="0" indent="0" algn="l">
              <a:buNone/>
            </a:pPr>
            <a:r>
              <a:rPr lang="en-US" sz="1600" b="1" dirty="0">
                <a:solidFill>
                  <a:srgbClr val="14213D"/>
                </a:solidFill>
              </a:rPr>
              <a:t>Inspect the episode record</a:t>
            </a:r>
            <a:endParaRPr lang="en-US" sz="1600" dirty="0"/>
          </a:p>
        </p:txBody>
      </p:sp>
      <p:sp>
        <p:nvSpPr>
          <p:cNvPr id="14" name="Demo cmd box 2"/>
          <p:cNvSpPr/>
          <p:nvPr/>
        </p:nvSpPr>
        <p:spPr>
          <a:xfrm>
            <a:off x="4358065" y="2103120"/>
            <a:ext cx="3483346" cy="457200"/>
          </a:xfrm>
          <a:prstGeom prst="roundRect">
            <a:avLst>
              <a:gd name="adj" fmla="val 12000"/>
            </a:avLst>
          </a:prstGeom>
          <a:solidFill>
            <a:srgbClr val="1E2535"/>
          </a:solidFill>
          <a:ln w="12700">
            <a:solidFill>
              <a:srgbClr val="1E2535"/>
            </a:solidFill>
            <a:prstDash val="solid"/>
          </a:ln>
        </p:spPr>
        <p:txBody>
          <a:bodyPr/>
          <a:lstStyle/>
          <a:p>
            <a:endParaRPr lang="en-GB"/>
          </a:p>
        </p:txBody>
      </p:sp>
      <p:sp>
        <p:nvSpPr>
          <p:cNvPr id="15" name="Demo cmd 2"/>
          <p:cNvSpPr txBox="1"/>
          <p:nvPr/>
        </p:nvSpPr>
        <p:spPr>
          <a:xfrm>
            <a:off x="4358065" y="2103120"/>
            <a:ext cx="3483345" cy="457200"/>
          </a:xfrm>
          <a:prstGeom prst="rect">
            <a:avLst/>
          </a:prstGeom>
          <a:noFill/>
          <a:ln/>
        </p:spPr>
        <p:txBody>
          <a:bodyPr wrap="square" lIns="0" tIns="0" rIns="0" bIns="0" rtlCol="0" anchor="ctr"/>
          <a:lstStyle/>
          <a:p>
            <a:pPr marL="0" indent="0" algn="l">
              <a:buNone/>
            </a:pPr>
            <a:r>
              <a:rPr lang="en-US" sz="1050" dirty="0">
                <a:solidFill>
                  <a:srgbClr val="E6EAF2"/>
                </a:solidFill>
                <a:latin typeface="Courier New" pitchFamily="34" charset="0"/>
                <a:ea typeface="Courier New" pitchFamily="34" charset="-122"/>
                <a:cs typeface="Courier New" pitchFamily="34" charset="-120"/>
              </a:rPr>
              <a:t>data/demo/</a:t>
            </a:r>
            <a:r>
              <a:rPr lang="en-US" sz="1050" dirty="0" err="1">
                <a:solidFill>
                  <a:srgbClr val="E6EAF2"/>
                </a:solidFill>
                <a:latin typeface="Courier New" pitchFamily="34" charset="0"/>
                <a:ea typeface="Courier New" pitchFamily="34" charset="-122"/>
                <a:cs typeface="Courier New" pitchFamily="34" charset="-120"/>
              </a:rPr>
              <a:t>strategy_a.jsonl</a:t>
            </a:r>
            <a:br>
              <a:rPr lang="en-US" sz="1050" dirty="0">
                <a:solidFill>
                  <a:srgbClr val="E6EAF2"/>
                </a:solidFill>
                <a:latin typeface="Courier New" pitchFamily="34" charset="0"/>
                <a:ea typeface="Courier New" pitchFamily="34" charset="-122"/>
                <a:cs typeface="Courier New" pitchFamily="34" charset="-120"/>
              </a:rPr>
            </a:br>
            <a:r>
              <a:rPr lang="en-US" sz="1050" dirty="0">
                <a:solidFill>
                  <a:srgbClr val="E6EAF2"/>
                </a:solidFill>
                <a:latin typeface="Courier New" pitchFamily="34" charset="0"/>
                <a:ea typeface="Courier New" pitchFamily="34" charset="-122"/>
                <a:cs typeface="Courier New" pitchFamily="34" charset="-120"/>
              </a:rPr>
              <a:t>data/processed/decontaminated/../</a:t>
            </a:r>
            <a:r>
              <a:rPr lang="en-US" sz="1050" dirty="0" err="1">
                <a:solidFill>
                  <a:srgbClr val="E6EAF2"/>
                </a:solidFill>
                <a:latin typeface="Courier New" pitchFamily="34" charset="0"/>
                <a:ea typeface="Courier New" pitchFamily="34" charset="-122"/>
                <a:cs typeface="Courier New" pitchFamily="34" charset="-120"/>
              </a:rPr>
              <a:t>final_episodes_a.jsonl</a:t>
            </a:r>
            <a:endParaRPr lang="en-US" sz="1050" dirty="0"/>
          </a:p>
        </p:txBody>
      </p:sp>
      <p:sp>
        <p:nvSpPr>
          <p:cNvPr id="16" name="Demo bullets 2"/>
          <p:cNvSpPr txBox="1"/>
          <p:nvPr/>
        </p:nvSpPr>
        <p:spPr>
          <a:xfrm>
            <a:off x="4526280" y="2743200"/>
            <a:ext cx="3154680" cy="2194560"/>
          </a:xfrm>
          <a:prstGeom prst="rect">
            <a:avLst/>
          </a:prstGeom>
          <a:noFill/>
          <a:ln/>
        </p:spPr>
        <p:txBody>
          <a:bodyPr wrap="square" lIns="0" tIns="0" rIns="0" bIns="0" rtlCol="0" anchor="t"/>
          <a:lstStyle/>
          <a:p>
            <a:pPr marL="177800" indent="-177800" algn="l">
              <a:spcAft>
                <a:spcPts val="700"/>
              </a:spcAft>
              <a:buSzPct val="100000"/>
              <a:buChar char="•"/>
            </a:pPr>
            <a:r>
              <a:rPr lang="en-US" sz="1350" dirty="0">
                <a:solidFill>
                  <a:srgbClr val="1B1F2A"/>
                </a:solidFill>
              </a:rPr>
              <a:t>One JSON object per episode: task, site, goal, budget, success, reason, steps, tokens</a:t>
            </a:r>
            <a:endParaRPr lang="en-US" sz="1350" dirty="0"/>
          </a:p>
          <a:p>
            <a:pPr marL="177800" indent="-177800" algn="l">
              <a:spcAft>
                <a:spcPts val="700"/>
              </a:spcAft>
              <a:buSzPct val="100000"/>
              <a:buChar char="•"/>
            </a:pPr>
            <a:r>
              <a:rPr lang="en-US" sz="1350" dirty="0">
                <a:solidFill>
                  <a:srgbClr val="1B1F2A"/>
                </a:solidFill>
              </a:rPr>
              <a:t>Per-call step log (role, action, URL, error, tokens)</a:t>
            </a:r>
            <a:endParaRPr lang="en-US" sz="1350" dirty="0"/>
          </a:p>
          <a:p>
            <a:pPr marL="177800" indent="-177800" algn="l">
              <a:spcAft>
                <a:spcPts val="700"/>
              </a:spcAft>
              <a:buSzPct val="100000"/>
              <a:buChar char="•"/>
            </a:pPr>
            <a:r>
              <a:rPr lang="en-US" sz="1350" dirty="0">
                <a:solidFill>
                  <a:srgbClr val="1B1F2A"/>
                </a:solidFill>
              </a:rPr>
              <a:t>Decontamination fields: risk level, eligibility flag, difficulty tier</a:t>
            </a:r>
            <a:endParaRPr lang="en-US" sz="1350" dirty="0"/>
          </a:p>
        </p:txBody>
      </p:sp>
      <p:sp>
        <p:nvSpPr>
          <p:cNvPr id="17" name="Card"/>
          <p:cNvSpPr/>
          <p:nvPr/>
        </p:nvSpPr>
        <p:spPr>
          <a:xfrm>
            <a:off x="8138160" y="1188720"/>
            <a:ext cx="3611880" cy="3931920"/>
          </a:xfrm>
          <a:prstGeom prst="roundRect">
            <a:avLst>
              <a:gd name="adj" fmla="val 3038"/>
            </a:avLst>
          </a:prstGeom>
          <a:solidFill>
            <a:srgbClr val="EEF1F6"/>
          </a:solidFill>
          <a:ln w="12700">
            <a:solidFill>
              <a:srgbClr val="EEF1F6"/>
            </a:solidFill>
            <a:prstDash val="solid"/>
          </a:ln>
        </p:spPr>
        <p:txBody>
          <a:bodyPr/>
          <a:lstStyle/>
          <a:p>
            <a:endParaRPr lang="en-GB"/>
          </a:p>
        </p:txBody>
      </p:sp>
      <p:sp>
        <p:nvSpPr>
          <p:cNvPr id="18" name="Badge 3"/>
          <p:cNvSpPr/>
          <p:nvPr/>
        </p:nvSpPr>
        <p:spPr>
          <a:xfrm>
            <a:off x="8366760" y="1417320"/>
            <a:ext cx="548640" cy="548640"/>
          </a:xfrm>
          <a:prstGeom prst="ellipse">
            <a:avLst/>
          </a:prstGeom>
          <a:solidFill>
            <a:srgbClr val="14213D"/>
          </a:solidFill>
          <a:ln w="12700">
            <a:solidFill>
              <a:srgbClr val="14213D"/>
            </a:solidFill>
            <a:prstDash val="solid"/>
          </a:ln>
        </p:spPr>
        <p:txBody>
          <a:bodyPr/>
          <a:lstStyle/>
          <a:p>
            <a:endParaRPr lang="en-GB"/>
          </a:p>
        </p:txBody>
      </p:sp>
      <p:sp>
        <p:nvSpPr>
          <p:cNvPr id="19" name="Badge label 3"/>
          <p:cNvSpPr txBox="1"/>
          <p:nvPr/>
        </p:nvSpPr>
        <p:spPr>
          <a:xfrm>
            <a:off x="8366760" y="141732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rPr>
              <a:t>3</a:t>
            </a:r>
            <a:endParaRPr lang="en-US" sz="2000" dirty="0"/>
          </a:p>
        </p:txBody>
      </p:sp>
      <p:sp>
        <p:nvSpPr>
          <p:cNvPr id="20" name="Demo title 3"/>
          <p:cNvSpPr txBox="1"/>
          <p:nvPr/>
        </p:nvSpPr>
        <p:spPr>
          <a:xfrm>
            <a:off x="9052560" y="1417320"/>
            <a:ext cx="2514600" cy="548640"/>
          </a:xfrm>
          <a:prstGeom prst="rect">
            <a:avLst/>
          </a:prstGeom>
          <a:noFill/>
          <a:ln/>
        </p:spPr>
        <p:txBody>
          <a:bodyPr wrap="square" lIns="0" tIns="0" rIns="0" bIns="0" rtlCol="0" anchor="ctr"/>
          <a:lstStyle/>
          <a:p>
            <a:pPr marL="0" indent="0" algn="l">
              <a:buNone/>
            </a:pPr>
            <a:r>
              <a:rPr lang="en-US" sz="1600" b="1" dirty="0">
                <a:solidFill>
                  <a:srgbClr val="14213D"/>
                </a:solidFill>
              </a:rPr>
              <a:t>Regenerate the results</a:t>
            </a:r>
            <a:endParaRPr lang="en-US" sz="1600" dirty="0"/>
          </a:p>
        </p:txBody>
      </p:sp>
      <p:sp>
        <p:nvSpPr>
          <p:cNvPr id="21" name="Demo cmd box 3"/>
          <p:cNvSpPr/>
          <p:nvPr/>
        </p:nvSpPr>
        <p:spPr>
          <a:xfrm>
            <a:off x="8366760" y="2103120"/>
            <a:ext cx="3154680" cy="457200"/>
          </a:xfrm>
          <a:prstGeom prst="roundRect">
            <a:avLst>
              <a:gd name="adj" fmla="val 12000"/>
            </a:avLst>
          </a:prstGeom>
          <a:solidFill>
            <a:srgbClr val="1E2535"/>
          </a:solidFill>
          <a:ln w="12700">
            <a:solidFill>
              <a:srgbClr val="1E2535"/>
            </a:solidFill>
            <a:prstDash val="solid"/>
          </a:ln>
        </p:spPr>
        <p:txBody>
          <a:bodyPr/>
          <a:lstStyle/>
          <a:p>
            <a:endParaRPr lang="en-GB"/>
          </a:p>
        </p:txBody>
      </p:sp>
      <p:sp>
        <p:nvSpPr>
          <p:cNvPr id="22" name="Demo cmd 3"/>
          <p:cNvSpPr txBox="1"/>
          <p:nvPr/>
        </p:nvSpPr>
        <p:spPr>
          <a:xfrm>
            <a:off x="8458200" y="2103120"/>
            <a:ext cx="2971800" cy="457200"/>
          </a:xfrm>
          <a:prstGeom prst="rect">
            <a:avLst/>
          </a:prstGeom>
          <a:noFill/>
          <a:ln/>
        </p:spPr>
        <p:txBody>
          <a:bodyPr wrap="square" lIns="0" tIns="0" rIns="0" bIns="0" rtlCol="0" anchor="ctr"/>
          <a:lstStyle/>
          <a:p>
            <a:pPr marL="0" indent="0" algn="l">
              <a:buNone/>
            </a:pPr>
            <a:r>
              <a:rPr lang="en-US" sz="1050" dirty="0">
                <a:solidFill>
                  <a:srgbClr val="E6EAF2"/>
                </a:solidFill>
                <a:latin typeface="Courier New" pitchFamily="34" charset="0"/>
                <a:ea typeface="Courier New" pitchFamily="34" charset="-122"/>
                <a:cs typeface="Courier New" pitchFamily="34" charset="-120"/>
              </a:rPr>
              <a:t>python -m batch_analysis.compare_abc --a … --b … --c …</a:t>
            </a:r>
            <a:endParaRPr lang="en-US" sz="1050" dirty="0"/>
          </a:p>
        </p:txBody>
      </p:sp>
      <p:sp>
        <p:nvSpPr>
          <p:cNvPr id="23" name="Demo bullets 3"/>
          <p:cNvSpPr txBox="1"/>
          <p:nvPr/>
        </p:nvSpPr>
        <p:spPr>
          <a:xfrm>
            <a:off x="8366760" y="2743200"/>
            <a:ext cx="3154680" cy="2194560"/>
          </a:xfrm>
          <a:prstGeom prst="rect">
            <a:avLst/>
          </a:prstGeom>
          <a:noFill/>
          <a:ln/>
        </p:spPr>
        <p:txBody>
          <a:bodyPr wrap="square" lIns="0" tIns="0" rIns="0" bIns="0" rtlCol="0" anchor="t"/>
          <a:lstStyle/>
          <a:p>
            <a:pPr marL="177800" indent="-177800" algn="l">
              <a:spcAft>
                <a:spcPts val="700"/>
              </a:spcAft>
              <a:buSzPct val="100000"/>
              <a:buChar char="•"/>
            </a:pPr>
            <a:r>
              <a:rPr lang="en-US" sz="1350" dirty="0">
                <a:solidFill>
                  <a:srgbClr val="1B1F2A"/>
                </a:solidFill>
              </a:rPr>
              <a:t>Prints the success-by-budget table, McNemar tests and tier breakdowns</a:t>
            </a:r>
            <a:endParaRPr lang="en-US" sz="1350" dirty="0"/>
          </a:p>
          <a:p>
            <a:pPr marL="177800" indent="-177800" algn="l">
              <a:spcAft>
                <a:spcPts val="700"/>
              </a:spcAft>
              <a:buSzPct val="100000"/>
              <a:buChar char="•"/>
            </a:pPr>
            <a:r>
              <a:rPr lang="en-US" sz="1350" dirty="0">
                <a:solidFill>
                  <a:srgbClr val="1B1F2A"/>
                </a:solidFill>
              </a:rPr>
              <a:t>Writes the figures used in the results chapter (cost_curve, outcome_mix, difficulty)</a:t>
            </a:r>
            <a:endParaRPr lang="en-US" sz="1350" dirty="0"/>
          </a:p>
          <a:p>
            <a:pPr marL="177800" indent="-177800" algn="l">
              <a:spcAft>
                <a:spcPts val="700"/>
              </a:spcAft>
              <a:buSzPct val="100000"/>
              <a:buChar char="•"/>
            </a:pPr>
            <a:r>
              <a:rPr lang="en-US" sz="1350" dirty="0">
                <a:solidFill>
                  <a:srgbClr val="1B1F2A"/>
                </a:solidFill>
              </a:rPr>
              <a:t>analyse_a/b/c.py and analyse_schemes.py give the per-strategy and RQ3 tables</a:t>
            </a:r>
            <a:endParaRPr lang="en-US" sz="1350" dirty="0"/>
          </a:p>
        </p:txBody>
      </p:sp>
      <p:sp>
        <p:nvSpPr>
          <p:cNvPr id="24" name="Demo note"/>
          <p:cNvSpPr txBox="1"/>
          <p:nvPr/>
        </p:nvSpPr>
        <p:spPr>
          <a:xfrm>
            <a:off x="457200" y="5349240"/>
            <a:ext cx="11247120" cy="457200"/>
          </a:xfrm>
          <a:prstGeom prst="rect">
            <a:avLst/>
          </a:prstGeom>
          <a:noFill/>
          <a:ln/>
        </p:spPr>
        <p:txBody>
          <a:bodyPr wrap="square" lIns="0" tIns="0" rIns="0" bIns="0" rtlCol="0" anchor="ctr"/>
          <a:lstStyle/>
          <a:p>
            <a:pPr marL="0" indent="0" algn="l">
              <a:buNone/>
            </a:pPr>
            <a:r>
              <a:rPr lang="en-US" sz="1300" i="1" dirty="0">
                <a:solidFill>
                  <a:srgbClr val="5C6673"/>
                </a:solidFill>
              </a:rPr>
              <a:t>Screen recording follows: terminal and editor on the AWS instance, then the analysis output on the local machine.</a:t>
            </a:r>
            <a:endParaRPr lang="en-US" sz="1300" dirty="0"/>
          </a:p>
        </p:txBody>
      </p:sp>
      <p:sp>
        <p:nvSpPr>
          <p:cNvPr id="25" name="Slide Number Placeholder 0"/>
          <p:cNvSpPr>
            <a:spLocks noGrp="1"/>
          </p:cNvSpPr>
          <p:nvPr>
            <p:ph type="sldNum" sz="quarter" idx="4294967295"/>
          </p:nvPr>
        </p:nvSpPr>
        <p:spPr>
          <a:xfrm>
            <a:off x="1124712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673"/>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11247120" cy="777240"/>
          </a:xfrm>
          <a:prstGeom prst="rect">
            <a:avLst/>
          </a:prstGeom>
          <a:noFill/>
          <a:ln/>
        </p:spPr>
        <p:txBody>
          <a:bodyPr wrap="square" lIns="0" tIns="0" rIns="0" bIns="0" rtlCol="0" anchor="ctr"/>
          <a:lstStyle/>
          <a:p>
            <a:pPr marL="0" indent="0" algn="l">
              <a:buNone/>
            </a:pPr>
            <a:r>
              <a:rPr lang="en-US" sz="3000" b="1" dirty="0">
                <a:solidFill>
                  <a:schemeClr val="tx2"/>
                </a:solidFill>
              </a:rPr>
              <a:t>Key feature 1: the pre-step budget check in strategy_a.py</a:t>
            </a:r>
            <a:endParaRPr lang="en-US" sz="3000" dirty="0"/>
          </a:p>
        </p:txBody>
      </p:sp>
      <p:sp>
        <p:nvSpPr>
          <p:cNvPr id="3" name="Code panel"/>
          <p:cNvSpPr/>
          <p:nvPr/>
        </p:nvSpPr>
        <p:spPr>
          <a:xfrm>
            <a:off x="457200" y="1143000"/>
            <a:ext cx="7315200" cy="4983480"/>
          </a:xfrm>
          <a:prstGeom prst="roundRect">
            <a:avLst>
              <a:gd name="adj" fmla="val 1468"/>
            </a:avLst>
          </a:prstGeom>
          <a:solidFill>
            <a:srgbClr val="1E2535"/>
          </a:solidFill>
          <a:ln w="12700">
            <a:solidFill>
              <a:srgbClr val="1E2535"/>
            </a:solidFill>
            <a:prstDash val="solid"/>
          </a:ln>
        </p:spPr>
        <p:txBody>
          <a:bodyPr/>
          <a:lstStyle/>
          <a:p>
            <a:endParaRPr lang="en-GB"/>
          </a:p>
        </p:txBody>
      </p:sp>
      <p:sp>
        <p:nvSpPr>
          <p:cNvPr id="4" name="Code"/>
          <p:cNvSpPr txBox="1"/>
          <p:nvPr/>
        </p:nvSpPr>
        <p:spPr>
          <a:xfrm>
            <a:off x="594360" y="1252728"/>
            <a:ext cx="7040880" cy="4764024"/>
          </a:xfrm>
          <a:prstGeom prst="rect">
            <a:avLst/>
          </a:prstGeom>
          <a:noFill/>
          <a:ln/>
        </p:spPr>
        <p:txBody>
          <a:bodyPr wrap="square" lIns="0" tIns="0" rIns="0" bIns="0" rtlCol="0" anchor="t"/>
          <a:lstStyle/>
          <a:p>
            <a:pPr marL="0" indent="0" algn="l">
              <a:lnSpc>
                <a:spcPct val="105000"/>
              </a:lnSpc>
              <a:buNone/>
            </a:pPr>
            <a:r>
              <a:rPr lang="en-US" sz="1300" dirty="0">
                <a:solidFill>
                  <a:srgbClr val="E6EAF2"/>
                </a:solidFill>
                <a:latin typeface="Courier New" pitchFamily="34" charset="0"/>
                <a:ea typeface="Courier New" pitchFamily="34" charset="-122"/>
                <a:cs typeface="Courier New" pitchFamily="34" charset="-120"/>
              </a:rPr>
              <a:t>for i in range(W.MAX_STEPS):</a:t>
            </a:r>
            <a:endParaRPr lang="en-US" sz="1300" dirty="0"/>
          </a:p>
          <a:p>
            <a:pPr marL="0" indent="0" algn="l">
              <a:lnSpc>
                <a:spcPct val="105000"/>
              </a:lnSpc>
              <a:buNone/>
            </a:pPr>
            <a:r>
              <a:rPr lang="en-US" sz="1300" dirty="0">
                <a:solidFill>
                  <a:srgbClr val="E6EAF2"/>
                </a:solidFill>
                <a:latin typeface="Courier New" pitchFamily="34" charset="0"/>
                <a:ea typeface="Courier New" pitchFamily="34" charset="-122"/>
                <a:cs typeface="Courier New" pitchFamily="34" charset="-120"/>
              </a:rPr>
              <a:t>    prompt = W.build_prompt(obs, action_history, url_history)</a:t>
            </a:r>
            <a:endParaRPr lang="en-US" sz="1300" dirty="0"/>
          </a:p>
          <a:p>
            <a:pPr marL="0" indent="0" algn="l">
              <a:lnSpc>
                <a:spcPct val="105000"/>
              </a:lnSpc>
              <a:buNone/>
            </a:pPr>
            <a:endParaRPr lang="en-US" sz="1300" dirty="0"/>
          </a:p>
          <a:p>
            <a:pPr marL="0" indent="0" algn="l">
              <a:lnSpc>
                <a:spcPct val="105000"/>
              </a:lnSpc>
              <a:buNone/>
            </a:pPr>
            <a:r>
              <a:rPr lang="en-US" sz="1300" dirty="0">
                <a:solidFill>
                  <a:srgbClr val="8C96A8"/>
                </a:solidFill>
                <a:latin typeface="Courier New" pitchFamily="34" charset="0"/>
                <a:ea typeface="Courier New" pitchFamily="34" charset="-122"/>
                <a:cs typeface="Courier New" pitchFamily="34" charset="-120"/>
              </a:rPr>
              <a:t>    # Check BEFORE paying: never exceed the stated budget.</a:t>
            </a:r>
            <a:endParaRPr lang="en-US" sz="1300" dirty="0"/>
          </a:p>
          <a:p>
            <a:pPr marL="0" indent="0" algn="l">
              <a:lnSpc>
                <a:spcPct val="105000"/>
              </a:lnSpc>
              <a:buNone/>
            </a:pPr>
            <a:r>
              <a:rPr lang="en-US" sz="1300" b="1" dirty="0">
                <a:solidFill>
                  <a:srgbClr val="FCA311"/>
                </a:solidFill>
                <a:latin typeface="Courier New" pitchFamily="34" charset="0"/>
                <a:ea typeface="Courier New" pitchFamily="34" charset="-122"/>
                <a:cs typeface="Courier New" pitchFamily="34" charset="-120"/>
              </a:rPr>
              <a:t>    spent = in_tok + out_tok</a:t>
            </a:r>
            <a:endParaRPr lang="en-US" sz="1300" dirty="0"/>
          </a:p>
          <a:p>
            <a:pPr marL="0" indent="0" algn="l">
              <a:lnSpc>
                <a:spcPct val="105000"/>
              </a:lnSpc>
              <a:buNone/>
            </a:pPr>
            <a:r>
              <a:rPr lang="en-US" sz="1300" b="1" dirty="0">
                <a:solidFill>
                  <a:srgbClr val="FCA311"/>
                </a:solidFill>
                <a:latin typeface="Courier New" pitchFamily="34" charset="0"/>
                <a:ea typeface="Courier New" pitchFamily="34" charset="-122"/>
                <a:cs typeface="Courier New" pitchFamily="34" charset="-120"/>
              </a:rPr>
              <a:t>    est_in = len(prompt) // 4            # 4 characters per token</a:t>
            </a:r>
            <a:endParaRPr lang="en-US" sz="1300" dirty="0"/>
          </a:p>
          <a:p>
            <a:pPr marL="0" indent="0" algn="l">
              <a:lnSpc>
                <a:spcPct val="105000"/>
              </a:lnSpc>
              <a:buNone/>
            </a:pPr>
            <a:r>
              <a:rPr lang="en-US" sz="1300" b="1" dirty="0">
                <a:solidFill>
                  <a:srgbClr val="FCA311"/>
                </a:solidFill>
                <a:latin typeface="Courier New" pitchFamily="34" charset="0"/>
                <a:ea typeface="Courier New" pitchFamily="34" charset="-122"/>
                <a:cs typeface="Courier New" pitchFamily="34" charset="-120"/>
              </a:rPr>
              <a:t>    if spent + est_in &gt; cap:</a:t>
            </a:r>
            <a:endParaRPr lang="en-US" sz="1300" dirty="0"/>
          </a:p>
          <a:p>
            <a:pPr marL="0" indent="0" algn="l">
              <a:lnSpc>
                <a:spcPct val="105000"/>
              </a:lnSpc>
              <a:buNone/>
            </a:pPr>
            <a:r>
              <a:rPr lang="en-US" sz="1300" b="1" dirty="0">
                <a:solidFill>
                  <a:srgbClr val="FCA311"/>
                </a:solidFill>
                <a:latin typeface="Courier New" pitchFamily="34" charset="0"/>
                <a:ea typeface="Courier New" pitchFamily="34" charset="-122"/>
                <a:cs typeface="Courier New" pitchFamily="34" charset="-120"/>
              </a:rPr>
              <a:t>        reason = "budget_would_exceed"</a:t>
            </a:r>
            <a:endParaRPr lang="en-US" sz="1300" dirty="0"/>
          </a:p>
          <a:p>
            <a:pPr marL="0" indent="0" algn="l">
              <a:lnSpc>
                <a:spcPct val="105000"/>
              </a:lnSpc>
              <a:buNone/>
            </a:pPr>
            <a:r>
              <a:rPr lang="en-US" sz="1300" b="1" dirty="0">
                <a:solidFill>
                  <a:srgbClr val="FCA311"/>
                </a:solidFill>
                <a:latin typeface="Courier New" pitchFamily="34" charset="0"/>
                <a:ea typeface="Courier New" pitchFamily="34" charset="-122"/>
                <a:cs typeface="Courier New" pitchFamily="34" charset="-120"/>
              </a:rPr>
              <a:t>        break                            # episode ends, nothing spent</a:t>
            </a:r>
            <a:endParaRPr lang="en-US" sz="1300" dirty="0"/>
          </a:p>
          <a:p>
            <a:pPr marL="0" indent="0" algn="l">
              <a:lnSpc>
                <a:spcPct val="105000"/>
              </a:lnSpc>
              <a:buNone/>
            </a:pPr>
            <a:endParaRPr lang="en-US" sz="1300" dirty="0"/>
          </a:p>
          <a:p>
            <a:pPr marL="0" indent="0" algn="l">
              <a:lnSpc>
                <a:spcPct val="105000"/>
              </a:lnSpc>
              <a:buNone/>
            </a:pPr>
            <a:r>
              <a:rPr lang="en-US" sz="1300" dirty="0">
                <a:solidFill>
                  <a:srgbClr val="E6EAF2"/>
                </a:solidFill>
                <a:latin typeface="Courier New" pitchFamily="34" charset="0"/>
                <a:ea typeface="Courier New" pitchFamily="34" charset="-122"/>
                <a:cs typeface="Courier New" pitchFamily="34" charset="-120"/>
              </a:rPr>
              <a:t>    result = W.call_agent(agent, prompt)   # one model call</a:t>
            </a:r>
            <a:endParaRPr lang="en-US" sz="1300" dirty="0"/>
          </a:p>
          <a:p>
            <a:pPr marL="0" indent="0" algn="l">
              <a:lnSpc>
                <a:spcPct val="105000"/>
              </a:lnSpc>
              <a:buNone/>
            </a:pPr>
            <a:r>
              <a:rPr lang="en-US" sz="1300" dirty="0">
                <a:solidFill>
                  <a:srgbClr val="E6EAF2"/>
                </a:solidFill>
                <a:latin typeface="Courier New" pitchFamily="34" charset="0"/>
                <a:ea typeface="Courier New" pitchFamily="34" charset="-122"/>
                <a:cs typeface="Courier New" pitchFamily="34" charset="-120"/>
              </a:rPr>
              <a:t>    u = result.usage()</a:t>
            </a:r>
            <a:endParaRPr lang="en-US" sz="1300" dirty="0"/>
          </a:p>
          <a:p>
            <a:pPr marL="0" indent="0" algn="l">
              <a:lnSpc>
                <a:spcPct val="105000"/>
              </a:lnSpc>
              <a:buNone/>
            </a:pPr>
            <a:r>
              <a:rPr lang="en-US" sz="1300" b="1" dirty="0">
                <a:solidFill>
                  <a:srgbClr val="FCA311"/>
                </a:solidFill>
                <a:latin typeface="Courier New" pitchFamily="34" charset="0"/>
                <a:ea typeface="Courier New" pitchFamily="34" charset="-122"/>
                <a:cs typeface="Courier New" pitchFamily="34" charset="-120"/>
              </a:rPr>
              <a:t>    in_tok  += u.input_tokens             # counts reported by the API</a:t>
            </a:r>
            <a:endParaRPr lang="en-US" sz="1300" dirty="0"/>
          </a:p>
          <a:p>
            <a:pPr marL="0" indent="0" algn="l">
              <a:lnSpc>
                <a:spcPct val="105000"/>
              </a:lnSpc>
              <a:buNone/>
            </a:pPr>
            <a:r>
              <a:rPr lang="en-US" sz="1300" b="1" dirty="0">
                <a:solidFill>
                  <a:srgbClr val="FCA311"/>
                </a:solidFill>
                <a:latin typeface="Courier New" pitchFamily="34" charset="0"/>
                <a:ea typeface="Courier New" pitchFamily="34" charset="-122"/>
                <a:cs typeface="Courier New" pitchFamily="34" charset="-120"/>
              </a:rPr>
              <a:t>    out_tok += u.output_tokens            # reasoning tokens included</a:t>
            </a:r>
            <a:endParaRPr lang="en-US" sz="1300" dirty="0"/>
          </a:p>
          <a:p>
            <a:pPr marL="0" indent="0" algn="l">
              <a:lnSpc>
                <a:spcPct val="105000"/>
              </a:lnSpc>
              <a:buNone/>
            </a:pPr>
            <a:r>
              <a:rPr lang="en-US" sz="1300" dirty="0">
                <a:solidFill>
                  <a:srgbClr val="E6EAF2"/>
                </a:solidFill>
                <a:latin typeface="Courier New" pitchFamily="34" charset="0"/>
                <a:ea typeface="Courier New" pitchFamily="34" charset="-122"/>
                <a:cs typeface="Courier New" pitchFamily="34" charset="-120"/>
              </a:rPr>
              <a:t>    total = in_tok + out_tok</a:t>
            </a:r>
            <a:endParaRPr lang="en-US" sz="1300" dirty="0"/>
          </a:p>
          <a:p>
            <a:pPr marL="0" indent="0" algn="l">
              <a:lnSpc>
                <a:spcPct val="105000"/>
              </a:lnSpc>
              <a:buNone/>
            </a:pPr>
            <a:r>
              <a:rPr lang="en-US" sz="1300" dirty="0">
                <a:solidFill>
                  <a:srgbClr val="E6EAF2"/>
                </a:solidFill>
                <a:latin typeface="Courier New" pitchFamily="34" charset="0"/>
                <a:ea typeface="Courier New" pitchFamily="34" charset="-122"/>
                <a:cs typeface="Courier New" pitchFamily="34" charset="-120"/>
              </a:rPr>
              <a:t>    decided = result.output              # typed: reasoning + action</a:t>
            </a:r>
            <a:endParaRPr lang="en-US" sz="1300" dirty="0"/>
          </a:p>
          <a:p>
            <a:pPr marL="0" indent="0" algn="l">
              <a:lnSpc>
                <a:spcPct val="105000"/>
              </a:lnSpc>
              <a:buNone/>
            </a:pPr>
            <a:r>
              <a:rPr lang="en-US" sz="1300" dirty="0">
                <a:solidFill>
                  <a:srgbClr val="E6EAF2"/>
                </a:solidFill>
                <a:latin typeface="Courier New" pitchFamily="34" charset="0"/>
                <a:ea typeface="Courier New" pitchFamily="34" charset="-122"/>
                <a:cs typeface="Courier New" pitchFamily="34" charset="-120"/>
              </a:rPr>
              <a:t>    action_history.append(decided.action)</a:t>
            </a:r>
            <a:endParaRPr lang="en-US" sz="1300" dirty="0"/>
          </a:p>
          <a:p>
            <a:pPr marL="0" indent="0" algn="l">
              <a:lnSpc>
                <a:spcPct val="105000"/>
              </a:lnSpc>
              <a:buNone/>
            </a:pPr>
            <a:r>
              <a:rPr lang="en-US" sz="1300" dirty="0">
                <a:solidFill>
                  <a:srgbClr val="E6EAF2"/>
                </a:solidFill>
                <a:latin typeface="Courier New" pitchFamily="34" charset="0"/>
                <a:ea typeface="Courier New" pitchFamily="34" charset="-122"/>
                <a:cs typeface="Courier New" pitchFamily="34" charset="-120"/>
              </a:rPr>
              <a:t>    ...</a:t>
            </a:r>
            <a:endParaRPr lang="en-US" sz="1300" dirty="0"/>
          </a:p>
          <a:p>
            <a:pPr marL="0" indent="0" algn="l">
              <a:lnSpc>
                <a:spcPct val="105000"/>
              </a:lnSpc>
              <a:buNone/>
            </a:pPr>
            <a:r>
              <a:rPr lang="en-US" sz="1300" dirty="0">
                <a:solidFill>
                  <a:srgbClr val="E6EAF2"/>
                </a:solidFill>
                <a:latin typeface="Courier New" pitchFamily="34" charset="0"/>
                <a:ea typeface="Courier New" pitchFamily="34" charset="-122"/>
                <a:cs typeface="Courier New" pitchFamily="34" charset="-120"/>
              </a:rPr>
              <a:t>    if total &gt;= cap:                     # post-call check</a:t>
            </a:r>
            <a:endParaRPr lang="en-US" sz="1300" dirty="0"/>
          </a:p>
          <a:p>
            <a:pPr marL="0" indent="0" algn="l">
              <a:lnSpc>
                <a:spcPct val="105000"/>
              </a:lnSpc>
              <a:buNone/>
            </a:pPr>
            <a:r>
              <a:rPr lang="en-US" sz="1300" dirty="0">
                <a:solidFill>
                  <a:srgbClr val="E6EAF2"/>
                </a:solidFill>
                <a:latin typeface="Courier New" pitchFamily="34" charset="0"/>
                <a:ea typeface="Courier New" pitchFamily="34" charset="-122"/>
                <a:cs typeface="Courier New" pitchFamily="34" charset="-120"/>
              </a:rPr>
              <a:t>        reason = "safety_token_cap"; break</a:t>
            </a:r>
            <a:endParaRPr lang="en-US" sz="1300" dirty="0"/>
          </a:p>
          <a:p>
            <a:pPr marL="0" indent="0" algn="l">
              <a:lnSpc>
                <a:spcPct val="105000"/>
              </a:lnSpc>
              <a:buNone/>
            </a:pPr>
            <a:endParaRPr lang="en-US" sz="1300" dirty="0"/>
          </a:p>
        </p:txBody>
      </p:sp>
      <p:sp>
        <p:nvSpPr>
          <p:cNvPr id="5" name="Code file label"/>
          <p:cNvSpPr txBox="1"/>
          <p:nvPr/>
        </p:nvSpPr>
        <p:spPr>
          <a:xfrm>
            <a:off x="4480560" y="5833872"/>
            <a:ext cx="3154680" cy="256032"/>
          </a:xfrm>
          <a:prstGeom prst="rect">
            <a:avLst/>
          </a:prstGeom>
          <a:noFill/>
          <a:ln/>
        </p:spPr>
        <p:txBody>
          <a:bodyPr wrap="square" lIns="0" tIns="0" rIns="0" bIns="0" rtlCol="0" anchor="ctr"/>
          <a:lstStyle/>
          <a:p>
            <a:pPr marL="0" indent="0" algn="r">
              <a:buNone/>
            </a:pPr>
            <a:r>
              <a:rPr lang="en-US" sz="1000" dirty="0">
                <a:solidFill>
                  <a:srgbClr val="8C96A8"/>
                </a:solidFill>
                <a:latin typeface="Courier New" pitchFamily="34" charset="0"/>
                <a:ea typeface="Courier New" pitchFamily="34" charset="-122"/>
                <a:cs typeface="Courier New" pitchFamily="34" charset="-120"/>
              </a:rPr>
              <a:t>src/strategy_a.py, lines 115–167</a:t>
            </a:r>
            <a:endParaRPr lang="en-US" sz="1000" dirty="0"/>
          </a:p>
        </p:txBody>
      </p:sp>
      <p:sp>
        <p:nvSpPr>
          <p:cNvPr id="6" name="Badge 1"/>
          <p:cNvSpPr/>
          <p:nvPr/>
        </p:nvSpPr>
        <p:spPr>
          <a:xfrm>
            <a:off x="8092440" y="1234440"/>
            <a:ext cx="384048" cy="384048"/>
          </a:xfrm>
          <a:prstGeom prst="ellipse">
            <a:avLst/>
          </a:prstGeom>
          <a:solidFill>
            <a:srgbClr val="FCA311"/>
          </a:solidFill>
          <a:ln w="12700">
            <a:solidFill>
              <a:srgbClr val="FCA311"/>
            </a:solidFill>
            <a:prstDash val="solid"/>
          </a:ln>
        </p:spPr>
        <p:txBody>
          <a:bodyPr/>
          <a:lstStyle/>
          <a:p>
            <a:endParaRPr lang="en-GB"/>
          </a:p>
        </p:txBody>
      </p:sp>
      <p:sp>
        <p:nvSpPr>
          <p:cNvPr id="7" name="Badge label 1"/>
          <p:cNvSpPr txBox="1"/>
          <p:nvPr/>
        </p:nvSpPr>
        <p:spPr>
          <a:xfrm>
            <a:off x="8092440" y="123444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rPr>
              <a:t>1</a:t>
            </a:r>
            <a:endParaRPr lang="en-US" sz="1300" dirty="0"/>
          </a:p>
        </p:txBody>
      </p:sp>
      <p:sp>
        <p:nvSpPr>
          <p:cNvPr id="8" name="Explain title 1"/>
          <p:cNvSpPr txBox="1"/>
          <p:nvPr/>
        </p:nvSpPr>
        <p:spPr>
          <a:xfrm>
            <a:off x="8595360" y="1188720"/>
            <a:ext cx="3154680" cy="320040"/>
          </a:xfrm>
          <a:prstGeom prst="rect">
            <a:avLst/>
          </a:prstGeom>
          <a:noFill/>
          <a:ln/>
        </p:spPr>
        <p:txBody>
          <a:bodyPr wrap="square" lIns="0" tIns="0" rIns="0" bIns="0" rtlCol="0" anchor="ctr"/>
          <a:lstStyle/>
          <a:p>
            <a:pPr marL="0" indent="0" algn="l">
              <a:buNone/>
            </a:pPr>
            <a:r>
              <a:rPr lang="en-US" sz="1400" b="1" dirty="0">
                <a:solidFill>
                  <a:srgbClr val="14213D"/>
                </a:solidFill>
              </a:rPr>
              <a:t>Estimate before paying</a:t>
            </a:r>
            <a:endParaRPr lang="en-US" sz="1400" dirty="0"/>
          </a:p>
        </p:txBody>
      </p:sp>
      <p:sp>
        <p:nvSpPr>
          <p:cNvPr id="9" name="Explain body 1"/>
          <p:cNvSpPr txBox="1"/>
          <p:nvPr/>
        </p:nvSpPr>
        <p:spPr>
          <a:xfrm>
            <a:off x="8595360" y="1536192"/>
            <a:ext cx="3154680" cy="1188720"/>
          </a:xfrm>
          <a:prstGeom prst="rect">
            <a:avLst/>
          </a:prstGeom>
          <a:noFill/>
          <a:ln/>
        </p:spPr>
        <p:txBody>
          <a:bodyPr wrap="square" lIns="0" tIns="0" rIns="0" bIns="0" rtlCol="0" anchor="t"/>
          <a:lstStyle/>
          <a:p>
            <a:pPr marL="0" indent="0" algn="l">
              <a:buNone/>
            </a:pPr>
            <a:r>
              <a:rPr lang="en-US" sz="1150" dirty="0">
                <a:solidFill>
                  <a:srgbClr val="1B1F2A"/>
                </a:solidFill>
              </a:rPr>
              <a:t>Equation 3.1 with k = 1: the prompt about to be sent is measured in characters and divided by four. Nothing is charged until the step is known to fit.</a:t>
            </a:r>
            <a:endParaRPr lang="en-US" sz="1150" dirty="0"/>
          </a:p>
        </p:txBody>
      </p:sp>
      <p:sp>
        <p:nvSpPr>
          <p:cNvPr id="10" name="Badge 2"/>
          <p:cNvSpPr/>
          <p:nvPr/>
        </p:nvSpPr>
        <p:spPr>
          <a:xfrm>
            <a:off x="8092440" y="2880360"/>
            <a:ext cx="384048" cy="384048"/>
          </a:xfrm>
          <a:prstGeom prst="ellipse">
            <a:avLst/>
          </a:prstGeom>
          <a:solidFill>
            <a:srgbClr val="FCA311"/>
          </a:solidFill>
          <a:ln w="12700">
            <a:solidFill>
              <a:srgbClr val="FCA311"/>
            </a:solidFill>
            <a:prstDash val="solid"/>
          </a:ln>
        </p:spPr>
        <p:txBody>
          <a:bodyPr/>
          <a:lstStyle/>
          <a:p>
            <a:endParaRPr lang="en-GB"/>
          </a:p>
        </p:txBody>
      </p:sp>
      <p:sp>
        <p:nvSpPr>
          <p:cNvPr id="11" name="Badge label 2"/>
          <p:cNvSpPr txBox="1"/>
          <p:nvPr/>
        </p:nvSpPr>
        <p:spPr>
          <a:xfrm>
            <a:off x="8092440" y="288036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rPr>
              <a:t>2</a:t>
            </a:r>
            <a:endParaRPr lang="en-US" sz="1300" dirty="0"/>
          </a:p>
        </p:txBody>
      </p:sp>
      <p:sp>
        <p:nvSpPr>
          <p:cNvPr id="12" name="Explain title 2"/>
          <p:cNvSpPr txBox="1"/>
          <p:nvPr/>
        </p:nvSpPr>
        <p:spPr>
          <a:xfrm>
            <a:off x="8595360" y="2834640"/>
            <a:ext cx="3154680" cy="320040"/>
          </a:xfrm>
          <a:prstGeom prst="rect">
            <a:avLst/>
          </a:prstGeom>
          <a:noFill/>
          <a:ln/>
        </p:spPr>
        <p:txBody>
          <a:bodyPr wrap="square" lIns="0" tIns="0" rIns="0" bIns="0" rtlCol="0" anchor="ctr"/>
          <a:lstStyle/>
          <a:p>
            <a:pPr marL="0" indent="0" algn="l">
              <a:buNone/>
            </a:pPr>
            <a:r>
              <a:rPr lang="en-US" sz="1400" b="1" dirty="0">
                <a:solidFill>
                  <a:srgbClr val="14213D"/>
                </a:solidFill>
              </a:rPr>
              <a:t>Skip, do not spend</a:t>
            </a:r>
            <a:endParaRPr lang="en-US" sz="1400" dirty="0"/>
          </a:p>
        </p:txBody>
      </p:sp>
      <p:sp>
        <p:nvSpPr>
          <p:cNvPr id="13" name="Explain body 2"/>
          <p:cNvSpPr txBox="1"/>
          <p:nvPr/>
        </p:nvSpPr>
        <p:spPr>
          <a:xfrm>
            <a:off x="8595360" y="3182112"/>
            <a:ext cx="3154680" cy="1188720"/>
          </a:xfrm>
          <a:prstGeom prst="rect">
            <a:avLst/>
          </a:prstGeom>
          <a:noFill/>
          <a:ln/>
        </p:spPr>
        <p:txBody>
          <a:bodyPr wrap="square" lIns="0" tIns="0" rIns="0" bIns="0" rtlCol="0" anchor="t"/>
          <a:lstStyle/>
          <a:p>
            <a:pPr marL="0" indent="0" algn="l">
              <a:buNone/>
            </a:pPr>
            <a:r>
              <a:rPr lang="en-US" sz="1150" dirty="0">
                <a:solidFill>
                  <a:srgbClr val="1B1F2A"/>
                </a:solidFill>
              </a:rPr>
              <a:t>If the estimate would cross the cap the loop breaks with budget_would_exceed. This is why Strategy B, whose estimate includes three prompts and 2,050 instruction tokens, never starts at 2k or 4k.</a:t>
            </a:r>
            <a:endParaRPr lang="en-US" sz="1150" dirty="0"/>
          </a:p>
        </p:txBody>
      </p:sp>
      <p:sp>
        <p:nvSpPr>
          <p:cNvPr id="14" name="Badge 3"/>
          <p:cNvSpPr/>
          <p:nvPr/>
        </p:nvSpPr>
        <p:spPr>
          <a:xfrm>
            <a:off x="8092440" y="4526280"/>
            <a:ext cx="384048" cy="384048"/>
          </a:xfrm>
          <a:prstGeom prst="ellipse">
            <a:avLst/>
          </a:prstGeom>
          <a:solidFill>
            <a:srgbClr val="FCA311"/>
          </a:solidFill>
          <a:ln w="12700">
            <a:solidFill>
              <a:srgbClr val="FCA311"/>
            </a:solidFill>
            <a:prstDash val="solid"/>
          </a:ln>
        </p:spPr>
        <p:txBody>
          <a:bodyPr/>
          <a:lstStyle/>
          <a:p>
            <a:endParaRPr lang="en-GB"/>
          </a:p>
        </p:txBody>
      </p:sp>
      <p:sp>
        <p:nvSpPr>
          <p:cNvPr id="15" name="Badge label 3"/>
          <p:cNvSpPr txBox="1"/>
          <p:nvPr/>
        </p:nvSpPr>
        <p:spPr>
          <a:xfrm>
            <a:off x="8092440" y="452628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rPr>
              <a:t>3</a:t>
            </a:r>
            <a:endParaRPr lang="en-US" sz="1300" dirty="0"/>
          </a:p>
        </p:txBody>
      </p:sp>
      <p:sp>
        <p:nvSpPr>
          <p:cNvPr id="16" name="Explain title 3"/>
          <p:cNvSpPr txBox="1"/>
          <p:nvPr/>
        </p:nvSpPr>
        <p:spPr>
          <a:xfrm>
            <a:off x="8595360" y="4480560"/>
            <a:ext cx="3154680" cy="320040"/>
          </a:xfrm>
          <a:prstGeom prst="rect">
            <a:avLst/>
          </a:prstGeom>
          <a:noFill/>
          <a:ln/>
        </p:spPr>
        <p:txBody>
          <a:bodyPr wrap="square" lIns="0" tIns="0" rIns="0" bIns="0" rtlCol="0" anchor="ctr"/>
          <a:lstStyle/>
          <a:p>
            <a:pPr marL="0" indent="0" algn="l">
              <a:buNone/>
            </a:pPr>
            <a:r>
              <a:rPr lang="en-US" sz="1400" b="1" dirty="0">
                <a:solidFill>
                  <a:srgbClr val="14213D"/>
                </a:solidFill>
              </a:rPr>
              <a:t>Count what the API reports</a:t>
            </a:r>
            <a:endParaRPr lang="en-US" sz="1400" dirty="0"/>
          </a:p>
        </p:txBody>
      </p:sp>
      <p:sp>
        <p:nvSpPr>
          <p:cNvPr id="17" name="Explain body 3"/>
          <p:cNvSpPr txBox="1"/>
          <p:nvPr/>
        </p:nvSpPr>
        <p:spPr>
          <a:xfrm>
            <a:off x="8595360" y="4828032"/>
            <a:ext cx="3154680" cy="1188720"/>
          </a:xfrm>
          <a:prstGeom prst="rect">
            <a:avLst/>
          </a:prstGeom>
          <a:noFill/>
          <a:ln/>
        </p:spPr>
        <p:txBody>
          <a:bodyPr wrap="square" lIns="0" tIns="0" rIns="0" bIns="0" rtlCol="0" anchor="t"/>
          <a:lstStyle/>
          <a:p>
            <a:pPr marL="0" indent="0" algn="l">
              <a:buNone/>
            </a:pPr>
            <a:r>
              <a:rPr lang="en-US" sz="1150" dirty="0">
                <a:solidFill>
                  <a:srgbClr val="1B1F2A"/>
                </a:solidFill>
              </a:rPr>
              <a:t>Input and output tokens come from the usage object, with hidden reasoning tokens included; the post-call check bounds any overshoot to one step.</a:t>
            </a:r>
            <a:endParaRPr lang="en-US" sz="1150" dirty="0"/>
          </a:p>
        </p:txBody>
      </p:sp>
      <p:sp>
        <p:nvSpPr>
          <p:cNvPr id="25" name="Slide Number Placeholder 0"/>
          <p:cNvSpPr>
            <a:spLocks noGrp="1"/>
          </p:cNvSpPr>
          <p:nvPr>
            <p:ph type="sldNum" sz="quarter" idx="4294967295"/>
          </p:nvPr>
        </p:nvSpPr>
        <p:spPr>
          <a:xfrm>
            <a:off x="1124712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673"/>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11247120" cy="777240"/>
          </a:xfrm>
          <a:prstGeom prst="rect">
            <a:avLst/>
          </a:prstGeom>
          <a:noFill/>
          <a:ln/>
        </p:spPr>
        <p:txBody>
          <a:bodyPr wrap="square" lIns="0" tIns="0" rIns="0" bIns="0" rtlCol="0" anchor="ctr"/>
          <a:lstStyle/>
          <a:p>
            <a:pPr marL="0" indent="0" algn="l">
              <a:buNone/>
            </a:pPr>
            <a:r>
              <a:rPr lang="en-US" sz="3000" b="1" dirty="0">
                <a:solidFill>
                  <a:schemeClr val="tx2"/>
                </a:solidFill>
              </a:rPr>
              <a:t>Key feature 2: the router's two decisions in strategy_c.py</a:t>
            </a:r>
            <a:endParaRPr lang="en-US" sz="3000" dirty="0"/>
          </a:p>
        </p:txBody>
      </p:sp>
      <p:sp>
        <p:nvSpPr>
          <p:cNvPr id="3" name="Code panel"/>
          <p:cNvSpPr/>
          <p:nvPr/>
        </p:nvSpPr>
        <p:spPr>
          <a:xfrm>
            <a:off x="457200" y="1143000"/>
            <a:ext cx="7315200" cy="1371600"/>
          </a:xfrm>
          <a:prstGeom prst="roundRect">
            <a:avLst>
              <a:gd name="adj" fmla="val 5333"/>
            </a:avLst>
          </a:prstGeom>
          <a:solidFill>
            <a:srgbClr val="1E2535"/>
          </a:solidFill>
          <a:ln w="12700">
            <a:solidFill>
              <a:srgbClr val="1E2535"/>
            </a:solidFill>
            <a:prstDash val="solid"/>
          </a:ln>
        </p:spPr>
        <p:txBody>
          <a:bodyPr/>
          <a:lstStyle/>
          <a:p>
            <a:endParaRPr lang="en-GB"/>
          </a:p>
        </p:txBody>
      </p:sp>
      <p:sp>
        <p:nvSpPr>
          <p:cNvPr id="4" name="Code"/>
          <p:cNvSpPr txBox="1"/>
          <p:nvPr/>
        </p:nvSpPr>
        <p:spPr>
          <a:xfrm>
            <a:off x="594360" y="1252728"/>
            <a:ext cx="7040880" cy="1152144"/>
          </a:xfrm>
          <a:prstGeom prst="rect">
            <a:avLst/>
          </a:prstGeom>
          <a:noFill/>
          <a:ln/>
        </p:spPr>
        <p:txBody>
          <a:bodyPr wrap="square" lIns="0" tIns="0" rIns="0" bIns="0" rtlCol="0" anchor="t"/>
          <a:lstStyle/>
          <a:p>
            <a:pPr marL="0" indent="0" algn="l">
              <a:lnSpc>
                <a:spcPct val="105000"/>
              </a:lnSpc>
              <a:buNone/>
            </a:pPr>
            <a:r>
              <a:rPr lang="en-US" sz="1250" dirty="0">
                <a:solidFill>
                  <a:srgbClr val="8C96A8"/>
                </a:solidFill>
                <a:latin typeface="Courier New" pitchFamily="34" charset="0"/>
                <a:ea typeface="Courier New" pitchFamily="34" charset="-122"/>
                <a:cs typeface="Courier New" pitchFamily="34" charset="-120"/>
              </a:rPr>
              <a:t># Episode start: the mode head decides once</a:t>
            </a:r>
            <a:endParaRPr lang="en-US" sz="1250" dirty="0"/>
          </a:p>
          <a:p>
            <a:pPr marL="0" indent="0" algn="l">
              <a:lnSpc>
                <a:spcPct val="105000"/>
              </a:lnSpc>
              <a:buNone/>
            </a:pPr>
            <a:r>
              <a:rPr lang="en-US" sz="1250" dirty="0">
                <a:solidFill>
                  <a:srgbClr val="E6EAF2"/>
                </a:solidFill>
                <a:latin typeface="Courier New" pitchFamily="34" charset="0"/>
                <a:ea typeface="Courier New" pitchFamily="34" charset="-122"/>
                <a:cs typeface="Courier New" pitchFamily="34" charset="-120"/>
              </a:rPr>
              <a:t>task_row = {**tasks[task_id], "budget_level": cap}</a:t>
            </a:r>
            <a:endParaRPr lang="en-US" sz="1250" dirty="0"/>
          </a:p>
          <a:p>
            <a:pPr marL="0" indent="0" algn="l">
              <a:lnSpc>
                <a:spcPct val="105000"/>
              </a:lnSpc>
              <a:buNone/>
            </a:pPr>
            <a:r>
              <a:rPr lang="en-US" sz="1250" b="1" dirty="0">
                <a:solidFill>
                  <a:srgbClr val="FCA311"/>
                </a:solidFill>
                <a:latin typeface="Courier New" pitchFamily="34" charset="0"/>
                <a:ea typeface="Courier New" pitchFamily="34" charset="-122"/>
                <a:cs typeface="Courier New" pitchFamily="34" charset="-120"/>
              </a:rPr>
              <a:t>mode, p_cycle = router.choose_mode(task_row)</a:t>
            </a:r>
            <a:endParaRPr lang="en-US" sz="1250" dirty="0"/>
          </a:p>
          <a:p>
            <a:pPr marL="0" indent="0" algn="l">
              <a:lnSpc>
                <a:spcPct val="105000"/>
              </a:lnSpc>
              <a:buNone/>
            </a:pPr>
            <a:r>
              <a:rPr lang="en-US" sz="1250" dirty="0">
                <a:solidFill>
                  <a:srgbClr val="8C96A8"/>
                </a:solidFill>
                <a:latin typeface="Courier New" pitchFamily="34" charset="0"/>
                <a:ea typeface="Courier New" pitchFamily="34" charset="-122"/>
                <a:cs typeface="Courier New" pitchFamily="34" charset="-120"/>
              </a:rPr>
              <a:t>#   p_cycle from mode_net(task_features); "cycle" if &gt;= 0.5 else "execute"</a:t>
            </a:r>
            <a:endParaRPr lang="en-US" sz="1250" dirty="0"/>
          </a:p>
        </p:txBody>
      </p:sp>
      <p:sp>
        <p:nvSpPr>
          <p:cNvPr id="5" name="Code file label"/>
          <p:cNvSpPr txBox="1"/>
          <p:nvPr/>
        </p:nvSpPr>
        <p:spPr>
          <a:xfrm>
            <a:off x="4480560" y="2221992"/>
            <a:ext cx="3154680" cy="256032"/>
          </a:xfrm>
          <a:prstGeom prst="rect">
            <a:avLst/>
          </a:prstGeom>
          <a:noFill/>
          <a:ln/>
        </p:spPr>
        <p:txBody>
          <a:bodyPr wrap="square" lIns="0" tIns="0" rIns="0" bIns="0" rtlCol="0" anchor="ctr"/>
          <a:lstStyle/>
          <a:p>
            <a:pPr marL="0" indent="0" algn="r">
              <a:buNone/>
            </a:pPr>
            <a:r>
              <a:rPr lang="en-US" sz="1000" dirty="0">
                <a:solidFill>
                  <a:srgbClr val="8C96A8"/>
                </a:solidFill>
                <a:latin typeface="Courier New" pitchFamily="34" charset="0"/>
                <a:ea typeface="Courier New" pitchFamily="34" charset="-122"/>
                <a:cs typeface="Courier New" pitchFamily="34" charset="-120"/>
              </a:rPr>
              <a:t>src/strategy_c.py, lines 150–157</a:t>
            </a:r>
            <a:endParaRPr lang="en-US" sz="1000" dirty="0"/>
          </a:p>
        </p:txBody>
      </p:sp>
      <p:sp>
        <p:nvSpPr>
          <p:cNvPr id="6" name="Code panel"/>
          <p:cNvSpPr/>
          <p:nvPr/>
        </p:nvSpPr>
        <p:spPr>
          <a:xfrm>
            <a:off x="457200" y="2651760"/>
            <a:ext cx="7315200" cy="3474720"/>
          </a:xfrm>
          <a:prstGeom prst="roundRect">
            <a:avLst>
              <a:gd name="adj" fmla="val 2105"/>
            </a:avLst>
          </a:prstGeom>
          <a:solidFill>
            <a:srgbClr val="1E2535"/>
          </a:solidFill>
          <a:ln w="12700">
            <a:solidFill>
              <a:srgbClr val="1E2535"/>
            </a:solidFill>
            <a:prstDash val="solid"/>
          </a:ln>
        </p:spPr>
        <p:txBody>
          <a:bodyPr/>
          <a:lstStyle/>
          <a:p>
            <a:endParaRPr lang="en-GB"/>
          </a:p>
        </p:txBody>
      </p:sp>
      <p:sp>
        <p:nvSpPr>
          <p:cNvPr id="7" name="Code"/>
          <p:cNvSpPr txBox="1"/>
          <p:nvPr/>
        </p:nvSpPr>
        <p:spPr>
          <a:xfrm>
            <a:off x="594360" y="2761488"/>
            <a:ext cx="7040880" cy="3255264"/>
          </a:xfrm>
          <a:prstGeom prst="rect">
            <a:avLst/>
          </a:prstGeom>
          <a:noFill/>
          <a:ln/>
        </p:spPr>
        <p:txBody>
          <a:bodyPr wrap="square" lIns="0" tIns="0" rIns="0" bIns="0" rtlCol="0" anchor="t"/>
          <a:lstStyle/>
          <a:p>
            <a:pPr marL="0" indent="0" algn="l">
              <a:lnSpc>
                <a:spcPct val="105000"/>
              </a:lnSpc>
              <a:buNone/>
            </a:pPr>
            <a:r>
              <a:rPr lang="en-US" sz="1250" dirty="0">
                <a:solidFill>
                  <a:srgbClr val="8C96A8"/>
                </a:solidFill>
                <a:latin typeface="Courier New" pitchFamily="34" charset="0"/>
                <a:ea typeface="Courier New" pitchFamily="34" charset="-122"/>
                <a:cs typeface="Courier New" pitchFamily="34" charset="-120"/>
              </a:rPr>
              <a:t># Before every step: the stop head decides whether to continue</a:t>
            </a:r>
            <a:endParaRPr lang="en-US" sz="1250" dirty="0"/>
          </a:p>
          <a:p>
            <a:pPr marL="0" indent="0" algn="l">
              <a:lnSpc>
                <a:spcPct val="105000"/>
              </a:lnSpc>
              <a:buNone/>
            </a:pPr>
            <a:r>
              <a:rPr lang="en-US" sz="1250" dirty="0">
                <a:solidFill>
                  <a:srgbClr val="E6EAF2"/>
                </a:solidFill>
                <a:latin typeface="Courier New" pitchFamily="34" charset="0"/>
                <a:ea typeface="Courier New" pitchFamily="34" charset="-122"/>
                <a:cs typeface="Courier New" pitchFamily="34" charset="-120"/>
              </a:rPr>
              <a:t>spent = in_tok + out_tok</a:t>
            </a:r>
            <a:endParaRPr lang="en-US" sz="1250" dirty="0"/>
          </a:p>
          <a:p>
            <a:pPr marL="0" indent="0" algn="l">
              <a:lnSpc>
                <a:spcPct val="105000"/>
              </a:lnSpc>
              <a:buNone/>
            </a:pPr>
            <a:r>
              <a:rPr lang="en-US" sz="1250" dirty="0">
                <a:solidFill>
                  <a:srgbClr val="E6EAF2"/>
                </a:solidFill>
                <a:latin typeface="Courier New" pitchFamily="34" charset="0"/>
                <a:ea typeface="Courier New" pitchFamily="34" charset="-122"/>
                <a:cs typeface="Courier New" pitchFamily="34" charset="-120"/>
              </a:rPr>
              <a:t>state = {**task_row, "step_index": i,</a:t>
            </a:r>
            <a:endParaRPr lang="en-US" sz="1250" dirty="0"/>
          </a:p>
          <a:p>
            <a:pPr marL="0" indent="0" algn="l">
              <a:lnSpc>
                <a:spcPct val="105000"/>
              </a:lnSpc>
              <a:buNone/>
            </a:pPr>
            <a:r>
              <a:rPr lang="en-US" sz="1250" b="1" dirty="0">
                <a:solidFill>
                  <a:srgbClr val="FCA311"/>
                </a:solidFill>
                <a:latin typeface="Courier New" pitchFamily="34" charset="0"/>
                <a:ea typeface="Courier New" pitchFamily="34" charset="-122"/>
                <a:cs typeface="Courier New" pitchFamily="34" charset="-120"/>
              </a:rPr>
              <a:t>         "budget_remaining_frac": 1 - spent / cap,</a:t>
            </a:r>
            <a:endParaRPr lang="en-US" sz="1250" dirty="0"/>
          </a:p>
          <a:p>
            <a:pPr marL="0" indent="0" algn="l">
              <a:lnSpc>
                <a:spcPct val="105000"/>
              </a:lnSpc>
              <a:buNone/>
            </a:pPr>
            <a:r>
              <a:rPr lang="en-US" sz="1250" b="1" dirty="0">
                <a:solidFill>
                  <a:srgbClr val="FCA311"/>
                </a:solidFill>
                <a:latin typeface="Courier New" pitchFamily="34" charset="0"/>
                <a:ea typeface="Courier New" pitchFamily="34" charset="-122"/>
                <a:cs typeface="Courier New" pitchFamily="34" charset="-120"/>
              </a:rPr>
              <a:t>         "last_error": int(last_error),</a:t>
            </a:r>
            <a:endParaRPr lang="en-US" sz="1250" dirty="0"/>
          </a:p>
          <a:p>
            <a:pPr marL="0" indent="0" algn="l">
              <a:lnSpc>
                <a:spcPct val="105000"/>
              </a:lnSpc>
              <a:buNone/>
            </a:pPr>
            <a:r>
              <a:rPr lang="en-US" sz="1250" b="1" dirty="0">
                <a:solidFill>
                  <a:srgbClr val="FCA311"/>
                </a:solidFill>
                <a:latin typeface="Courier New" pitchFamily="34" charset="0"/>
                <a:ea typeface="Courier New" pitchFamily="34" charset="-122"/>
                <a:cs typeface="Courier New" pitchFamily="34" charset="-120"/>
              </a:rPr>
              <a:t>         "url_changed_last": int(url_changed),</a:t>
            </a:r>
            <a:endParaRPr lang="en-US" sz="1250" dirty="0"/>
          </a:p>
          <a:p>
            <a:pPr marL="0" indent="0" algn="l">
              <a:lnSpc>
                <a:spcPct val="105000"/>
              </a:lnSpc>
              <a:buNone/>
            </a:pPr>
            <a:r>
              <a:rPr lang="en-US" sz="1250" dirty="0">
                <a:solidFill>
                  <a:srgbClr val="E6EAF2"/>
                </a:solidFill>
                <a:latin typeface="Courier New" pitchFamily="34" charset="0"/>
                <a:ea typeface="Courier New" pitchFamily="34" charset="-122"/>
                <a:cs typeface="Courier New" pitchFamily="34" charset="-120"/>
              </a:rPr>
              <a:t>         "consecutive_errors": consecutive_errors, "mode": mode}</a:t>
            </a:r>
            <a:endParaRPr lang="en-US" sz="1250" dirty="0"/>
          </a:p>
          <a:p>
            <a:pPr marL="0" indent="0" algn="l">
              <a:lnSpc>
                <a:spcPct val="105000"/>
              </a:lnSpc>
              <a:buNone/>
            </a:pPr>
            <a:r>
              <a:rPr lang="en-US" sz="1250" b="1" dirty="0">
                <a:solidFill>
                  <a:srgbClr val="FCA311"/>
                </a:solidFill>
                <a:latin typeface="Courier New" pitchFamily="34" charset="0"/>
                <a:ea typeface="Courier New" pitchFamily="34" charset="-122"/>
                <a:cs typeface="Courier New" pitchFamily="34" charset="-120"/>
              </a:rPr>
              <a:t>p_stop = router.p_stop(state)</a:t>
            </a:r>
            <a:endParaRPr lang="en-US" sz="1250" dirty="0"/>
          </a:p>
          <a:p>
            <a:pPr marL="0" indent="0" algn="l">
              <a:lnSpc>
                <a:spcPct val="105000"/>
              </a:lnSpc>
              <a:buNone/>
            </a:pPr>
            <a:r>
              <a:rPr lang="en-US" sz="1250" b="1" dirty="0">
                <a:solidFill>
                  <a:srgbClr val="FCA311"/>
                </a:solidFill>
                <a:latin typeface="Courier New" pitchFamily="34" charset="0"/>
                <a:ea typeface="Courier New" pitchFamily="34" charset="-122"/>
                <a:cs typeface="Courier New" pitchFamily="34" charset="-120"/>
              </a:rPr>
              <a:t>stop = p_stop &gt;= router.threshold      # threshold fixed offline</a:t>
            </a:r>
            <a:endParaRPr lang="en-US" sz="1250" dirty="0"/>
          </a:p>
          <a:p>
            <a:pPr marL="0" indent="0" algn="l">
              <a:lnSpc>
                <a:spcPct val="105000"/>
              </a:lnSpc>
              <a:buNone/>
            </a:pPr>
            <a:r>
              <a:rPr lang="en-US" sz="1250" dirty="0">
                <a:solidFill>
                  <a:srgbClr val="E6EAF2"/>
                </a:solidFill>
                <a:latin typeface="Courier New" pitchFamily="34" charset="0"/>
                <a:ea typeface="Courier New" pitchFamily="34" charset="-122"/>
                <a:cs typeface="Courier New" pitchFamily="34" charset="-120"/>
              </a:rPr>
              <a:t>decisions.append({"step": i, "p_stop": p_stop, "stop": stop, ...})</a:t>
            </a:r>
            <a:endParaRPr lang="en-US" sz="1250" dirty="0"/>
          </a:p>
          <a:p>
            <a:pPr marL="0" indent="0" algn="l">
              <a:lnSpc>
                <a:spcPct val="105000"/>
              </a:lnSpc>
              <a:buNone/>
            </a:pPr>
            <a:r>
              <a:rPr lang="en-US" sz="1250" dirty="0">
                <a:solidFill>
                  <a:srgbClr val="E6EAF2"/>
                </a:solidFill>
                <a:latin typeface="Courier New" pitchFamily="34" charset="0"/>
                <a:ea typeface="Courier New" pitchFamily="34" charset="-122"/>
                <a:cs typeface="Courier New" pitchFamily="34" charset="-120"/>
              </a:rPr>
              <a:t>if stop:</a:t>
            </a:r>
            <a:endParaRPr lang="en-US" sz="1250" dirty="0"/>
          </a:p>
          <a:p>
            <a:pPr marL="0" indent="0" algn="l">
              <a:lnSpc>
                <a:spcPct val="105000"/>
              </a:lnSpc>
              <a:buNone/>
            </a:pPr>
            <a:r>
              <a:rPr lang="en-US" sz="1250" dirty="0">
                <a:solidFill>
                  <a:srgbClr val="E6EAF2"/>
                </a:solidFill>
                <a:latin typeface="Courier New" pitchFamily="34" charset="0"/>
                <a:ea typeface="Courier New" pitchFamily="34" charset="-122"/>
                <a:cs typeface="Courier New" pitchFamily="34" charset="-120"/>
              </a:rPr>
              <a:t>    stop_step = i</a:t>
            </a:r>
            <a:endParaRPr lang="en-US" sz="1250" dirty="0"/>
          </a:p>
          <a:p>
            <a:pPr marL="0" indent="0" algn="l">
              <a:lnSpc>
                <a:spcPct val="105000"/>
              </a:lnSpc>
              <a:buNone/>
            </a:pPr>
            <a:r>
              <a:rPr lang="en-US" sz="1250" b="1" dirty="0">
                <a:solidFill>
                  <a:srgbClr val="FCA311"/>
                </a:solidFill>
                <a:latin typeface="Courier New" pitchFamily="34" charset="0"/>
                <a:ea typeface="Courier New" pitchFamily="34" charset="-122"/>
                <a:cs typeface="Courier New" pitchFamily="34" charset="-120"/>
              </a:rPr>
              <a:t>    reason = "router_stop"               # spend nothing further</a:t>
            </a:r>
            <a:endParaRPr lang="en-US" sz="1250" dirty="0"/>
          </a:p>
          <a:p>
            <a:pPr marL="0" indent="0" algn="l">
              <a:lnSpc>
                <a:spcPct val="105000"/>
              </a:lnSpc>
              <a:buNone/>
            </a:pPr>
            <a:r>
              <a:rPr lang="en-US" sz="1250" dirty="0">
                <a:solidFill>
                  <a:srgbClr val="E6EAF2"/>
                </a:solidFill>
                <a:latin typeface="Courier New" pitchFamily="34" charset="0"/>
                <a:ea typeface="Courier New" pitchFamily="34" charset="-122"/>
                <a:cs typeface="Courier New" pitchFamily="34" charset="-120"/>
              </a:rPr>
              <a:t>    ...</a:t>
            </a:r>
            <a:endParaRPr lang="en-US" sz="1250" dirty="0"/>
          </a:p>
          <a:p>
            <a:pPr marL="0" indent="0" algn="l">
              <a:lnSpc>
                <a:spcPct val="105000"/>
              </a:lnSpc>
              <a:buNone/>
            </a:pPr>
            <a:r>
              <a:rPr lang="en-US" sz="1250" dirty="0">
                <a:solidFill>
                  <a:srgbClr val="8C96A8"/>
                </a:solidFill>
                <a:latin typeface="Courier New" pitchFamily="34" charset="0"/>
                <a:ea typeface="Courier New" pitchFamily="34" charset="-122"/>
                <a:cs typeface="Courier New" pitchFamily="34" charset="-120"/>
              </a:rPr>
              <a:t># otherwise run A's single call or B's Planner -&gt; Executor -&gt; Critic cycle</a:t>
            </a:r>
            <a:endParaRPr lang="en-US" sz="1250" dirty="0"/>
          </a:p>
        </p:txBody>
      </p:sp>
      <p:sp>
        <p:nvSpPr>
          <p:cNvPr id="8" name="Code file label"/>
          <p:cNvSpPr txBox="1"/>
          <p:nvPr/>
        </p:nvSpPr>
        <p:spPr>
          <a:xfrm>
            <a:off x="4480560" y="5833872"/>
            <a:ext cx="3154680" cy="256032"/>
          </a:xfrm>
          <a:prstGeom prst="rect">
            <a:avLst/>
          </a:prstGeom>
          <a:noFill/>
          <a:ln/>
        </p:spPr>
        <p:txBody>
          <a:bodyPr wrap="square" lIns="0" tIns="0" rIns="0" bIns="0" rtlCol="0" anchor="ctr"/>
          <a:lstStyle/>
          <a:p>
            <a:pPr marL="0" indent="0" algn="r">
              <a:buNone/>
            </a:pPr>
            <a:r>
              <a:rPr lang="en-US" sz="1000" dirty="0">
                <a:solidFill>
                  <a:srgbClr val="8C96A8"/>
                </a:solidFill>
                <a:latin typeface="Courier New" pitchFamily="34" charset="0"/>
                <a:ea typeface="Courier New" pitchFamily="34" charset="-122"/>
                <a:cs typeface="Courier New" pitchFamily="34" charset="-120"/>
              </a:rPr>
              <a:t>src/strategy_c.py, lines 198–220</a:t>
            </a:r>
            <a:endParaRPr lang="en-US" sz="1000" dirty="0"/>
          </a:p>
        </p:txBody>
      </p:sp>
      <p:sp>
        <p:nvSpPr>
          <p:cNvPr id="9" name="Badge 1"/>
          <p:cNvSpPr/>
          <p:nvPr/>
        </p:nvSpPr>
        <p:spPr>
          <a:xfrm>
            <a:off x="8092440" y="1234440"/>
            <a:ext cx="384048" cy="384048"/>
          </a:xfrm>
          <a:prstGeom prst="ellipse">
            <a:avLst/>
          </a:prstGeom>
          <a:solidFill>
            <a:srgbClr val="2CA02C"/>
          </a:solidFill>
          <a:ln w="12700">
            <a:solidFill>
              <a:srgbClr val="2CA02C"/>
            </a:solidFill>
            <a:prstDash val="solid"/>
          </a:ln>
        </p:spPr>
        <p:txBody>
          <a:bodyPr/>
          <a:lstStyle/>
          <a:p>
            <a:endParaRPr lang="en-GB"/>
          </a:p>
        </p:txBody>
      </p:sp>
      <p:sp>
        <p:nvSpPr>
          <p:cNvPr id="10" name="Badge label 1"/>
          <p:cNvSpPr txBox="1"/>
          <p:nvPr/>
        </p:nvSpPr>
        <p:spPr>
          <a:xfrm>
            <a:off x="8092440" y="123444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rPr>
              <a:t>1</a:t>
            </a:r>
            <a:endParaRPr lang="en-US" sz="1300" dirty="0"/>
          </a:p>
        </p:txBody>
      </p:sp>
      <p:sp>
        <p:nvSpPr>
          <p:cNvPr id="11" name="Explain2 title 1"/>
          <p:cNvSpPr txBox="1"/>
          <p:nvPr/>
        </p:nvSpPr>
        <p:spPr>
          <a:xfrm>
            <a:off x="8595360" y="1188720"/>
            <a:ext cx="3154680" cy="320040"/>
          </a:xfrm>
          <a:prstGeom prst="rect">
            <a:avLst/>
          </a:prstGeom>
          <a:noFill/>
          <a:ln/>
        </p:spPr>
        <p:txBody>
          <a:bodyPr wrap="square" lIns="0" tIns="0" rIns="0" bIns="0" rtlCol="0" anchor="ctr"/>
          <a:lstStyle/>
          <a:p>
            <a:pPr marL="0" indent="0" algn="l">
              <a:buNone/>
            </a:pPr>
            <a:r>
              <a:rPr lang="en-US" sz="1400" b="1" dirty="0">
                <a:solidFill>
                  <a:srgbClr val="14213D"/>
                </a:solidFill>
              </a:rPr>
              <a:t>Mode head, once</a:t>
            </a:r>
            <a:endParaRPr lang="en-US" sz="1400" dirty="0"/>
          </a:p>
        </p:txBody>
      </p:sp>
      <p:sp>
        <p:nvSpPr>
          <p:cNvPr id="12" name="Explain2 body 1"/>
          <p:cNvSpPr txBox="1"/>
          <p:nvPr/>
        </p:nvSpPr>
        <p:spPr>
          <a:xfrm>
            <a:off x="8595360" y="1536192"/>
            <a:ext cx="3154680" cy="1188720"/>
          </a:xfrm>
          <a:prstGeom prst="rect">
            <a:avLst/>
          </a:prstGeom>
          <a:noFill/>
          <a:ln/>
        </p:spPr>
        <p:txBody>
          <a:bodyPr wrap="square" lIns="0" tIns="0" rIns="0" bIns="0" rtlCol="0" anchor="t"/>
          <a:lstStyle/>
          <a:p>
            <a:pPr marL="0" indent="0" algn="l">
              <a:buNone/>
            </a:pPr>
            <a:r>
              <a:rPr lang="en-US" sz="1150" dirty="0">
                <a:solidFill>
                  <a:srgbClr val="1B1F2A"/>
                </a:solidFill>
              </a:rPr>
              <a:t>18 task features (site, category, difficulty scores, budget) give p_cycle. In the live run it chose the pipeline in 5 of 2,604 episodes.</a:t>
            </a:r>
            <a:endParaRPr lang="en-US" sz="1150" dirty="0"/>
          </a:p>
        </p:txBody>
      </p:sp>
      <p:sp>
        <p:nvSpPr>
          <p:cNvPr id="13" name="Badge 2"/>
          <p:cNvSpPr/>
          <p:nvPr/>
        </p:nvSpPr>
        <p:spPr>
          <a:xfrm>
            <a:off x="8092440" y="2880360"/>
            <a:ext cx="384048" cy="384048"/>
          </a:xfrm>
          <a:prstGeom prst="ellipse">
            <a:avLst/>
          </a:prstGeom>
          <a:solidFill>
            <a:srgbClr val="2CA02C"/>
          </a:solidFill>
          <a:ln w="12700">
            <a:solidFill>
              <a:srgbClr val="2CA02C"/>
            </a:solidFill>
            <a:prstDash val="solid"/>
          </a:ln>
        </p:spPr>
        <p:txBody>
          <a:bodyPr/>
          <a:lstStyle/>
          <a:p>
            <a:endParaRPr lang="en-GB"/>
          </a:p>
        </p:txBody>
      </p:sp>
      <p:sp>
        <p:nvSpPr>
          <p:cNvPr id="14" name="Badge label 2"/>
          <p:cNvSpPr txBox="1"/>
          <p:nvPr/>
        </p:nvSpPr>
        <p:spPr>
          <a:xfrm>
            <a:off x="8092440" y="288036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rPr>
              <a:t>2</a:t>
            </a:r>
            <a:endParaRPr lang="en-US" sz="1300" dirty="0"/>
          </a:p>
        </p:txBody>
      </p:sp>
      <p:sp>
        <p:nvSpPr>
          <p:cNvPr id="15" name="Explain2 title 2"/>
          <p:cNvSpPr txBox="1"/>
          <p:nvPr/>
        </p:nvSpPr>
        <p:spPr>
          <a:xfrm>
            <a:off x="8595360" y="2834640"/>
            <a:ext cx="3154680" cy="320040"/>
          </a:xfrm>
          <a:prstGeom prst="rect">
            <a:avLst/>
          </a:prstGeom>
          <a:noFill/>
          <a:ln/>
        </p:spPr>
        <p:txBody>
          <a:bodyPr wrap="square" lIns="0" tIns="0" rIns="0" bIns="0" rtlCol="0" anchor="ctr"/>
          <a:lstStyle/>
          <a:p>
            <a:pPr marL="0" indent="0" algn="l">
              <a:buNone/>
            </a:pPr>
            <a:r>
              <a:rPr lang="en-US" sz="1400" b="1" dirty="0">
                <a:solidFill>
                  <a:srgbClr val="14213D"/>
                </a:solidFill>
              </a:rPr>
              <a:t>Stop head, every step</a:t>
            </a:r>
            <a:endParaRPr lang="en-US" sz="1400" dirty="0"/>
          </a:p>
        </p:txBody>
      </p:sp>
      <p:sp>
        <p:nvSpPr>
          <p:cNvPr id="16" name="Explain2 body 2"/>
          <p:cNvSpPr txBox="1"/>
          <p:nvPr/>
        </p:nvSpPr>
        <p:spPr>
          <a:xfrm>
            <a:off x="8595360" y="3182112"/>
            <a:ext cx="3154680" cy="1188720"/>
          </a:xfrm>
          <a:prstGeom prst="rect">
            <a:avLst/>
          </a:prstGeom>
          <a:noFill/>
          <a:ln/>
        </p:spPr>
        <p:txBody>
          <a:bodyPr wrap="square" lIns="0" tIns="0" rIns="0" bIns="0" rtlCol="0" anchor="t"/>
          <a:lstStyle/>
          <a:p>
            <a:pPr marL="0" indent="0" algn="l">
              <a:buNone/>
            </a:pPr>
            <a:r>
              <a:rPr lang="en-US" sz="1150" dirty="0">
                <a:solidFill>
                  <a:srgbClr val="1B1F2A"/>
                </a:solidFill>
              </a:rPr>
              <a:t>24 features add the step index, budget remaining, last error and whether the page changed. The threshold was fixed offline at the largest saving keeping 90% of A's successes.</a:t>
            </a:r>
            <a:endParaRPr lang="en-US" sz="1150" dirty="0"/>
          </a:p>
        </p:txBody>
      </p:sp>
      <p:sp>
        <p:nvSpPr>
          <p:cNvPr id="17" name="Badge 3"/>
          <p:cNvSpPr/>
          <p:nvPr/>
        </p:nvSpPr>
        <p:spPr>
          <a:xfrm>
            <a:off x="8092440" y="4526280"/>
            <a:ext cx="384048" cy="384048"/>
          </a:xfrm>
          <a:prstGeom prst="ellipse">
            <a:avLst/>
          </a:prstGeom>
          <a:solidFill>
            <a:srgbClr val="2CA02C"/>
          </a:solidFill>
          <a:ln w="12700">
            <a:solidFill>
              <a:srgbClr val="2CA02C"/>
            </a:solidFill>
            <a:prstDash val="solid"/>
          </a:ln>
        </p:spPr>
        <p:txBody>
          <a:bodyPr/>
          <a:lstStyle/>
          <a:p>
            <a:endParaRPr lang="en-GB"/>
          </a:p>
        </p:txBody>
      </p:sp>
      <p:sp>
        <p:nvSpPr>
          <p:cNvPr id="18" name="Badge label 3"/>
          <p:cNvSpPr txBox="1"/>
          <p:nvPr/>
        </p:nvSpPr>
        <p:spPr>
          <a:xfrm>
            <a:off x="8092440" y="452628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rPr>
              <a:t>3</a:t>
            </a:r>
            <a:endParaRPr lang="en-US" sz="1300" dirty="0"/>
          </a:p>
        </p:txBody>
      </p:sp>
      <p:sp>
        <p:nvSpPr>
          <p:cNvPr id="19" name="Explain2 title 3"/>
          <p:cNvSpPr txBox="1"/>
          <p:nvPr/>
        </p:nvSpPr>
        <p:spPr>
          <a:xfrm>
            <a:off x="8595360" y="4480560"/>
            <a:ext cx="3154680" cy="320040"/>
          </a:xfrm>
          <a:prstGeom prst="rect">
            <a:avLst/>
          </a:prstGeom>
          <a:noFill/>
          <a:ln/>
        </p:spPr>
        <p:txBody>
          <a:bodyPr wrap="square" lIns="0" tIns="0" rIns="0" bIns="0" rtlCol="0" anchor="ctr"/>
          <a:lstStyle/>
          <a:p>
            <a:pPr marL="0" indent="0" algn="l">
              <a:buNone/>
            </a:pPr>
            <a:r>
              <a:rPr lang="en-US" sz="1400" b="1" dirty="0">
                <a:solidFill>
                  <a:srgbClr val="14213D"/>
                </a:solidFill>
              </a:rPr>
              <a:t>Everything is logged</a:t>
            </a:r>
            <a:endParaRPr lang="en-US" sz="1400" dirty="0"/>
          </a:p>
        </p:txBody>
      </p:sp>
      <p:sp>
        <p:nvSpPr>
          <p:cNvPr id="20" name="Explain2 body 3"/>
          <p:cNvSpPr txBox="1"/>
          <p:nvPr/>
        </p:nvSpPr>
        <p:spPr>
          <a:xfrm>
            <a:off x="8595360" y="4828032"/>
            <a:ext cx="3154680" cy="1188720"/>
          </a:xfrm>
          <a:prstGeom prst="rect">
            <a:avLst/>
          </a:prstGeom>
          <a:noFill/>
          <a:ln/>
        </p:spPr>
        <p:txBody>
          <a:bodyPr wrap="square" lIns="0" tIns="0" rIns="0" bIns="0" rtlCol="0" anchor="t"/>
          <a:lstStyle/>
          <a:p>
            <a:pPr marL="0" indent="0" algn="l">
              <a:buNone/>
            </a:pPr>
            <a:r>
              <a:rPr lang="en-US" sz="1150" dirty="0">
                <a:solidFill>
                  <a:srgbClr val="1B1F2A"/>
                </a:solidFill>
              </a:rPr>
              <a:t>p_cycle, every p_stop and the stop step go into the episode record, so the analysis can later show what the router did and when.</a:t>
            </a:r>
            <a:endParaRPr lang="en-US" sz="1150" dirty="0"/>
          </a:p>
        </p:txBody>
      </p:sp>
      <p:sp>
        <p:nvSpPr>
          <p:cNvPr id="25" name="Slide Number Placeholder 0"/>
          <p:cNvSpPr>
            <a:spLocks noGrp="1"/>
          </p:cNvSpPr>
          <p:nvPr>
            <p:ph type="sldNum" sz="quarter" idx="4294967295"/>
          </p:nvPr>
        </p:nvSpPr>
        <p:spPr>
          <a:xfrm>
            <a:off x="1124712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673"/>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377440"/>
            <a:ext cx="10698480" cy="1280160"/>
          </a:xfrm>
          <a:prstGeom prst="rect">
            <a:avLst/>
          </a:prstGeom>
          <a:noFill/>
          <a:ln/>
        </p:spPr>
        <p:txBody>
          <a:bodyPr wrap="square" lIns="0" tIns="0" rIns="0" bIns="0" rtlCol="0" anchor="ctr"/>
          <a:lstStyle/>
          <a:p>
            <a:pPr marL="0" indent="0" algn="l">
              <a:buNone/>
            </a:pPr>
            <a:r>
              <a:rPr lang="en-US" sz="4000" b="1" dirty="0">
                <a:solidFill>
                  <a:schemeClr val="bg1"/>
                </a:solidFill>
              </a:rPr>
              <a:t>Results</a:t>
            </a:r>
            <a:endParaRPr lang="en-US" sz="4000" dirty="0"/>
          </a:p>
        </p:txBody>
      </p:sp>
      <p:sp>
        <p:nvSpPr>
          <p:cNvPr id="3" name="Text 0"/>
          <p:cNvSpPr>
            <a:spLocks noGrp="1"/>
          </p:cNvSpPr>
          <p:nvPr>
            <p:ph type="body" idx="101" hasCustomPrompt="1"/>
          </p:nvPr>
        </p:nvSpPr>
        <p:spPr>
          <a:xfrm>
            <a:off x="731520" y="3749040"/>
            <a:ext cx="10698480" cy="1097280"/>
          </a:xfrm>
          <a:prstGeom prst="rect">
            <a:avLst/>
          </a:prstGeom>
          <a:noFill/>
          <a:ln/>
        </p:spPr>
        <p:txBody>
          <a:bodyPr wrap="square" lIns="0" tIns="0" rIns="0" bIns="0" rtlCol="0" anchor="t"/>
          <a:lstStyle/>
          <a:p>
            <a:pPr marL="0" indent="0" algn="l">
              <a:buNone/>
            </a:pPr>
            <a:r>
              <a:rPr lang="en-US" sz="1800" dirty="0">
                <a:solidFill>
                  <a:schemeClr val="bg2"/>
                </a:solidFill>
              </a:rPr>
              <a:t>RQ1 cost and performance | Failure modes and the Critic | RQ2 difficulty </a:t>
            </a:r>
            <a:r>
              <a:rPr lang="en-US" dirty="0"/>
              <a:t>|</a:t>
            </a:r>
            <a:r>
              <a:rPr lang="en-US" sz="1800" dirty="0">
                <a:solidFill>
                  <a:schemeClr val="bg2"/>
                </a:solidFill>
              </a:rPr>
              <a:t> RQ3 allocation schemes</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11247120" cy="777240"/>
          </a:xfrm>
          <a:prstGeom prst="rect">
            <a:avLst/>
          </a:prstGeom>
          <a:noFill/>
          <a:ln/>
        </p:spPr>
        <p:txBody>
          <a:bodyPr wrap="square" lIns="0" tIns="0" rIns="0" bIns="0" rtlCol="0" anchor="ctr"/>
          <a:lstStyle/>
          <a:p>
            <a:pPr marL="0" indent="0" algn="l">
              <a:buNone/>
            </a:pPr>
            <a:r>
              <a:rPr lang="en-US" sz="3000" b="1" dirty="0">
                <a:solidFill>
                  <a:schemeClr val="tx2"/>
                </a:solidFill>
              </a:rPr>
              <a:t>The eligible dataset: two properties that drive everything</a:t>
            </a:r>
            <a:endParaRPr lang="en-US" sz="3000" dirty="0"/>
          </a:p>
        </p:txBody>
      </p:sp>
      <p:graphicFrame>
        <p:nvGraphicFramePr>
          <p:cNvPr id="18" name="Table"/>
          <p:cNvGraphicFramePr>
            <a:graphicFrameLocks noGrp="1"/>
          </p:cNvGraphicFramePr>
          <p:nvPr>
            <p:extLst>
              <p:ext uri="{D42A27DB-BD31-4B8C-83A1-F6EECF244321}">
                <p14:modId xmlns:p14="http://schemas.microsoft.com/office/powerpoint/2010/main" val="1579011935"/>
              </p:ext>
            </p:extLst>
          </p:nvPr>
        </p:nvGraphicFramePr>
        <p:xfrm>
          <a:off x="457200" y="1188720"/>
          <a:ext cx="11247120" cy="1722120"/>
        </p:xfrm>
        <a:graphic>
          <a:graphicData uri="http://schemas.openxmlformats.org/drawingml/2006/table">
            <a:tbl>
              <a:tblPr/>
              <a:tblGrid>
                <a:gridCol w="173736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gridCol w="1463040">
                  <a:extLst>
                    <a:ext uri="{9D8B030D-6E8A-4147-A177-3AD203B41FA5}">
                      <a16:colId xmlns:a16="http://schemas.microsoft.com/office/drawing/2014/main" val="20005"/>
                    </a:ext>
                  </a:extLst>
                </a:gridCol>
                <a:gridCol w="1280160">
                  <a:extLst>
                    <a:ext uri="{9D8B030D-6E8A-4147-A177-3AD203B41FA5}">
                      <a16:colId xmlns:a16="http://schemas.microsoft.com/office/drawing/2014/main" val="20006"/>
                    </a:ext>
                  </a:extLst>
                </a:gridCol>
              </a:tblGrid>
              <a:tr h="411480">
                <a:tc>
                  <a:txBody>
                    <a:bodyPr/>
                    <a:lstStyle/>
                    <a:p>
                      <a:pPr marL="0" indent="0" algn="l">
                        <a:buNone/>
                      </a:pPr>
                      <a:r>
                        <a:rPr lang="en-US" sz="1300" b="1" dirty="0">
                          <a:solidFill>
                            <a:srgbClr val="FFFFFF"/>
                          </a:solidFill>
                        </a:rPr>
                        <a:t>Strategy</a:t>
                      </a:r>
                      <a:endParaRPr lang="en-US" sz="13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14213D"/>
                    </a:solidFill>
                  </a:tcPr>
                </a:tc>
                <a:tc>
                  <a:txBody>
                    <a:bodyPr/>
                    <a:lstStyle/>
                    <a:p>
                      <a:pPr marL="0" indent="0" algn="l">
                        <a:buNone/>
                      </a:pPr>
                      <a:r>
                        <a:rPr lang="en-US" sz="1300" b="1" dirty="0">
                          <a:solidFill>
                            <a:srgbClr val="FFFFFF"/>
                          </a:solidFill>
                        </a:rPr>
                        <a:t>Episodes kept (excluded)</a:t>
                      </a:r>
                      <a:endParaRPr lang="en-US" sz="13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14213D"/>
                    </a:solidFill>
                  </a:tcPr>
                </a:tc>
                <a:tc>
                  <a:txBody>
                    <a:bodyPr/>
                    <a:lstStyle/>
                    <a:p>
                      <a:pPr marL="0" indent="0" algn="l">
                        <a:buNone/>
                      </a:pPr>
                      <a:r>
                        <a:rPr lang="en-US" sz="1300" b="1" dirty="0">
                          <a:solidFill>
                            <a:srgbClr val="FFFFFF"/>
                          </a:solidFill>
                        </a:rPr>
                        <a:t>Successes</a:t>
                      </a:r>
                      <a:endParaRPr lang="en-US" sz="13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14213D"/>
                    </a:solidFill>
                  </a:tcPr>
                </a:tc>
                <a:tc>
                  <a:txBody>
                    <a:bodyPr/>
                    <a:lstStyle/>
                    <a:p>
                      <a:pPr marL="0" indent="0" algn="l">
                        <a:buNone/>
                      </a:pPr>
                      <a:r>
                        <a:rPr lang="en-US" sz="1300" b="1" dirty="0">
                          <a:solidFill>
                            <a:srgbClr val="FFFFFF"/>
                          </a:solidFill>
                        </a:rPr>
                        <a:t>Success rate [95% CI]</a:t>
                      </a:r>
                      <a:endParaRPr lang="en-US" sz="13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14213D"/>
                    </a:solidFill>
                  </a:tcPr>
                </a:tc>
                <a:tc>
                  <a:txBody>
                    <a:bodyPr/>
                    <a:lstStyle/>
                    <a:p>
                      <a:pPr marL="0" indent="0" algn="l">
                        <a:buNone/>
                      </a:pPr>
                      <a:r>
                        <a:rPr lang="en-US" sz="1300" b="1" dirty="0">
                          <a:solidFill>
                            <a:srgbClr val="FFFFFF"/>
                          </a:solidFill>
                        </a:rPr>
                        <a:t>Tasks solved (any budget)</a:t>
                      </a:r>
                      <a:endParaRPr lang="en-US" sz="13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14213D"/>
                    </a:solidFill>
                  </a:tcPr>
                </a:tc>
                <a:tc>
                  <a:txBody>
                    <a:bodyPr/>
                    <a:lstStyle/>
                    <a:p>
                      <a:pPr marL="0" indent="0" algn="l">
                        <a:buNone/>
                      </a:pPr>
                      <a:r>
                        <a:rPr lang="en-US" sz="1300" b="1" dirty="0">
                          <a:solidFill>
                            <a:srgbClr val="FFFFFF"/>
                          </a:solidFill>
                        </a:rPr>
                        <a:t>Median tokens / step</a:t>
                      </a:r>
                      <a:endParaRPr lang="en-US" sz="13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14213D"/>
                    </a:solidFill>
                  </a:tcPr>
                </a:tc>
                <a:tc>
                  <a:txBody>
                    <a:bodyPr/>
                    <a:lstStyle/>
                    <a:p>
                      <a:pPr marL="0" indent="0" algn="l">
                        <a:buNone/>
                      </a:pPr>
                      <a:r>
                        <a:rPr lang="en-US" sz="1300" b="1" dirty="0">
                          <a:solidFill>
                            <a:srgbClr val="FFFFFF"/>
                          </a:solidFill>
                        </a:rPr>
                        <a:t>Tokens / success</a:t>
                      </a:r>
                      <a:endParaRPr lang="en-US" sz="13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411480">
                <a:tc>
                  <a:txBody>
                    <a:bodyPr/>
                    <a:lstStyle/>
                    <a:p>
                      <a:pPr marL="0" indent="0" algn="l">
                        <a:buNone/>
                      </a:pPr>
                      <a:r>
                        <a:rPr lang="en-US" sz="1300" b="1" dirty="0">
                          <a:solidFill>
                            <a:srgbClr val="1F77B4"/>
                          </a:solidFill>
                        </a:rPr>
                        <a:t>A  single agent</a:t>
                      </a:r>
                      <a:endParaRPr lang="en-US" sz="13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B1F2A"/>
                          </a:solidFill>
                        </a:rPr>
                        <a:t>2,627 (223)</a:t>
                      </a:r>
                      <a:endParaRPr lang="en-US" sz="13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B1F2A"/>
                          </a:solidFill>
                        </a:rPr>
                        <a:t>383</a:t>
                      </a:r>
                      <a:endParaRPr lang="en-US" sz="13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B1F2A"/>
                          </a:solidFill>
                        </a:rPr>
                        <a:t>14.6% [13.3, 16.0]</a:t>
                      </a:r>
                      <a:endParaRPr lang="en-US" sz="13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B1F2A"/>
                          </a:solidFill>
                        </a:rPr>
                        <a:t>171 / 475 (36%)</a:t>
                      </a:r>
                      <a:endParaRPr lang="en-US" sz="13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B1F2A"/>
                          </a:solidFill>
                        </a:rPr>
                        <a:t>2,480</a:t>
                      </a:r>
                      <a:endParaRPr lang="en-US" sz="13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B1F2A"/>
                          </a:solidFill>
                        </a:rPr>
                        <a:t>73,490</a:t>
                      </a:r>
                      <a:endParaRPr lang="en-US" sz="13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11480">
                <a:tc>
                  <a:txBody>
                    <a:bodyPr/>
                    <a:lstStyle/>
                    <a:p>
                      <a:pPr marL="0" indent="0" algn="l">
                        <a:buNone/>
                      </a:pPr>
                      <a:r>
                        <a:rPr lang="en-US" sz="1300" b="1" dirty="0">
                          <a:solidFill>
                            <a:srgbClr val="FF7F0E"/>
                          </a:solidFill>
                        </a:rPr>
                        <a:t>B  fixed pipeline</a:t>
                      </a:r>
                      <a:endParaRPr lang="en-US" sz="13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tc>
                  <a:txBody>
                    <a:bodyPr/>
                    <a:lstStyle/>
                    <a:p>
                      <a:pPr marL="0" indent="0" algn="l">
                        <a:buNone/>
                      </a:pPr>
                      <a:r>
                        <a:rPr lang="en-US" sz="1300" dirty="0">
                          <a:solidFill>
                            <a:srgbClr val="1B1F2A"/>
                          </a:solidFill>
                        </a:rPr>
                        <a:t>2,723 (127)</a:t>
                      </a:r>
                      <a:endParaRPr lang="en-US" sz="13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tc>
                  <a:txBody>
                    <a:bodyPr/>
                    <a:lstStyle/>
                    <a:p>
                      <a:pPr marL="0" indent="0" algn="l">
                        <a:buNone/>
                      </a:pPr>
                      <a:r>
                        <a:rPr lang="en-US" sz="1300" dirty="0">
                          <a:solidFill>
                            <a:srgbClr val="1B1F2A"/>
                          </a:solidFill>
                        </a:rPr>
                        <a:t>226</a:t>
                      </a:r>
                      <a:endParaRPr lang="en-US" sz="13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tc>
                  <a:txBody>
                    <a:bodyPr/>
                    <a:lstStyle/>
                    <a:p>
                      <a:pPr marL="0" indent="0" algn="l">
                        <a:buNone/>
                      </a:pPr>
                      <a:r>
                        <a:rPr lang="en-US" sz="1300" dirty="0">
                          <a:solidFill>
                            <a:srgbClr val="1B1F2A"/>
                          </a:solidFill>
                        </a:rPr>
                        <a:t>8.3% [7.3, 9.4]</a:t>
                      </a:r>
                      <a:endParaRPr lang="en-US" sz="13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tc>
                  <a:txBody>
                    <a:bodyPr/>
                    <a:lstStyle/>
                    <a:p>
                      <a:pPr marL="0" indent="0" algn="l">
                        <a:buNone/>
                      </a:pPr>
                      <a:r>
                        <a:rPr lang="en-US" sz="1300" dirty="0">
                          <a:solidFill>
                            <a:srgbClr val="1B1F2A"/>
                          </a:solidFill>
                        </a:rPr>
                        <a:t>120 / 475 (25%)</a:t>
                      </a:r>
                      <a:endParaRPr lang="en-US" sz="13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tc>
                  <a:txBody>
                    <a:bodyPr/>
                    <a:lstStyle/>
                    <a:p>
                      <a:pPr marL="0" indent="0" algn="l">
                        <a:buNone/>
                      </a:pPr>
                      <a:r>
                        <a:rPr lang="en-US" sz="1300" dirty="0">
                          <a:solidFill>
                            <a:srgbClr val="1B1F2A"/>
                          </a:solidFill>
                        </a:rPr>
                        <a:t>6,967</a:t>
                      </a:r>
                      <a:endParaRPr lang="en-US" sz="13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tc>
                  <a:txBody>
                    <a:bodyPr/>
                    <a:lstStyle/>
                    <a:p>
                      <a:pPr marL="0" indent="0" algn="l">
                        <a:buNone/>
                      </a:pPr>
                      <a:r>
                        <a:rPr lang="en-US" sz="1300" dirty="0">
                          <a:solidFill>
                            <a:srgbClr val="1B1F2A"/>
                          </a:solidFill>
                        </a:rPr>
                        <a:t>193,544</a:t>
                      </a:r>
                      <a:endParaRPr lang="en-US" sz="13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extLst>
                  <a:ext uri="{0D108BD9-81ED-4DB2-BD59-A6C34878D82A}">
                    <a16:rowId xmlns:a16="http://schemas.microsoft.com/office/drawing/2014/main" val="10002"/>
                  </a:ext>
                </a:extLst>
              </a:tr>
              <a:tr h="411480">
                <a:tc>
                  <a:txBody>
                    <a:bodyPr/>
                    <a:lstStyle/>
                    <a:p>
                      <a:pPr marL="0" indent="0" algn="l">
                        <a:buNone/>
                      </a:pPr>
                      <a:r>
                        <a:rPr lang="en-US" sz="1300" b="1" dirty="0">
                          <a:solidFill>
                            <a:srgbClr val="2CA02C"/>
                          </a:solidFill>
                        </a:rPr>
                        <a:t>C  routed</a:t>
                      </a:r>
                      <a:endParaRPr lang="en-US" sz="13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B1F2A"/>
                          </a:solidFill>
                        </a:rPr>
                        <a:t>2,604 (246)</a:t>
                      </a:r>
                      <a:endParaRPr lang="en-US" sz="13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B1F2A"/>
                          </a:solidFill>
                        </a:rPr>
                        <a:t>360</a:t>
                      </a:r>
                      <a:endParaRPr lang="en-US" sz="13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B1F2A"/>
                          </a:solidFill>
                        </a:rPr>
                        <a:t>13.8% [12.6, 15.2]</a:t>
                      </a:r>
                      <a:endParaRPr lang="en-US" sz="13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B1F2A"/>
                          </a:solidFill>
                        </a:rPr>
                        <a:t>157 / 475 (33%)</a:t>
                      </a:r>
                      <a:endParaRPr lang="en-US" sz="13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B1F2A"/>
                          </a:solidFill>
                        </a:rPr>
                        <a:t>2,490</a:t>
                      </a:r>
                      <a:endParaRPr lang="en-US" sz="13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B1F2A"/>
                          </a:solidFill>
                        </a:rPr>
                        <a:t>63,393</a:t>
                      </a:r>
                      <a:endParaRPr lang="en-US" sz="13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4" name="Caption Report Table"/>
          <p:cNvSpPr txBox="1"/>
          <p:nvPr/>
        </p:nvSpPr>
        <p:spPr>
          <a:xfrm>
            <a:off x="457200" y="3035808"/>
            <a:ext cx="11247120" cy="274320"/>
          </a:xfrm>
          <a:prstGeom prst="rect">
            <a:avLst/>
          </a:prstGeom>
          <a:noFill/>
          <a:ln/>
        </p:spPr>
        <p:txBody>
          <a:bodyPr wrap="square" lIns="0" tIns="0" rIns="0" bIns="0" rtlCol="0" anchor="t"/>
          <a:lstStyle/>
          <a:p>
            <a:pPr marL="0" indent="0" algn="l">
              <a:buNone/>
            </a:pPr>
            <a:r>
              <a:rPr lang="en-US" sz="1100" i="1" dirty="0">
                <a:solidFill>
                  <a:srgbClr val="5C6673"/>
                </a:solidFill>
              </a:rPr>
              <a:t>Report Table 4.1: the eligible dataset by strategy (analyse_a/b/c.py, compare_abc.py)</a:t>
            </a:r>
            <a:endParaRPr lang="en-US" sz="1100" dirty="0"/>
          </a:p>
        </p:txBody>
      </p:sp>
      <p:sp>
        <p:nvSpPr>
          <p:cNvPr id="5" name="Stat 2.8×"/>
          <p:cNvSpPr txBox="1"/>
          <p:nvPr/>
        </p:nvSpPr>
        <p:spPr>
          <a:xfrm>
            <a:off x="457200" y="3520440"/>
            <a:ext cx="3291840" cy="822960"/>
          </a:xfrm>
          <a:prstGeom prst="rect">
            <a:avLst/>
          </a:prstGeom>
          <a:noFill/>
          <a:ln/>
        </p:spPr>
        <p:txBody>
          <a:bodyPr wrap="square" lIns="0" tIns="0" rIns="0" bIns="0" rtlCol="0" anchor="b"/>
          <a:lstStyle/>
          <a:p>
            <a:pPr marL="0" indent="0" algn="l">
              <a:buNone/>
            </a:pPr>
            <a:r>
              <a:rPr lang="en-US" sz="4400" b="1" dirty="0">
                <a:solidFill>
                  <a:srgbClr val="FF7F0E"/>
                </a:solidFill>
                <a:latin typeface="Cambria" pitchFamily="34" charset="0"/>
                <a:ea typeface="Cambria" pitchFamily="34" charset="-122"/>
                <a:cs typeface="Cambria" pitchFamily="34" charset="-120"/>
              </a:rPr>
              <a:t>2.8×</a:t>
            </a:r>
            <a:endParaRPr lang="en-US" sz="4400" dirty="0"/>
          </a:p>
        </p:txBody>
      </p:sp>
      <p:sp>
        <p:nvSpPr>
          <p:cNvPr id="6" name="Stat label 2.8×"/>
          <p:cNvSpPr txBox="1"/>
          <p:nvPr/>
        </p:nvSpPr>
        <p:spPr>
          <a:xfrm>
            <a:off x="457200" y="4361688"/>
            <a:ext cx="3291840" cy="685800"/>
          </a:xfrm>
          <a:prstGeom prst="rect">
            <a:avLst/>
          </a:prstGeom>
          <a:noFill/>
          <a:ln/>
        </p:spPr>
        <p:txBody>
          <a:bodyPr wrap="square" lIns="0" tIns="0" rIns="0" bIns="0" rtlCol="0" anchor="t"/>
          <a:lstStyle/>
          <a:p>
            <a:pPr marL="0" indent="0" algn="l">
              <a:buNone/>
            </a:pPr>
            <a:r>
              <a:rPr lang="en-US" sz="1300" dirty="0">
                <a:solidFill>
                  <a:srgbClr val="5C6673"/>
                </a:solidFill>
              </a:rPr>
              <a:t>a Strategy B step costs 2.8 times a Strategy A step (6,967 vs 2,480 tokens): three calls on the same page plus 2,050 instruction tokens</a:t>
            </a:r>
            <a:endParaRPr lang="en-US" sz="1300" dirty="0"/>
          </a:p>
        </p:txBody>
      </p:sp>
      <p:sp>
        <p:nvSpPr>
          <p:cNvPr id="7" name="Stat 2,599 / 2,604"/>
          <p:cNvSpPr txBox="1"/>
          <p:nvPr/>
        </p:nvSpPr>
        <p:spPr>
          <a:xfrm>
            <a:off x="4206240" y="3520440"/>
            <a:ext cx="3566160" cy="822960"/>
          </a:xfrm>
          <a:prstGeom prst="rect">
            <a:avLst/>
          </a:prstGeom>
          <a:noFill/>
          <a:ln/>
        </p:spPr>
        <p:txBody>
          <a:bodyPr wrap="square" lIns="0" tIns="0" rIns="0" bIns="0" rtlCol="0" anchor="b"/>
          <a:lstStyle/>
          <a:p>
            <a:pPr marL="0" indent="0" algn="l">
              <a:buNone/>
            </a:pPr>
            <a:r>
              <a:rPr lang="en-US" sz="3600" b="1" dirty="0">
                <a:solidFill>
                  <a:srgbClr val="2CA02C"/>
                </a:solidFill>
                <a:latin typeface="Cambria" pitchFamily="34" charset="0"/>
                <a:ea typeface="Cambria" pitchFamily="34" charset="-122"/>
                <a:cs typeface="Cambria" pitchFamily="34" charset="-120"/>
              </a:rPr>
              <a:t>2,599 / 2,604</a:t>
            </a:r>
            <a:endParaRPr lang="en-US" sz="3600" dirty="0"/>
          </a:p>
        </p:txBody>
      </p:sp>
      <p:sp>
        <p:nvSpPr>
          <p:cNvPr id="8" name="Stat label 2,599 / 2,604"/>
          <p:cNvSpPr txBox="1"/>
          <p:nvPr/>
        </p:nvSpPr>
        <p:spPr>
          <a:xfrm>
            <a:off x="4206240" y="4361688"/>
            <a:ext cx="3566160" cy="685800"/>
          </a:xfrm>
          <a:prstGeom prst="rect">
            <a:avLst/>
          </a:prstGeom>
          <a:noFill/>
          <a:ln/>
        </p:spPr>
        <p:txBody>
          <a:bodyPr wrap="square" lIns="0" tIns="0" rIns="0" bIns="0" rtlCol="0" anchor="t"/>
          <a:lstStyle/>
          <a:p>
            <a:pPr marL="0" indent="0" algn="l">
              <a:buNone/>
            </a:pPr>
            <a:r>
              <a:rPr lang="en-US" sz="1300" dirty="0">
                <a:solidFill>
                  <a:srgbClr val="5C6673"/>
                </a:solidFill>
              </a:rPr>
              <a:t>episodes in which C's mode head chose the single-agent mode, so C's per-step cost equals A's</a:t>
            </a:r>
            <a:endParaRPr lang="en-US" sz="1300" dirty="0"/>
          </a:p>
        </p:txBody>
      </p:sp>
      <p:sp>
        <p:nvSpPr>
          <p:cNvPr id="9" name="Stat 7,954"/>
          <p:cNvSpPr txBox="1"/>
          <p:nvPr/>
        </p:nvSpPr>
        <p:spPr>
          <a:xfrm>
            <a:off x="8229600" y="3520440"/>
            <a:ext cx="3474720" cy="822960"/>
          </a:xfrm>
          <a:prstGeom prst="rect">
            <a:avLst/>
          </a:prstGeom>
          <a:noFill/>
          <a:ln/>
        </p:spPr>
        <p:txBody>
          <a:bodyPr wrap="square" lIns="0" tIns="0" rIns="0" bIns="0" rtlCol="0" anchor="b"/>
          <a:lstStyle/>
          <a:p>
            <a:pPr marL="0" indent="0" algn="l">
              <a:buNone/>
            </a:pPr>
            <a:r>
              <a:rPr lang="en-US" sz="4400" b="1" dirty="0">
                <a:solidFill>
                  <a:srgbClr val="14213D"/>
                </a:solidFill>
                <a:latin typeface="Cambria" pitchFamily="34" charset="0"/>
                <a:ea typeface="Cambria" pitchFamily="34" charset="-122"/>
                <a:cs typeface="Cambria" pitchFamily="34" charset="-120"/>
              </a:rPr>
              <a:t>7,954</a:t>
            </a:r>
            <a:endParaRPr lang="en-US" sz="4400" dirty="0"/>
          </a:p>
        </p:txBody>
      </p:sp>
      <p:sp>
        <p:nvSpPr>
          <p:cNvPr id="10" name="Stat label 7,954"/>
          <p:cNvSpPr txBox="1"/>
          <p:nvPr/>
        </p:nvSpPr>
        <p:spPr>
          <a:xfrm>
            <a:off x="8229600" y="4361688"/>
            <a:ext cx="3474720" cy="685800"/>
          </a:xfrm>
          <a:prstGeom prst="rect">
            <a:avLst/>
          </a:prstGeom>
          <a:noFill/>
          <a:ln/>
        </p:spPr>
        <p:txBody>
          <a:bodyPr wrap="square" lIns="0" tIns="0" rIns="0" bIns="0" rtlCol="0" anchor="t"/>
          <a:lstStyle/>
          <a:p>
            <a:pPr marL="0" indent="0" algn="l">
              <a:buNone/>
            </a:pPr>
            <a:r>
              <a:rPr lang="en-US" sz="1300" dirty="0">
                <a:solidFill>
                  <a:srgbClr val="5C6673"/>
                </a:solidFill>
              </a:rPr>
              <a:t>eligible main-grid episodes after decontamination (4.5% to 8.6% excluded per strategy)</a:t>
            </a:r>
            <a:endParaRPr lang="en-US" sz="1300" dirty="0"/>
          </a:p>
        </p:txBody>
      </p:sp>
      <p:sp>
        <p:nvSpPr>
          <p:cNvPr id="11" name="Dataset note"/>
          <p:cNvSpPr txBox="1"/>
          <p:nvPr/>
        </p:nvSpPr>
        <p:spPr>
          <a:xfrm>
            <a:off x="457200" y="5486400"/>
            <a:ext cx="11247120" cy="640080"/>
          </a:xfrm>
          <a:prstGeom prst="rect">
            <a:avLst/>
          </a:prstGeom>
          <a:noFill/>
          <a:ln/>
        </p:spPr>
        <p:txBody>
          <a:bodyPr wrap="square" lIns="0" tIns="0" rIns="0" bIns="0" rtlCol="0" anchor="t"/>
          <a:lstStyle/>
          <a:p>
            <a:pPr marL="0" indent="0" algn="l">
              <a:buNone/>
            </a:pPr>
            <a:r>
              <a:rPr lang="en-US" sz="1300" i="1" dirty="0">
                <a:solidFill>
                  <a:srgbClr val="5C6673"/>
                </a:solidFill>
              </a:rPr>
              <a:t>Budget-driven failures: A 56% of episodes, B 86%. Successful episodes were cheap: A median 6,570 tokens over two steps; a successful B episode cost 1.8 times as much.</a:t>
            </a:r>
            <a:endParaRPr lang="en-US" sz="1300" dirty="0"/>
          </a:p>
        </p:txBody>
      </p:sp>
      <p:sp>
        <p:nvSpPr>
          <p:cNvPr id="25" name="Slide Number Placeholder 0"/>
          <p:cNvSpPr>
            <a:spLocks noGrp="1"/>
          </p:cNvSpPr>
          <p:nvPr>
            <p:ph type="sldNum" sz="quarter" idx="4294967295"/>
          </p:nvPr>
        </p:nvSpPr>
        <p:spPr>
          <a:xfrm>
            <a:off x="1124712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673"/>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11247120" cy="777240"/>
          </a:xfrm>
          <a:prstGeom prst="rect">
            <a:avLst/>
          </a:prstGeom>
          <a:noFill/>
          <a:ln/>
        </p:spPr>
        <p:txBody>
          <a:bodyPr wrap="square" lIns="0" tIns="0" rIns="0" bIns="0" rtlCol="0" anchor="ctr"/>
          <a:lstStyle/>
          <a:p>
            <a:pPr marL="0" indent="0" algn="l">
              <a:buNone/>
            </a:pPr>
            <a:r>
              <a:rPr lang="en-US" sz="3000" b="1" dirty="0">
                <a:solidFill>
                  <a:schemeClr val="tx2"/>
                </a:solidFill>
              </a:rPr>
              <a:t>RQ1: success against the fixed budget</a:t>
            </a:r>
            <a:endParaRPr lang="en-US" sz="3000" dirty="0"/>
          </a:p>
        </p:txBody>
      </p:sp>
      <p:pic>
        <p:nvPicPr>
          <p:cNvPr id="3" name="Report Figure 4.1" descr="/tmp/claude-0/-home-claude/3b9ca3d8-d8cd-59f1-9b80-73904a5c6e11/scratchpad/r23/word/media/image6.png"/>
          <p:cNvPicPr>
            <a:picLocks noChangeAspect="1"/>
          </p:cNvPicPr>
          <p:nvPr/>
        </p:nvPicPr>
        <p:blipFill>
          <a:blip r:embed="rId3"/>
          <a:stretch>
            <a:fillRect/>
          </a:stretch>
        </p:blipFill>
        <p:spPr>
          <a:xfrm>
            <a:off x="457200" y="1106424"/>
            <a:ext cx="6675120" cy="4005072"/>
          </a:xfrm>
          <a:prstGeom prst="rect">
            <a:avLst/>
          </a:prstGeom>
        </p:spPr>
      </p:pic>
      <p:sp>
        <p:nvSpPr>
          <p:cNvPr id="4" name="Caption Figure 4.1"/>
          <p:cNvSpPr txBox="1"/>
          <p:nvPr/>
        </p:nvSpPr>
        <p:spPr>
          <a:xfrm>
            <a:off x="457200" y="5138928"/>
            <a:ext cx="6675120" cy="301752"/>
          </a:xfrm>
          <a:prstGeom prst="rect">
            <a:avLst/>
          </a:prstGeom>
          <a:noFill/>
          <a:ln/>
        </p:spPr>
        <p:txBody>
          <a:bodyPr wrap="square" lIns="0" tIns="0" rIns="0" bIns="0" rtlCol="0" anchor="t"/>
          <a:lstStyle/>
          <a:p>
            <a:pPr marL="0" indent="0" algn="ctr">
              <a:buNone/>
            </a:pPr>
            <a:r>
              <a:rPr lang="en-US" sz="1100" i="1" dirty="0">
                <a:solidFill>
                  <a:srgbClr val="5C6673"/>
                </a:solidFill>
              </a:rPr>
              <a:t>Report Figure 4.1: success rate against token budget with Wilson 95% bands (compare_abc.py)</a:t>
            </a:r>
            <a:endParaRPr lang="en-US" sz="1100" dirty="0"/>
          </a:p>
        </p:txBody>
      </p:sp>
      <p:graphicFrame>
        <p:nvGraphicFramePr>
          <p:cNvPr id="19" name="Table"/>
          <p:cNvGraphicFramePr>
            <a:graphicFrameLocks noGrp="1"/>
          </p:cNvGraphicFramePr>
          <p:nvPr>
            <p:extLst>
              <p:ext uri="{D42A27DB-BD31-4B8C-83A1-F6EECF244321}">
                <p14:modId xmlns:p14="http://schemas.microsoft.com/office/powerpoint/2010/main" val="1579011935"/>
              </p:ext>
            </p:extLst>
          </p:nvPr>
        </p:nvGraphicFramePr>
        <p:xfrm>
          <a:off x="7498080" y="1188720"/>
          <a:ext cx="4251960" cy="2176272"/>
        </p:xfrm>
        <a:graphic>
          <a:graphicData uri="http://schemas.openxmlformats.org/drawingml/2006/table">
            <a:tbl>
              <a:tblPr/>
              <a:tblGrid>
                <a:gridCol w="1005840">
                  <a:extLst>
                    <a:ext uri="{9D8B030D-6E8A-4147-A177-3AD203B41FA5}">
                      <a16:colId xmlns:a16="http://schemas.microsoft.com/office/drawing/2014/main" val="20000"/>
                    </a:ext>
                  </a:extLst>
                </a:gridCol>
                <a:gridCol w="105156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tblGrid>
              <a:tr h="310896">
                <a:tc>
                  <a:txBody>
                    <a:bodyPr/>
                    <a:lstStyle/>
                    <a:p>
                      <a:pPr marL="0" indent="0" algn="l">
                        <a:buNone/>
                      </a:pPr>
                      <a:r>
                        <a:rPr lang="en-US" sz="1300" b="1" dirty="0">
                          <a:solidFill>
                            <a:srgbClr val="FFFFFF"/>
                          </a:solidFill>
                        </a:rPr>
                        <a:t>Budget</a:t>
                      </a:r>
                      <a:endParaRPr lang="en-US" sz="13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14213D"/>
                    </a:solidFill>
                  </a:tcPr>
                </a:tc>
                <a:tc>
                  <a:txBody>
                    <a:bodyPr/>
                    <a:lstStyle/>
                    <a:p>
                      <a:pPr marL="0" indent="0" algn="l">
                        <a:buNone/>
                      </a:pPr>
                      <a:r>
                        <a:rPr lang="en-US" sz="1300" b="1" dirty="0">
                          <a:solidFill>
                            <a:srgbClr val="FFFFFF"/>
                          </a:solidFill>
                        </a:rPr>
                        <a:t>A</a:t>
                      </a:r>
                      <a:endParaRPr lang="en-US" sz="13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14213D"/>
                    </a:solidFill>
                  </a:tcPr>
                </a:tc>
                <a:tc>
                  <a:txBody>
                    <a:bodyPr/>
                    <a:lstStyle/>
                    <a:p>
                      <a:pPr marL="0" indent="0" algn="l">
                        <a:buNone/>
                      </a:pPr>
                      <a:r>
                        <a:rPr lang="en-US" sz="1300" b="1" dirty="0">
                          <a:solidFill>
                            <a:srgbClr val="FFFFFF"/>
                          </a:solidFill>
                        </a:rPr>
                        <a:t>B</a:t>
                      </a:r>
                      <a:endParaRPr lang="en-US" sz="13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14213D"/>
                    </a:solidFill>
                  </a:tcPr>
                </a:tc>
                <a:tc>
                  <a:txBody>
                    <a:bodyPr/>
                    <a:lstStyle/>
                    <a:p>
                      <a:pPr marL="0" indent="0" algn="l">
                        <a:buNone/>
                      </a:pPr>
                      <a:r>
                        <a:rPr lang="en-US" sz="1300" b="1" dirty="0">
                          <a:solidFill>
                            <a:srgbClr val="FFFFFF"/>
                          </a:solidFill>
                        </a:rPr>
                        <a:t>C</a:t>
                      </a:r>
                      <a:endParaRPr lang="en-US" sz="13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310896">
                <a:tc>
                  <a:txBody>
                    <a:bodyPr/>
                    <a:lstStyle/>
                    <a:p>
                      <a:pPr marL="0" indent="0" algn="l">
                        <a:buNone/>
                      </a:pPr>
                      <a:r>
                        <a:rPr lang="en-US" sz="1300" dirty="0">
                          <a:solidFill>
                            <a:srgbClr val="1B1F2A"/>
                          </a:solidFill>
                        </a:rPr>
                        <a:t>2k</a:t>
                      </a:r>
                      <a:endParaRPr lang="en-US" sz="13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B1F2A"/>
                          </a:solidFill>
                        </a:rPr>
                        <a:t>1.4%</a:t>
                      </a:r>
                      <a:endParaRPr lang="en-US" sz="13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B1F2A"/>
                          </a:solidFill>
                        </a:rPr>
                        <a:t>0.0%</a:t>
                      </a:r>
                      <a:endParaRPr lang="en-US" sz="13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B1F2A"/>
                          </a:solidFill>
                        </a:rPr>
                        <a:t>1.4%</a:t>
                      </a:r>
                      <a:endParaRPr lang="en-US" sz="13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lgn="l">
                        <a:buNone/>
                      </a:pPr>
                      <a:r>
                        <a:rPr lang="en-US" sz="1300" dirty="0">
                          <a:solidFill>
                            <a:srgbClr val="1B1F2A"/>
                          </a:solidFill>
                        </a:rPr>
                        <a:t>4k</a:t>
                      </a:r>
                      <a:endParaRPr lang="en-US" sz="13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tc>
                  <a:txBody>
                    <a:bodyPr/>
                    <a:lstStyle/>
                    <a:p>
                      <a:pPr marL="0" indent="0" algn="l">
                        <a:buNone/>
                      </a:pPr>
                      <a:r>
                        <a:rPr lang="en-US" sz="1300" dirty="0">
                          <a:solidFill>
                            <a:srgbClr val="1B1F2A"/>
                          </a:solidFill>
                        </a:rPr>
                        <a:t>5.5%</a:t>
                      </a:r>
                      <a:endParaRPr lang="en-US" sz="13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tc>
                  <a:txBody>
                    <a:bodyPr/>
                    <a:lstStyle/>
                    <a:p>
                      <a:pPr marL="0" indent="0" algn="l">
                        <a:buNone/>
                      </a:pPr>
                      <a:r>
                        <a:rPr lang="en-US" sz="1300" dirty="0">
                          <a:solidFill>
                            <a:srgbClr val="1B1F2A"/>
                          </a:solidFill>
                        </a:rPr>
                        <a:t>0.0%</a:t>
                      </a:r>
                      <a:endParaRPr lang="en-US" sz="13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tc>
                  <a:txBody>
                    <a:bodyPr/>
                    <a:lstStyle/>
                    <a:p>
                      <a:pPr marL="0" indent="0" algn="l">
                        <a:buNone/>
                      </a:pPr>
                      <a:r>
                        <a:rPr lang="en-US" sz="1300" dirty="0">
                          <a:solidFill>
                            <a:srgbClr val="1B1F2A"/>
                          </a:solidFill>
                        </a:rPr>
                        <a:t>6.1%</a:t>
                      </a:r>
                      <a:endParaRPr lang="en-US" sz="13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extLst>
                  <a:ext uri="{0D108BD9-81ED-4DB2-BD59-A6C34878D82A}">
                    <a16:rowId xmlns:a16="http://schemas.microsoft.com/office/drawing/2014/main" val="10002"/>
                  </a:ext>
                </a:extLst>
              </a:tr>
              <a:tr h="310896">
                <a:tc>
                  <a:txBody>
                    <a:bodyPr/>
                    <a:lstStyle/>
                    <a:p>
                      <a:pPr marL="0" indent="0" algn="l">
                        <a:buNone/>
                      </a:pPr>
                      <a:r>
                        <a:rPr lang="en-US" sz="1300" dirty="0">
                          <a:solidFill>
                            <a:srgbClr val="1B1F2A"/>
                          </a:solidFill>
                        </a:rPr>
                        <a:t>8k</a:t>
                      </a:r>
                      <a:endParaRPr lang="en-US" sz="13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B1F2A"/>
                          </a:solidFill>
                        </a:rPr>
                        <a:t>12.5%</a:t>
                      </a:r>
                      <a:endParaRPr lang="en-US" sz="13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B1F2A"/>
                          </a:solidFill>
                        </a:rPr>
                        <a:t>5.7%</a:t>
                      </a:r>
                      <a:endParaRPr lang="en-US" sz="13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B1F2A"/>
                          </a:solidFill>
                        </a:rPr>
                        <a:t>11.0%</a:t>
                      </a:r>
                      <a:endParaRPr lang="en-US" sz="13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lgn="l">
                        <a:buNone/>
                      </a:pPr>
                      <a:r>
                        <a:rPr lang="en-US" sz="1300" dirty="0">
                          <a:solidFill>
                            <a:srgbClr val="1B1F2A"/>
                          </a:solidFill>
                        </a:rPr>
                        <a:t>16k</a:t>
                      </a:r>
                      <a:endParaRPr lang="en-US" sz="13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tc>
                  <a:txBody>
                    <a:bodyPr/>
                    <a:lstStyle/>
                    <a:p>
                      <a:pPr marL="0" indent="0" algn="l">
                        <a:buNone/>
                      </a:pPr>
                      <a:r>
                        <a:rPr lang="en-US" sz="1300" dirty="0">
                          <a:solidFill>
                            <a:srgbClr val="1B1F2A"/>
                          </a:solidFill>
                        </a:rPr>
                        <a:t>21.1%</a:t>
                      </a:r>
                      <a:endParaRPr lang="en-US" sz="13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tc>
                  <a:txBody>
                    <a:bodyPr/>
                    <a:lstStyle/>
                    <a:p>
                      <a:pPr marL="0" indent="0" algn="l">
                        <a:buNone/>
                      </a:pPr>
                      <a:r>
                        <a:rPr lang="en-US" sz="1300" dirty="0">
                          <a:solidFill>
                            <a:srgbClr val="1B1F2A"/>
                          </a:solidFill>
                        </a:rPr>
                        <a:t>7.8%</a:t>
                      </a:r>
                      <a:endParaRPr lang="en-US" sz="13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tc>
                  <a:txBody>
                    <a:bodyPr/>
                    <a:lstStyle/>
                    <a:p>
                      <a:pPr marL="0" indent="0" algn="l">
                        <a:buNone/>
                      </a:pPr>
                      <a:r>
                        <a:rPr lang="en-US" sz="1300" dirty="0">
                          <a:solidFill>
                            <a:srgbClr val="1B1F2A"/>
                          </a:solidFill>
                        </a:rPr>
                        <a:t>17.3%</a:t>
                      </a:r>
                      <a:endParaRPr lang="en-US" sz="13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extLst>
                  <a:ext uri="{0D108BD9-81ED-4DB2-BD59-A6C34878D82A}">
                    <a16:rowId xmlns:a16="http://schemas.microsoft.com/office/drawing/2014/main" val="10004"/>
                  </a:ext>
                </a:extLst>
              </a:tr>
              <a:tr h="310896">
                <a:tc>
                  <a:txBody>
                    <a:bodyPr/>
                    <a:lstStyle/>
                    <a:p>
                      <a:pPr marL="0" indent="0" algn="l">
                        <a:buNone/>
                      </a:pPr>
                      <a:r>
                        <a:rPr lang="en-US" sz="1300" dirty="0">
                          <a:solidFill>
                            <a:srgbClr val="1B1F2A"/>
                          </a:solidFill>
                        </a:rPr>
                        <a:t>32k</a:t>
                      </a:r>
                      <a:endParaRPr lang="en-US" sz="13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B1F2A"/>
                          </a:solidFill>
                        </a:rPr>
                        <a:t>23.5%</a:t>
                      </a:r>
                      <a:endParaRPr lang="en-US" sz="13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B1F2A"/>
                          </a:solidFill>
                        </a:rPr>
                        <a:t>13.2%</a:t>
                      </a:r>
                      <a:endParaRPr lang="en-US" sz="13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B1F2A"/>
                          </a:solidFill>
                        </a:rPr>
                        <a:t>23.5%</a:t>
                      </a:r>
                      <a:endParaRPr lang="en-US" sz="13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lgn="l">
                        <a:buNone/>
                      </a:pPr>
                      <a:r>
                        <a:rPr lang="en-US" sz="1300" dirty="0">
                          <a:solidFill>
                            <a:srgbClr val="1B1F2A"/>
                          </a:solidFill>
                        </a:rPr>
                        <a:t>64k</a:t>
                      </a:r>
                      <a:endParaRPr lang="en-US" sz="13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tc>
                  <a:txBody>
                    <a:bodyPr/>
                    <a:lstStyle/>
                    <a:p>
                      <a:pPr marL="0" indent="0" algn="l">
                        <a:buNone/>
                      </a:pPr>
                      <a:r>
                        <a:rPr lang="en-US" sz="1300" dirty="0">
                          <a:solidFill>
                            <a:srgbClr val="1B1F2A"/>
                          </a:solidFill>
                        </a:rPr>
                        <a:t>23.6%</a:t>
                      </a:r>
                      <a:endParaRPr lang="en-US" sz="13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tc>
                  <a:txBody>
                    <a:bodyPr/>
                    <a:lstStyle/>
                    <a:p>
                      <a:pPr marL="0" indent="0" algn="l">
                        <a:buNone/>
                      </a:pPr>
                      <a:r>
                        <a:rPr lang="en-US" sz="1300" dirty="0">
                          <a:solidFill>
                            <a:srgbClr val="1B1F2A"/>
                          </a:solidFill>
                        </a:rPr>
                        <a:t>22.6%</a:t>
                      </a:r>
                      <a:endParaRPr lang="en-US" sz="13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tc>
                  <a:txBody>
                    <a:bodyPr/>
                    <a:lstStyle/>
                    <a:p>
                      <a:pPr marL="0" indent="0" algn="l">
                        <a:buNone/>
                      </a:pPr>
                      <a:r>
                        <a:rPr lang="en-US" sz="1300" dirty="0">
                          <a:solidFill>
                            <a:srgbClr val="1B1F2A"/>
                          </a:solidFill>
                        </a:rPr>
                        <a:t>22.9%</a:t>
                      </a:r>
                      <a:endParaRPr lang="en-US" sz="13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extLst>
                  <a:ext uri="{0D108BD9-81ED-4DB2-BD59-A6C34878D82A}">
                    <a16:rowId xmlns:a16="http://schemas.microsoft.com/office/drawing/2014/main" val="10006"/>
                  </a:ext>
                </a:extLst>
              </a:tr>
            </a:tbl>
          </a:graphicData>
        </a:graphic>
      </p:graphicFrame>
      <p:sp>
        <p:nvSpPr>
          <p:cNvPr id="6" name="Caption Report Table"/>
          <p:cNvSpPr txBox="1"/>
          <p:nvPr/>
        </p:nvSpPr>
        <p:spPr>
          <a:xfrm>
            <a:off x="7498080" y="3474720"/>
            <a:ext cx="4251960" cy="274320"/>
          </a:xfrm>
          <a:prstGeom prst="rect">
            <a:avLst/>
          </a:prstGeom>
          <a:noFill/>
          <a:ln/>
        </p:spPr>
        <p:txBody>
          <a:bodyPr wrap="square" lIns="0" tIns="0" rIns="0" bIns="0" rtlCol="0" anchor="t"/>
          <a:lstStyle/>
          <a:p>
            <a:pPr marL="0" indent="0" algn="l">
              <a:buNone/>
            </a:pPr>
            <a:r>
              <a:rPr lang="en-US" sz="1100" i="1" dirty="0">
                <a:solidFill>
                  <a:srgbClr val="5C6673"/>
                </a:solidFill>
              </a:rPr>
              <a:t>Report Table 4.2 (condensed): success rate by budget; CIs in the report</a:t>
            </a:r>
            <a:endParaRPr lang="en-US" sz="1100" dirty="0"/>
          </a:p>
        </p:txBody>
      </p:sp>
      <p:sp>
        <p:nvSpPr>
          <p:cNvPr id="7" name="Card"/>
          <p:cNvSpPr/>
          <p:nvPr/>
        </p:nvSpPr>
        <p:spPr>
          <a:xfrm>
            <a:off x="7498080" y="3886200"/>
            <a:ext cx="4251960" cy="2103120"/>
          </a:xfrm>
          <a:prstGeom prst="roundRect">
            <a:avLst>
              <a:gd name="adj" fmla="val 5217"/>
            </a:avLst>
          </a:prstGeom>
          <a:solidFill>
            <a:srgbClr val="EEF1F6"/>
          </a:solidFill>
          <a:ln w="12700">
            <a:solidFill>
              <a:srgbClr val="EEF1F6"/>
            </a:solidFill>
            <a:prstDash val="solid"/>
          </a:ln>
        </p:spPr>
        <p:txBody>
          <a:bodyPr/>
          <a:lstStyle/>
          <a:p>
            <a:endParaRPr lang="en-GB"/>
          </a:p>
        </p:txBody>
      </p:sp>
      <p:sp>
        <p:nvSpPr>
          <p:cNvPr id="8" name="Heading Paired exact McNemar tests (Table 4.4)"/>
          <p:cNvSpPr txBox="1"/>
          <p:nvPr/>
        </p:nvSpPr>
        <p:spPr>
          <a:xfrm>
            <a:off x="7680960" y="3977640"/>
            <a:ext cx="3931920" cy="365760"/>
          </a:xfrm>
          <a:prstGeom prst="rect">
            <a:avLst/>
          </a:prstGeom>
          <a:noFill/>
          <a:ln/>
        </p:spPr>
        <p:txBody>
          <a:bodyPr wrap="square" lIns="0" tIns="0" rIns="0" bIns="0" rtlCol="0" anchor="ctr"/>
          <a:lstStyle/>
          <a:p>
            <a:pPr marL="0" indent="0" algn="l">
              <a:buNone/>
            </a:pPr>
            <a:r>
              <a:rPr lang="en-US" sz="1350" b="1" dirty="0">
                <a:solidFill>
                  <a:srgbClr val="14213D"/>
                </a:solidFill>
              </a:rPr>
              <a:t>Paired exact McNemar tests (Table 4.4)</a:t>
            </a:r>
            <a:endParaRPr lang="en-US" sz="1350" dirty="0"/>
          </a:p>
        </p:txBody>
      </p:sp>
      <p:sp>
        <p:nvSpPr>
          <p:cNvPr id="9" name="Bullets"/>
          <p:cNvSpPr txBox="1"/>
          <p:nvPr/>
        </p:nvSpPr>
        <p:spPr>
          <a:xfrm>
            <a:off x="7680960" y="4389120"/>
            <a:ext cx="3931920" cy="1554480"/>
          </a:xfrm>
          <a:prstGeom prst="rect">
            <a:avLst/>
          </a:prstGeom>
          <a:noFill/>
          <a:ln/>
        </p:spPr>
        <p:txBody>
          <a:bodyPr wrap="square" lIns="0" tIns="0" rIns="0" bIns="0" rtlCol="0" anchor="t"/>
          <a:lstStyle/>
          <a:p>
            <a:pPr marL="177800" indent="-177800" algn="l">
              <a:spcAft>
                <a:spcPts val="400"/>
              </a:spcAft>
              <a:buSzPct val="100000"/>
              <a:buChar char="•"/>
            </a:pPr>
            <a:r>
              <a:rPr lang="en-US" sz="1200" dirty="0">
                <a:solidFill>
                  <a:srgbClr val="1B1F2A"/>
                </a:solidFill>
              </a:rPr>
              <a:t>A &gt; B: 192 cells A only vs 24 B only, p &lt; 0.0001</a:t>
            </a:r>
            <a:endParaRPr lang="en-US" sz="1200" dirty="0"/>
          </a:p>
          <a:p>
            <a:pPr marL="177800" indent="-177800" algn="l">
              <a:spcAft>
                <a:spcPts val="400"/>
              </a:spcAft>
              <a:buSzPct val="100000"/>
              <a:buChar char="•"/>
            </a:pPr>
            <a:r>
              <a:rPr lang="en-US" sz="1200" dirty="0">
                <a:solidFill>
                  <a:srgbClr val="1B1F2A"/>
                </a:solidFill>
              </a:rPr>
              <a:t>C &gt; B: 183 vs 34, p &lt; 0.0001</a:t>
            </a:r>
            <a:endParaRPr lang="en-US" sz="1200" dirty="0"/>
          </a:p>
          <a:p>
            <a:pPr marL="177800" indent="-177800" algn="l">
              <a:spcAft>
                <a:spcPts val="400"/>
              </a:spcAft>
              <a:buSzPct val="100000"/>
              <a:buChar char="•"/>
            </a:pPr>
            <a:r>
              <a:rPr lang="en-US" sz="1200" dirty="0">
                <a:solidFill>
                  <a:srgbClr val="1B1F2A"/>
                </a:solidFill>
              </a:rPr>
              <a:t>A vs C: 83 vs 60, p = 0.065 (not distinguishable)</a:t>
            </a:r>
            <a:endParaRPr lang="en-US" sz="1200" dirty="0"/>
          </a:p>
          <a:p>
            <a:pPr marL="177800" indent="-177800" algn="l">
              <a:spcAft>
                <a:spcPts val="400"/>
              </a:spcAft>
              <a:buSzPct val="100000"/>
              <a:buChar char="•"/>
            </a:pPr>
            <a:r>
              <a:rPr lang="en-US" sz="1200" dirty="0">
                <a:solidFill>
                  <a:srgbClr val="1B1F2A"/>
                </a:solidFill>
              </a:rPr>
              <a:t>B needed 2 to 4 times the budget to match A: B at 64k ≈ A at 32k; B at 32k ≈ A at 8k</a:t>
            </a:r>
            <a:endParaRPr lang="en-US" sz="1200" dirty="0"/>
          </a:p>
        </p:txBody>
      </p:sp>
      <p:sp>
        <p:nvSpPr>
          <p:cNvPr id="25" name="Slide Number Placeholder 0"/>
          <p:cNvSpPr>
            <a:spLocks noGrp="1"/>
          </p:cNvSpPr>
          <p:nvPr>
            <p:ph type="sldNum" sz="quarter" idx="4294967295"/>
          </p:nvPr>
        </p:nvSpPr>
        <p:spPr>
          <a:xfrm>
            <a:off x="1124712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673"/>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11247120" cy="777240"/>
          </a:xfrm>
          <a:prstGeom prst="rect">
            <a:avLst/>
          </a:prstGeom>
          <a:noFill/>
          <a:ln/>
        </p:spPr>
        <p:txBody>
          <a:bodyPr wrap="square" lIns="0" tIns="0" rIns="0" bIns="0" rtlCol="0" anchor="ctr"/>
          <a:lstStyle/>
          <a:p>
            <a:pPr marL="0" indent="0" algn="l">
              <a:buNone/>
            </a:pPr>
            <a:r>
              <a:rPr lang="en-US" sz="3000" b="1" dirty="0">
                <a:solidFill>
                  <a:schemeClr val="tx2"/>
                </a:solidFill>
              </a:rPr>
              <a:t>RQ1: what the tokens actually bought, and what the router kept</a:t>
            </a:r>
            <a:endParaRPr lang="en-US" sz="3000" dirty="0"/>
          </a:p>
        </p:txBody>
      </p:sp>
      <p:pic>
        <p:nvPicPr>
          <p:cNvPr id="3" name="Report Figure 4.2" descr="/tmp/claude-0/-home-claude/3b9ca3d8-d8cd-59f1-9b80-73904a5c6e11/scratchpad/r23/word/media/image7.png"/>
          <p:cNvPicPr>
            <a:picLocks noChangeAspect="1"/>
          </p:cNvPicPr>
          <p:nvPr/>
        </p:nvPicPr>
        <p:blipFill>
          <a:blip r:embed="rId3"/>
          <a:stretch>
            <a:fillRect/>
          </a:stretch>
        </p:blipFill>
        <p:spPr>
          <a:xfrm>
            <a:off x="464820" y="1097280"/>
            <a:ext cx="6019800" cy="3611880"/>
          </a:xfrm>
          <a:prstGeom prst="rect">
            <a:avLst/>
          </a:prstGeom>
        </p:spPr>
      </p:pic>
      <p:sp>
        <p:nvSpPr>
          <p:cNvPr id="4" name="Caption Figure 4.2"/>
          <p:cNvSpPr txBox="1"/>
          <p:nvPr/>
        </p:nvSpPr>
        <p:spPr>
          <a:xfrm>
            <a:off x="457200" y="4727448"/>
            <a:ext cx="6035040" cy="301752"/>
          </a:xfrm>
          <a:prstGeom prst="rect">
            <a:avLst/>
          </a:prstGeom>
          <a:noFill/>
          <a:ln/>
        </p:spPr>
        <p:txBody>
          <a:bodyPr wrap="square" lIns="0" tIns="0" rIns="0" bIns="0" rtlCol="0" anchor="t"/>
          <a:lstStyle/>
          <a:p>
            <a:pPr marL="0" indent="0" algn="ctr">
              <a:buNone/>
            </a:pPr>
            <a:r>
              <a:rPr lang="en-US" sz="1100" i="1" dirty="0">
                <a:solidFill>
                  <a:srgbClr val="5C6673"/>
                </a:solidFill>
              </a:rPr>
              <a:t>Report Figure 4.2: success against mean tokens actually spent per episode; labels give the budget</a:t>
            </a:r>
            <a:endParaRPr lang="en-US" sz="1100" dirty="0"/>
          </a:p>
        </p:txBody>
      </p:sp>
      <p:graphicFrame>
        <p:nvGraphicFramePr>
          <p:cNvPr id="20" name="Table"/>
          <p:cNvGraphicFramePr>
            <a:graphicFrameLocks noGrp="1"/>
          </p:cNvGraphicFramePr>
          <p:nvPr>
            <p:extLst>
              <p:ext uri="{D42A27DB-BD31-4B8C-83A1-F6EECF244321}">
                <p14:modId xmlns:p14="http://schemas.microsoft.com/office/powerpoint/2010/main" val="1579011935"/>
              </p:ext>
            </p:extLst>
          </p:nvPr>
        </p:nvGraphicFramePr>
        <p:xfrm>
          <a:off x="6766560" y="1188720"/>
          <a:ext cx="4983480" cy="1645920"/>
        </p:xfrm>
        <a:graphic>
          <a:graphicData uri="http://schemas.openxmlformats.org/drawingml/2006/table">
            <a:tbl>
              <a:tblPr/>
              <a:tblGrid>
                <a:gridCol w="187452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gridCol w="640080">
                  <a:extLst>
                    <a:ext uri="{9D8B030D-6E8A-4147-A177-3AD203B41FA5}">
                      <a16:colId xmlns:a16="http://schemas.microsoft.com/office/drawing/2014/main" val="20004"/>
                    </a:ext>
                  </a:extLst>
                </a:gridCol>
              </a:tblGrid>
              <a:tr h="329184">
                <a:tc>
                  <a:txBody>
                    <a:bodyPr/>
                    <a:lstStyle/>
                    <a:p>
                      <a:pPr marL="0" indent="0" algn="l">
                        <a:buNone/>
                      </a:pPr>
                      <a:r>
                        <a:rPr lang="en-US" sz="1200" b="1" dirty="0">
                          <a:solidFill>
                            <a:srgbClr val="FFFFFF"/>
                          </a:solidFill>
                        </a:rPr>
                        <a:t>Policy</a:t>
                      </a:r>
                      <a:endParaRPr lang="en-US" sz="12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14213D"/>
                    </a:solidFill>
                  </a:tcPr>
                </a:tc>
                <a:tc>
                  <a:txBody>
                    <a:bodyPr/>
                    <a:lstStyle/>
                    <a:p>
                      <a:pPr marL="0" indent="0" algn="l">
                        <a:buNone/>
                      </a:pPr>
                      <a:r>
                        <a:rPr lang="en-US" sz="1200" b="1" dirty="0">
                          <a:solidFill>
                            <a:srgbClr val="FFFFFF"/>
                          </a:solidFill>
                        </a:rPr>
                        <a:t>Successes</a:t>
                      </a:r>
                      <a:endParaRPr lang="en-US" sz="12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14213D"/>
                    </a:solidFill>
                  </a:tcPr>
                </a:tc>
                <a:tc>
                  <a:txBody>
                    <a:bodyPr/>
                    <a:lstStyle/>
                    <a:p>
                      <a:pPr marL="0" indent="0" algn="l">
                        <a:buNone/>
                      </a:pPr>
                      <a:r>
                        <a:rPr lang="en-US" sz="1200" b="1" dirty="0">
                          <a:solidFill>
                            <a:srgbClr val="FFFFFF"/>
                          </a:solidFill>
                        </a:rPr>
                        <a:t>Kept</a:t>
                      </a:r>
                      <a:endParaRPr lang="en-US" sz="12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14213D"/>
                    </a:solidFill>
                  </a:tcPr>
                </a:tc>
                <a:tc>
                  <a:txBody>
                    <a:bodyPr/>
                    <a:lstStyle/>
                    <a:p>
                      <a:pPr marL="0" indent="0" algn="l">
                        <a:buNone/>
                      </a:pPr>
                      <a:r>
                        <a:rPr lang="en-US" sz="1200" b="1" dirty="0">
                          <a:solidFill>
                            <a:srgbClr val="FFFFFF"/>
                          </a:solidFill>
                        </a:rPr>
                        <a:t>Tokens</a:t>
                      </a:r>
                      <a:endParaRPr lang="en-US" sz="12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14213D"/>
                    </a:solidFill>
                  </a:tcPr>
                </a:tc>
                <a:tc>
                  <a:txBody>
                    <a:bodyPr/>
                    <a:lstStyle/>
                    <a:p>
                      <a:pPr marL="0" indent="0" algn="l">
                        <a:buNone/>
                      </a:pPr>
                      <a:r>
                        <a:rPr lang="en-US" sz="1200" b="1" dirty="0">
                          <a:solidFill>
                            <a:srgbClr val="FFFFFF"/>
                          </a:solidFill>
                        </a:rPr>
                        <a:t>Saved</a:t>
                      </a:r>
                      <a:endParaRPr lang="en-US" sz="12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329184">
                <a:tc>
                  <a:txBody>
                    <a:bodyPr/>
                    <a:lstStyle/>
                    <a:p>
                      <a:pPr marL="0" indent="0" algn="l">
                        <a:buNone/>
                      </a:pPr>
                      <a:r>
                        <a:rPr lang="en-US" sz="1200" dirty="0">
                          <a:solidFill>
                            <a:srgbClr val="1B1F2A"/>
                          </a:solidFill>
                        </a:rPr>
                        <a:t>Always A</a:t>
                      </a:r>
                      <a:endParaRPr lang="en-US" sz="12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1F2A"/>
                          </a:solidFill>
                        </a:rPr>
                        <a:t>352</a:t>
                      </a:r>
                      <a:endParaRPr lang="en-US" sz="12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1F2A"/>
                          </a:solidFill>
                        </a:rPr>
                        <a:t>100%</a:t>
                      </a:r>
                      <a:endParaRPr lang="en-US" sz="12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1F2A"/>
                          </a:solidFill>
                        </a:rPr>
                        <a:t>26.58 M</a:t>
                      </a:r>
                      <a:endParaRPr lang="en-US" sz="12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1F2A"/>
                          </a:solidFill>
                        </a:rPr>
                        <a:t>0%</a:t>
                      </a:r>
                      <a:endParaRPr lang="en-US" sz="12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lgn="l">
                        <a:buNone/>
                      </a:pPr>
                      <a:r>
                        <a:rPr lang="en-US" sz="1200" dirty="0">
                          <a:solidFill>
                            <a:srgbClr val="1B1F2A"/>
                          </a:solidFill>
                        </a:rPr>
                        <a:t>Always B</a:t>
                      </a:r>
                      <a:endParaRPr lang="en-US" sz="12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tc>
                  <a:txBody>
                    <a:bodyPr/>
                    <a:lstStyle/>
                    <a:p>
                      <a:pPr marL="0" indent="0" algn="l">
                        <a:buNone/>
                      </a:pPr>
                      <a:r>
                        <a:rPr lang="en-US" sz="1200" dirty="0">
                          <a:solidFill>
                            <a:srgbClr val="1B1F2A"/>
                          </a:solidFill>
                        </a:rPr>
                        <a:t>190</a:t>
                      </a:r>
                      <a:endParaRPr lang="en-US" sz="12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tc>
                  <a:txBody>
                    <a:bodyPr/>
                    <a:lstStyle/>
                    <a:p>
                      <a:pPr marL="0" indent="0" algn="l">
                        <a:buNone/>
                      </a:pPr>
                      <a:r>
                        <a:rPr lang="en-US" sz="1200" dirty="0">
                          <a:solidFill>
                            <a:srgbClr val="1B1F2A"/>
                          </a:solidFill>
                        </a:rPr>
                        <a:t>54%</a:t>
                      </a:r>
                      <a:endParaRPr lang="en-US" sz="12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tc>
                  <a:txBody>
                    <a:bodyPr/>
                    <a:lstStyle/>
                    <a:p>
                      <a:pPr marL="0" indent="0" algn="l">
                        <a:buNone/>
                      </a:pPr>
                      <a:r>
                        <a:rPr lang="en-US" sz="1200" dirty="0">
                          <a:solidFill>
                            <a:srgbClr val="1B1F2A"/>
                          </a:solidFill>
                        </a:rPr>
                        <a:t>39.45 M</a:t>
                      </a:r>
                      <a:endParaRPr lang="en-US" sz="12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tc>
                  <a:txBody>
                    <a:bodyPr/>
                    <a:lstStyle/>
                    <a:p>
                      <a:pPr marL="0" indent="0" algn="l">
                        <a:buNone/>
                      </a:pPr>
                      <a:r>
                        <a:rPr lang="en-US" sz="1200" dirty="0">
                          <a:solidFill>
                            <a:srgbClr val="1B1F2A"/>
                          </a:solidFill>
                        </a:rPr>
                        <a:t>−48%</a:t>
                      </a:r>
                      <a:endParaRPr lang="en-US" sz="12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extLst>
                  <a:ext uri="{0D108BD9-81ED-4DB2-BD59-A6C34878D82A}">
                    <a16:rowId xmlns:a16="http://schemas.microsoft.com/office/drawing/2014/main" val="10002"/>
                  </a:ext>
                </a:extLst>
              </a:tr>
              <a:tr h="329184">
                <a:tc>
                  <a:txBody>
                    <a:bodyPr/>
                    <a:lstStyle/>
                    <a:p>
                      <a:pPr marL="0" indent="0" algn="l">
                        <a:buNone/>
                      </a:pPr>
                      <a:r>
                        <a:rPr lang="en-US" sz="1200" b="1" dirty="0">
                          <a:solidFill>
                            <a:srgbClr val="2CA02C"/>
                          </a:solidFill>
                        </a:rPr>
                        <a:t>Strategy C (live router)</a:t>
                      </a:r>
                      <a:endParaRPr lang="en-US" sz="12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tc>
                  <a:txBody>
                    <a:bodyPr/>
                    <a:lstStyle/>
                    <a:p>
                      <a:pPr marL="0" indent="0" algn="l">
                        <a:buNone/>
                      </a:pPr>
                      <a:r>
                        <a:rPr lang="en-US" sz="1200" b="1" dirty="0">
                          <a:solidFill>
                            <a:srgbClr val="1B1F2A"/>
                          </a:solidFill>
                        </a:rPr>
                        <a:t>329</a:t>
                      </a:r>
                      <a:endParaRPr lang="en-US" sz="12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tc>
                  <a:txBody>
                    <a:bodyPr/>
                    <a:lstStyle/>
                    <a:p>
                      <a:pPr marL="0" indent="0" algn="l">
                        <a:buNone/>
                      </a:pPr>
                      <a:r>
                        <a:rPr lang="en-US" sz="1200" b="1" dirty="0">
                          <a:solidFill>
                            <a:srgbClr val="1B1F2A"/>
                          </a:solidFill>
                        </a:rPr>
                        <a:t>93%</a:t>
                      </a:r>
                      <a:endParaRPr lang="en-US" sz="12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tc>
                  <a:txBody>
                    <a:bodyPr/>
                    <a:lstStyle/>
                    <a:p>
                      <a:pPr marL="0" indent="0" algn="l">
                        <a:buNone/>
                      </a:pPr>
                      <a:r>
                        <a:rPr lang="en-US" sz="1200" b="1" dirty="0">
                          <a:solidFill>
                            <a:srgbClr val="1B1F2A"/>
                          </a:solidFill>
                        </a:rPr>
                        <a:t>21.36 M</a:t>
                      </a:r>
                      <a:endParaRPr lang="en-US" sz="12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tc>
                  <a:txBody>
                    <a:bodyPr/>
                    <a:lstStyle/>
                    <a:p>
                      <a:pPr marL="0" indent="0" algn="l">
                        <a:buNone/>
                      </a:pPr>
                      <a:r>
                        <a:rPr lang="en-US" sz="1200" b="1" dirty="0">
                          <a:solidFill>
                            <a:srgbClr val="1B1F2A"/>
                          </a:solidFill>
                        </a:rPr>
                        <a:t>20%</a:t>
                      </a:r>
                      <a:endParaRPr lang="en-US" sz="12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9184">
                <a:tc>
                  <a:txBody>
                    <a:bodyPr/>
                    <a:lstStyle/>
                    <a:p>
                      <a:pPr marL="0" indent="0" algn="l">
                        <a:buNone/>
                      </a:pPr>
                      <a:r>
                        <a:rPr lang="en-US" sz="1200" dirty="0">
                          <a:solidFill>
                            <a:srgbClr val="1B1F2A"/>
                          </a:solidFill>
                        </a:rPr>
                        <a:t>Oracle (hindsight)</a:t>
                      </a:r>
                      <a:endParaRPr lang="en-US" sz="12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tc>
                  <a:txBody>
                    <a:bodyPr/>
                    <a:lstStyle/>
                    <a:p>
                      <a:pPr marL="0" indent="0" algn="l">
                        <a:buNone/>
                      </a:pPr>
                      <a:r>
                        <a:rPr lang="en-US" sz="1200" dirty="0">
                          <a:solidFill>
                            <a:srgbClr val="1B1F2A"/>
                          </a:solidFill>
                        </a:rPr>
                        <a:t>372</a:t>
                      </a:r>
                      <a:endParaRPr lang="en-US" sz="12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tc>
                  <a:txBody>
                    <a:bodyPr/>
                    <a:lstStyle/>
                    <a:p>
                      <a:pPr marL="0" indent="0" algn="l">
                        <a:buNone/>
                      </a:pPr>
                      <a:r>
                        <a:rPr lang="en-US" sz="1200" dirty="0">
                          <a:solidFill>
                            <a:srgbClr val="1B1F2A"/>
                          </a:solidFill>
                        </a:rPr>
                        <a:t>106%</a:t>
                      </a:r>
                      <a:endParaRPr lang="en-US" sz="12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tc>
                  <a:txBody>
                    <a:bodyPr/>
                    <a:lstStyle/>
                    <a:p>
                      <a:pPr marL="0" indent="0" algn="l">
                        <a:buNone/>
                      </a:pPr>
                      <a:r>
                        <a:rPr lang="en-US" sz="1200" dirty="0">
                          <a:solidFill>
                            <a:srgbClr val="1B1F2A"/>
                          </a:solidFill>
                        </a:rPr>
                        <a:t>3.44 M</a:t>
                      </a:r>
                      <a:endParaRPr lang="en-US" sz="12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tc>
                  <a:txBody>
                    <a:bodyPr/>
                    <a:lstStyle/>
                    <a:p>
                      <a:pPr marL="0" indent="0" algn="l">
                        <a:buNone/>
                      </a:pPr>
                      <a:r>
                        <a:rPr lang="en-US" sz="1200" dirty="0">
                          <a:solidFill>
                            <a:srgbClr val="1B1F2A"/>
                          </a:solidFill>
                        </a:rPr>
                        <a:t>87%</a:t>
                      </a:r>
                      <a:endParaRPr lang="en-US" sz="120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extLst>
                  <a:ext uri="{0D108BD9-81ED-4DB2-BD59-A6C34878D82A}">
                    <a16:rowId xmlns:a16="http://schemas.microsoft.com/office/drawing/2014/main" val="10004"/>
                  </a:ext>
                </a:extLst>
              </a:tr>
            </a:tbl>
          </a:graphicData>
        </a:graphic>
      </p:graphicFrame>
      <p:sp>
        <p:nvSpPr>
          <p:cNvPr id="6" name="Caption Report Table"/>
          <p:cNvSpPr txBox="1"/>
          <p:nvPr/>
        </p:nvSpPr>
        <p:spPr>
          <a:xfrm>
            <a:off x="6766560" y="2944368"/>
            <a:ext cx="4983480" cy="274320"/>
          </a:xfrm>
          <a:prstGeom prst="rect">
            <a:avLst/>
          </a:prstGeom>
          <a:noFill/>
          <a:ln/>
        </p:spPr>
        <p:txBody>
          <a:bodyPr wrap="square" lIns="0" tIns="0" rIns="0" bIns="0" rtlCol="0" anchor="t"/>
          <a:lstStyle/>
          <a:p>
            <a:pPr marL="0" indent="0" algn="l">
              <a:buNone/>
            </a:pPr>
            <a:r>
              <a:rPr lang="en-US" sz="1100" i="1" dirty="0">
                <a:solidFill>
                  <a:srgbClr val="5C6673"/>
                </a:solidFill>
              </a:rPr>
              <a:t>Report Table 4.3: C against fixed policies on the 2,463 cells all three attempted</a:t>
            </a:r>
            <a:endParaRPr lang="en-US" sz="1100" dirty="0"/>
          </a:p>
        </p:txBody>
      </p:sp>
      <p:sp>
        <p:nvSpPr>
          <p:cNvPr id="7" name="Stat 93%"/>
          <p:cNvSpPr txBox="1"/>
          <p:nvPr/>
        </p:nvSpPr>
        <p:spPr>
          <a:xfrm>
            <a:off x="6766560" y="3154680"/>
            <a:ext cx="2286000" cy="822960"/>
          </a:xfrm>
          <a:prstGeom prst="rect">
            <a:avLst/>
          </a:prstGeom>
          <a:noFill/>
          <a:ln/>
        </p:spPr>
        <p:txBody>
          <a:bodyPr wrap="square" lIns="0" tIns="0" rIns="0" bIns="0" rtlCol="0" anchor="b"/>
          <a:lstStyle/>
          <a:p>
            <a:pPr marL="0" indent="0" algn="l">
              <a:buNone/>
            </a:pPr>
            <a:r>
              <a:rPr lang="en-US" sz="4000" b="1" dirty="0">
                <a:solidFill>
                  <a:srgbClr val="2CA02C"/>
                </a:solidFill>
                <a:latin typeface="Cambria" pitchFamily="34" charset="0"/>
                <a:ea typeface="Cambria" pitchFamily="34" charset="-122"/>
                <a:cs typeface="Cambria" pitchFamily="34" charset="-120"/>
              </a:rPr>
              <a:t>93%</a:t>
            </a:r>
            <a:endParaRPr lang="en-US" sz="4000" dirty="0"/>
          </a:p>
        </p:txBody>
      </p:sp>
      <p:sp>
        <p:nvSpPr>
          <p:cNvPr id="8" name="Stat label 93%"/>
          <p:cNvSpPr txBox="1"/>
          <p:nvPr/>
        </p:nvSpPr>
        <p:spPr>
          <a:xfrm>
            <a:off x="6766560" y="3995928"/>
            <a:ext cx="2286000" cy="685800"/>
          </a:xfrm>
          <a:prstGeom prst="rect">
            <a:avLst/>
          </a:prstGeom>
          <a:noFill/>
          <a:ln/>
        </p:spPr>
        <p:txBody>
          <a:bodyPr wrap="square" lIns="0" tIns="0" rIns="0" bIns="0" rtlCol="0" anchor="t"/>
          <a:lstStyle/>
          <a:p>
            <a:pPr marL="0" indent="0" algn="l">
              <a:buNone/>
            </a:pPr>
            <a:r>
              <a:rPr lang="en-US" sz="1300" dirty="0">
                <a:solidFill>
                  <a:srgbClr val="5C6673"/>
                </a:solidFill>
              </a:rPr>
              <a:t>of A's successes kept by the live router (offline prediction 91.8%)</a:t>
            </a:r>
            <a:endParaRPr lang="en-US" sz="1300" dirty="0"/>
          </a:p>
        </p:txBody>
      </p:sp>
      <p:sp>
        <p:nvSpPr>
          <p:cNvPr id="9" name="Stat 20%"/>
          <p:cNvSpPr txBox="1"/>
          <p:nvPr/>
        </p:nvSpPr>
        <p:spPr>
          <a:xfrm>
            <a:off x="9326880" y="3154680"/>
            <a:ext cx="2377440" cy="822960"/>
          </a:xfrm>
          <a:prstGeom prst="rect">
            <a:avLst/>
          </a:prstGeom>
          <a:noFill/>
          <a:ln/>
        </p:spPr>
        <p:txBody>
          <a:bodyPr wrap="square" lIns="0" tIns="0" rIns="0" bIns="0" rtlCol="0" anchor="b"/>
          <a:lstStyle/>
          <a:p>
            <a:pPr marL="0" indent="0" algn="l">
              <a:buNone/>
            </a:pPr>
            <a:r>
              <a:rPr lang="en-US" sz="4000" b="1" dirty="0">
                <a:solidFill>
                  <a:srgbClr val="2CA02C"/>
                </a:solidFill>
                <a:latin typeface="Cambria" pitchFamily="34" charset="0"/>
                <a:ea typeface="Cambria" pitchFamily="34" charset="-122"/>
                <a:cs typeface="Cambria" pitchFamily="34" charset="-120"/>
              </a:rPr>
              <a:t>20%</a:t>
            </a:r>
            <a:endParaRPr lang="en-US" sz="4000" dirty="0"/>
          </a:p>
        </p:txBody>
      </p:sp>
      <p:sp>
        <p:nvSpPr>
          <p:cNvPr id="10" name="Stat label 20%"/>
          <p:cNvSpPr txBox="1"/>
          <p:nvPr/>
        </p:nvSpPr>
        <p:spPr>
          <a:xfrm>
            <a:off x="9326880" y="3995928"/>
            <a:ext cx="2377440" cy="685800"/>
          </a:xfrm>
          <a:prstGeom prst="rect">
            <a:avLst/>
          </a:prstGeom>
          <a:noFill/>
          <a:ln/>
        </p:spPr>
        <p:txBody>
          <a:bodyPr wrap="square" lIns="0" tIns="0" rIns="0" bIns="0" rtlCol="0" anchor="t"/>
          <a:lstStyle/>
          <a:p>
            <a:pPr marL="0" indent="0" algn="l">
              <a:buNone/>
            </a:pPr>
            <a:r>
              <a:rPr lang="en-US" sz="1300" dirty="0">
                <a:solidFill>
                  <a:srgbClr val="5C6673"/>
                </a:solidFill>
              </a:rPr>
              <a:t>fewer tokens than always running A (offline prediction 22.0%)</a:t>
            </a:r>
            <a:endParaRPr lang="en-US" sz="1300" dirty="0"/>
          </a:p>
        </p:txBody>
      </p:sp>
      <p:sp>
        <p:nvSpPr>
          <p:cNvPr id="11" name="Bullets"/>
          <p:cNvSpPr txBox="1"/>
          <p:nvPr/>
        </p:nvSpPr>
        <p:spPr>
          <a:xfrm>
            <a:off x="6766560" y="4846320"/>
            <a:ext cx="4983480" cy="1280160"/>
          </a:xfrm>
          <a:prstGeom prst="rect">
            <a:avLst/>
          </a:prstGeom>
          <a:noFill/>
          <a:ln/>
        </p:spPr>
        <p:txBody>
          <a:bodyPr wrap="square" lIns="0" tIns="0" rIns="0" bIns="0" rtlCol="0" anchor="t"/>
          <a:lstStyle/>
          <a:p>
            <a:pPr marL="177800" indent="-177800" algn="l">
              <a:spcAft>
                <a:spcPts val="400"/>
              </a:spcAft>
              <a:buSzPct val="100000"/>
              <a:buChar char="•"/>
            </a:pPr>
            <a:r>
              <a:rPr lang="en-US" sz="1150" dirty="0">
                <a:solidFill>
                  <a:srgbClr val="1B1F2A"/>
                </a:solidFill>
              </a:rPr>
              <a:t>A and C climb the same spend curve; B reaches each success level at 2 to 4 times the spend</a:t>
            </a:r>
            <a:endParaRPr lang="en-US" sz="1150" dirty="0"/>
          </a:p>
          <a:p>
            <a:pPr marL="177800" indent="-177800" algn="l">
              <a:spcAft>
                <a:spcPts val="400"/>
              </a:spcAft>
              <a:buSzPct val="100000"/>
              <a:buChar char="•"/>
            </a:pPr>
            <a:r>
              <a:rPr lang="en-US" sz="1150" dirty="0">
                <a:solidFill>
                  <a:srgbClr val="1B1F2A"/>
                </a:solidFill>
              </a:rPr>
              <a:t>On cells both solved, B spent a median 2.90× A's tokens; C spent 1.00×</a:t>
            </a:r>
            <a:endParaRPr lang="en-US" sz="1150" dirty="0"/>
          </a:p>
          <a:p>
            <a:pPr marL="177800" indent="-177800" algn="l">
              <a:spcAft>
                <a:spcPts val="400"/>
              </a:spcAft>
              <a:buSzPct val="100000"/>
              <a:buChar char="•"/>
            </a:pPr>
            <a:r>
              <a:rPr lang="en-US" sz="1150" dirty="0">
                <a:solidFill>
                  <a:srgbClr val="1B1F2A"/>
                </a:solidFill>
              </a:rPr>
              <a:t>The saving came from the stop head: 838 stops, 703 before any action; stop rate 77% at 2k, 8.5% at 64k</a:t>
            </a:r>
            <a:endParaRPr lang="en-US" sz="1150" dirty="0"/>
          </a:p>
        </p:txBody>
      </p:sp>
      <p:sp>
        <p:nvSpPr>
          <p:cNvPr id="12" name="Transfer note"/>
          <p:cNvSpPr txBox="1"/>
          <p:nvPr/>
        </p:nvSpPr>
        <p:spPr>
          <a:xfrm>
            <a:off x="457200" y="5120640"/>
            <a:ext cx="6035040" cy="822960"/>
          </a:xfrm>
          <a:prstGeom prst="rect">
            <a:avLst/>
          </a:prstGeom>
          <a:noFill/>
          <a:ln/>
        </p:spPr>
        <p:txBody>
          <a:bodyPr wrap="square" lIns="0" tIns="0" rIns="0" bIns="0" rtlCol="0" anchor="t"/>
          <a:lstStyle/>
          <a:p>
            <a:pPr marL="0" indent="0" algn="l">
              <a:buNone/>
            </a:pPr>
            <a:r>
              <a:rPr lang="en-US" sz="1250" i="1" dirty="0">
                <a:solidFill>
                  <a:srgbClr val="5C6673"/>
                </a:solidFill>
              </a:rPr>
              <a:t>Offline training transferred to live operation within two points on both axes; Objective 3's 90% test passed live as well as offline.</a:t>
            </a:r>
            <a:endParaRPr lang="en-US" sz="1250" dirty="0"/>
          </a:p>
        </p:txBody>
      </p:sp>
      <p:sp>
        <p:nvSpPr>
          <p:cNvPr id="25" name="Slide Number Placeholder 0"/>
          <p:cNvSpPr>
            <a:spLocks noGrp="1"/>
          </p:cNvSpPr>
          <p:nvPr>
            <p:ph type="sldNum" sz="quarter" idx="4294967295"/>
          </p:nvPr>
        </p:nvSpPr>
        <p:spPr>
          <a:xfrm>
            <a:off x="1124712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673"/>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11247120" cy="777240"/>
          </a:xfrm>
          <a:prstGeom prst="rect">
            <a:avLst/>
          </a:prstGeom>
          <a:noFill/>
          <a:ln/>
        </p:spPr>
        <p:txBody>
          <a:bodyPr wrap="square" lIns="0" tIns="0" rIns="0" bIns="0" rtlCol="0" anchor="ctr"/>
          <a:lstStyle/>
          <a:p>
            <a:pPr marL="0" indent="0" algn="l">
              <a:buNone/>
            </a:pPr>
            <a:r>
              <a:rPr lang="en-US" sz="3000" b="1" dirty="0">
                <a:solidFill>
                  <a:schemeClr val="tx2"/>
                </a:solidFill>
              </a:rPr>
              <a:t>RQ1: how episodes ended</a:t>
            </a:r>
            <a:endParaRPr lang="en-US" sz="3000" dirty="0"/>
          </a:p>
        </p:txBody>
      </p:sp>
      <p:pic>
        <p:nvPicPr>
          <p:cNvPr id="3" name="Report Figure 4.4" descr="/tmp/claude-0/-home-claude/3b9ca3d8-d8cd-59f1-9b80-73904a5c6e11/scratchpad/r23/word/media/image9.png"/>
          <p:cNvPicPr>
            <a:picLocks noChangeAspect="1"/>
          </p:cNvPicPr>
          <p:nvPr/>
        </p:nvPicPr>
        <p:blipFill>
          <a:blip r:embed="rId3"/>
          <a:stretch>
            <a:fillRect/>
          </a:stretch>
        </p:blipFill>
        <p:spPr>
          <a:xfrm>
            <a:off x="1706091" y="1097280"/>
            <a:ext cx="8749338" cy="3200400"/>
          </a:xfrm>
          <a:prstGeom prst="rect">
            <a:avLst/>
          </a:prstGeom>
        </p:spPr>
      </p:pic>
      <p:sp>
        <p:nvSpPr>
          <p:cNvPr id="4" name="Caption Figure 4.4"/>
          <p:cNvSpPr txBox="1"/>
          <p:nvPr/>
        </p:nvSpPr>
        <p:spPr>
          <a:xfrm>
            <a:off x="457200" y="4315968"/>
            <a:ext cx="11247120" cy="301752"/>
          </a:xfrm>
          <a:prstGeom prst="rect">
            <a:avLst/>
          </a:prstGeom>
          <a:noFill/>
          <a:ln/>
        </p:spPr>
        <p:txBody>
          <a:bodyPr wrap="square" lIns="0" tIns="0" rIns="0" bIns="0" rtlCol="0" anchor="t"/>
          <a:lstStyle/>
          <a:p>
            <a:pPr marL="0" indent="0" algn="ctr">
              <a:buNone/>
            </a:pPr>
            <a:r>
              <a:rPr lang="en-US" sz="1100" i="1" dirty="0">
                <a:solidFill>
                  <a:srgbClr val="5C6673"/>
                </a:solidFill>
              </a:rPr>
              <a:t>Report Figure 4.4: termination class as a share of eligible episodes per strategy (compare_abc.py)</a:t>
            </a:r>
            <a:endParaRPr lang="en-US" sz="1100" dirty="0"/>
          </a:p>
        </p:txBody>
      </p:sp>
      <p:sp>
        <p:nvSpPr>
          <p:cNvPr id="5" name="Badge A"/>
          <p:cNvSpPr/>
          <p:nvPr/>
        </p:nvSpPr>
        <p:spPr>
          <a:xfrm>
            <a:off x="457200" y="4800600"/>
            <a:ext cx="457200" cy="457200"/>
          </a:xfrm>
          <a:prstGeom prst="ellipse">
            <a:avLst/>
          </a:prstGeom>
          <a:solidFill>
            <a:srgbClr val="1F77B4"/>
          </a:solidFill>
          <a:ln w="12700">
            <a:solidFill>
              <a:srgbClr val="1F77B4"/>
            </a:solidFill>
            <a:prstDash val="solid"/>
          </a:ln>
        </p:spPr>
        <p:txBody>
          <a:bodyPr/>
          <a:lstStyle/>
          <a:p>
            <a:endParaRPr lang="en-GB"/>
          </a:p>
        </p:txBody>
      </p:sp>
      <p:sp>
        <p:nvSpPr>
          <p:cNvPr id="6" name="Badge label A"/>
          <p:cNvSpPr txBox="1"/>
          <p:nvPr/>
        </p:nvSpPr>
        <p:spPr>
          <a:xfrm>
            <a:off x="457200" y="480060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rPr>
              <a:t>A</a:t>
            </a:r>
            <a:endParaRPr lang="en-US" sz="1600" dirty="0"/>
          </a:p>
        </p:txBody>
      </p:sp>
      <p:sp>
        <p:nvSpPr>
          <p:cNvPr id="7" name="Fail stat A"/>
          <p:cNvSpPr txBox="1"/>
          <p:nvPr/>
        </p:nvSpPr>
        <p:spPr>
          <a:xfrm>
            <a:off x="1051560" y="4663440"/>
            <a:ext cx="1188720" cy="731520"/>
          </a:xfrm>
          <a:prstGeom prst="rect">
            <a:avLst/>
          </a:prstGeom>
          <a:noFill/>
          <a:ln/>
        </p:spPr>
        <p:txBody>
          <a:bodyPr wrap="square" lIns="0" tIns="0" rIns="0" bIns="0" rtlCol="0" anchor="ctr"/>
          <a:lstStyle/>
          <a:p>
            <a:pPr marL="0" indent="0" algn="l">
              <a:buNone/>
            </a:pPr>
            <a:r>
              <a:rPr lang="en-US" sz="3000" b="1" dirty="0">
                <a:solidFill>
                  <a:srgbClr val="1F77B4"/>
                </a:solidFill>
                <a:latin typeface="Cambria" pitchFamily="34" charset="0"/>
                <a:ea typeface="Cambria" pitchFamily="34" charset="-122"/>
                <a:cs typeface="Cambria" pitchFamily="34" charset="-120"/>
              </a:rPr>
              <a:t>66%</a:t>
            </a:r>
            <a:endParaRPr lang="en-US" sz="3000" dirty="0"/>
          </a:p>
        </p:txBody>
      </p:sp>
      <p:sp>
        <p:nvSpPr>
          <p:cNvPr id="8" name="Fail text A"/>
          <p:cNvSpPr txBox="1"/>
          <p:nvPr/>
        </p:nvSpPr>
        <p:spPr>
          <a:xfrm>
            <a:off x="2240280" y="4663440"/>
            <a:ext cx="1828800" cy="1371600"/>
          </a:xfrm>
          <a:prstGeom prst="rect">
            <a:avLst/>
          </a:prstGeom>
          <a:noFill/>
          <a:ln/>
        </p:spPr>
        <p:txBody>
          <a:bodyPr wrap="square" lIns="0" tIns="0" rIns="0" bIns="0" rtlCol="0" anchor="t"/>
          <a:lstStyle/>
          <a:p>
            <a:pPr marL="0" indent="0" algn="l">
              <a:buNone/>
            </a:pPr>
            <a:r>
              <a:rPr lang="en-US" sz="1150" dirty="0">
                <a:solidFill>
                  <a:srgbClr val="1B1F2A"/>
                </a:solidFill>
              </a:rPr>
              <a:t>of A's 2,244 failures were budget-driven; 19% wrong answers; 15% guard stops (loops)</a:t>
            </a:r>
            <a:endParaRPr lang="en-US" sz="1150" dirty="0"/>
          </a:p>
        </p:txBody>
      </p:sp>
      <p:sp>
        <p:nvSpPr>
          <p:cNvPr id="9" name="Badge B"/>
          <p:cNvSpPr/>
          <p:nvPr/>
        </p:nvSpPr>
        <p:spPr>
          <a:xfrm>
            <a:off x="4297680" y="4800600"/>
            <a:ext cx="457200" cy="457200"/>
          </a:xfrm>
          <a:prstGeom prst="ellipse">
            <a:avLst/>
          </a:prstGeom>
          <a:solidFill>
            <a:srgbClr val="FF7F0E"/>
          </a:solidFill>
          <a:ln w="12700">
            <a:solidFill>
              <a:srgbClr val="FF7F0E"/>
            </a:solidFill>
            <a:prstDash val="solid"/>
          </a:ln>
        </p:spPr>
        <p:txBody>
          <a:bodyPr/>
          <a:lstStyle/>
          <a:p>
            <a:endParaRPr lang="en-GB"/>
          </a:p>
        </p:txBody>
      </p:sp>
      <p:sp>
        <p:nvSpPr>
          <p:cNvPr id="10" name="Badge label B"/>
          <p:cNvSpPr txBox="1"/>
          <p:nvPr/>
        </p:nvSpPr>
        <p:spPr>
          <a:xfrm>
            <a:off x="4297680" y="480060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rPr>
              <a:t>B</a:t>
            </a:r>
            <a:endParaRPr lang="en-US" sz="1600" dirty="0"/>
          </a:p>
        </p:txBody>
      </p:sp>
      <p:sp>
        <p:nvSpPr>
          <p:cNvPr id="11" name="Fail stat B"/>
          <p:cNvSpPr txBox="1"/>
          <p:nvPr/>
        </p:nvSpPr>
        <p:spPr>
          <a:xfrm>
            <a:off x="4892040" y="4663440"/>
            <a:ext cx="1188720" cy="731520"/>
          </a:xfrm>
          <a:prstGeom prst="rect">
            <a:avLst/>
          </a:prstGeom>
          <a:noFill/>
          <a:ln/>
        </p:spPr>
        <p:txBody>
          <a:bodyPr wrap="square" lIns="0" tIns="0" rIns="0" bIns="0" rtlCol="0" anchor="ctr"/>
          <a:lstStyle/>
          <a:p>
            <a:pPr marL="0" indent="0" algn="l">
              <a:buNone/>
            </a:pPr>
            <a:r>
              <a:rPr lang="en-US" sz="3000" b="1" dirty="0">
                <a:solidFill>
                  <a:srgbClr val="FF7F0E"/>
                </a:solidFill>
                <a:latin typeface="Cambria" pitchFamily="34" charset="0"/>
                <a:ea typeface="Cambria" pitchFamily="34" charset="-122"/>
                <a:cs typeface="Cambria" pitchFamily="34" charset="-120"/>
              </a:rPr>
              <a:t>94%</a:t>
            </a:r>
            <a:endParaRPr lang="en-US" sz="3000" dirty="0"/>
          </a:p>
        </p:txBody>
      </p:sp>
      <p:sp>
        <p:nvSpPr>
          <p:cNvPr id="12" name="Fail text B"/>
          <p:cNvSpPr txBox="1"/>
          <p:nvPr/>
        </p:nvSpPr>
        <p:spPr>
          <a:xfrm>
            <a:off x="6080760" y="4663440"/>
            <a:ext cx="1828800" cy="1371600"/>
          </a:xfrm>
          <a:prstGeom prst="rect">
            <a:avLst/>
          </a:prstGeom>
          <a:noFill/>
          <a:ln/>
        </p:spPr>
        <p:txBody>
          <a:bodyPr wrap="square" lIns="0" tIns="0" rIns="0" bIns="0" rtlCol="0" anchor="t"/>
          <a:lstStyle/>
          <a:p>
            <a:pPr marL="0" indent="0" algn="l">
              <a:buNone/>
            </a:pPr>
            <a:r>
              <a:rPr lang="en-US" sz="1150" dirty="0">
                <a:solidFill>
                  <a:srgbClr val="1B1F2A"/>
                </a:solidFill>
              </a:rPr>
              <a:t>of B's 2,497 failures were budget-driven; it rarely reached a wrong answer (3%) or a loop (2%)</a:t>
            </a:r>
            <a:endParaRPr lang="en-US" sz="1150" dirty="0"/>
          </a:p>
        </p:txBody>
      </p:sp>
      <p:sp>
        <p:nvSpPr>
          <p:cNvPr id="13" name="Badge C"/>
          <p:cNvSpPr/>
          <p:nvPr/>
        </p:nvSpPr>
        <p:spPr>
          <a:xfrm>
            <a:off x="8138160" y="4800600"/>
            <a:ext cx="457200" cy="457200"/>
          </a:xfrm>
          <a:prstGeom prst="ellipse">
            <a:avLst/>
          </a:prstGeom>
          <a:solidFill>
            <a:srgbClr val="2CA02C"/>
          </a:solidFill>
          <a:ln w="12700">
            <a:solidFill>
              <a:srgbClr val="2CA02C"/>
            </a:solidFill>
            <a:prstDash val="solid"/>
          </a:ln>
        </p:spPr>
        <p:txBody>
          <a:bodyPr/>
          <a:lstStyle/>
          <a:p>
            <a:endParaRPr lang="en-GB"/>
          </a:p>
        </p:txBody>
      </p:sp>
      <p:sp>
        <p:nvSpPr>
          <p:cNvPr id="14" name="Badge label C"/>
          <p:cNvSpPr txBox="1"/>
          <p:nvPr/>
        </p:nvSpPr>
        <p:spPr>
          <a:xfrm>
            <a:off x="8138160" y="480060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rPr>
              <a:t>C</a:t>
            </a:r>
            <a:endParaRPr lang="en-US" sz="1600" dirty="0"/>
          </a:p>
        </p:txBody>
      </p:sp>
      <p:sp>
        <p:nvSpPr>
          <p:cNvPr id="15" name="Fail stat C"/>
          <p:cNvSpPr txBox="1"/>
          <p:nvPr/>
        </p:nvSpPr>
        <p:spPr>
          <a:xfrm>
            <a:off x="8732520" y="4663440"/>
            <a:ext cx="1188720" cy="731520"/>
          </a:xfrm>
          <a:prstGeom prst="rect">
            <a:avLst/>
          </a:prstGeom>
          <a:noFill/>
          <a:ln/>
        </p:spPr>
        <p:txBody>
          <a:bodyPr wrap="square" lIns="0" tIns="0" rIns="0" bIns="0" rtlCol="0" anchor="ctr"/>
          <a:lstStyle/>
          <a:p>
            <a:pPr marL="0" indent="0" algn="l">
              <a:buNone/>
            </a:pPr>
            <a:r>
              <a:rPr lang="en-US" sz="3000" b="1" dirty="0">
                <a:solidFill>
                  <a:srgbClr val="2CA02C"/>
                </a:solidFill>
                <a:latin typeface="Cambria" pitchFamily="34" charset="0"/>
                <a:ea typeface="Cambria" pitchFamily="34" charset="-122"/>
                <a:cs typeface="Cambria" pitchFamily="34" charset="-120"/>
              </a:rPr>
              <a:t>37%</a:t>
            </a:r>
            <a:endParaRPr lang="en-US" sz="3000" dirty="0"/>
          </a:p>
        </p:txBody>
      </p:sp>
      <p:sp>
        <p:nvSpPr>
          <p:cNvPr id="16" name="Fail text C"/>
          <p:cNvSpPr txBox="1"/>
          <p:nvPr/>
        </p:nvSpPr>
        <p:spPr>
          <a:xfrm>
            <a:off x="9921240" y="4663440"/>
            <a:ext cx="1828800" cy="1371600"/>
          </a:xfrm>
          <a:prstGeom prst="rect">
            <a:avLst/>
          </a:prstGeom>
          <a:noFill/>
          <a:ln/>
        </p:spPr>
        <p:txBody>
          <a:bodyPr wrap="square" lIns="0" tIns="0" rIns="0" bIns="0" rtlCol="0" anchor="t"/>
          <a:lstStyle/>
          <a:p>
            <a:pPr marL="0" indent="0" algn="l">
              <a:buNone/>
            </a:pPr>
            <a:r>
              <a:rPr lang="en-US" sz="1150" dirty="0">
                <a:solidFill>
                  <a:srgbClr val="1B1F2A"/>
                </a:solidFill>
              </a:rPr>
              <a:t>of C's failures were router stops; budget exhaustion fell to 31%. 838 stops, 703 at step 0; on attempted episodes success beat A's at 5 of 6 budgets</a:t>
            </a:r>
            <a:endParaRPr lang="en-US" sz="1150" dirty="0"/>
          </a:p>
        </p:txBody>
      </p:sp>
      <p:sp>
        <p:nvSpPr>
          <p:cNvPr id="25" name="Slide Number Placeholder 0"/>
          <p:cNvSpPr>
            <a:spLocks noGrp="1"/>
          </p:cNvSpPr>
          <p:nvPr>
            <p:ph type="sldNum" sz="quarter" idx="4294967295"/>
          </p:nvPr>
        </p:nvSpPr>
        <p:spPr>
          <a:xfrm>
            <a:off x="1124712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673"/>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11247120" cy="777240"/>
          </a:xfrm>
          <a:prstGeom prst="rect">
            <a:avLst/>
          </a:prstGeom>
          <a:noFill/>
          <a:ln/>
        </p:spPr>
        <p:txBody>
          <a:bodyPr wrap="square" lIns="0" tIns="0" rIns="0" bIns="0" rtlCol="0" anchor="ctr"/>
          <a:lstStyle/>
          <a:p>
            <a:pPr marL="0" indent="0" algn="l">
              <a:buNone/>
            </a:pPr>
            <a:r>
              <a:rPr lang="en-US" sz="3000" b="1" dirty="0">
                <a:solidFill>
                  <a:schemeClr val="tx2"/>
                </a:solidFill>
              </a:rPr>
              <a:t>What the Critic was worth in the fixed pipeline</a:t>
            </a:r>
            <a:endParaRPr lang="en-US" sz="3000" dirty="0"/>
          </a:p>
        </p:txBody>
      </p:sp>
      <p:pic>
        <p:nvPicPr>
          <p:cNvPr id="3" name="Report Figure 4.6" descr="/tmp/claude-0/-home-claude/3b9ca3d8-d8cd-59f1-9b80-73904a5c6e11/scratchpad/r23/word/media/image11.png"/>
          <p:cNvPicPr>
            <a:picLocks noChangeAspect="1"/>
          </p:cNvPicPr>
          <p:nvPr/>
        </p:nvPicPr>
        <p:blipFill>
          <a:blip r:embed="rId3"/>
          <a:stretch>
            <a:fillRect/>
          </a:stretch>
        </p:blipFill>
        <p:spPr>
          <a:xfrm>
            <a:off x="457200" y="1312164"/>
            <a:ext cx="6217920" cy="3730752"/>
          </a:xfrm>
          <a:prstGeom prst="rect">
            <a:avLst/>
          </a:prstGeom>
        </p:spPr>
      </p:pic>
      <p:sp>
        <p:nvSpPr>
          <p:cNvPr id="4" name="Caption Figure 4.6"/>
          <p:cNvSpPr txBox="1"/>
          <p:nvPr/>
        </p:nvSpPr>
        <p:spPr>
          <a:xfrm>
            <a:off x="457200" y="5276088"/>
            <a:ext cx="6217920" cy="301752"/>
          </a:xfrm>
          <a:prstGeom prst="rect">
            <a:avLst/>
          </a:prstGeom>
          <a:noFill/>
          <a:ln/>
        </p:spPr>
        <p:txBody>
          <a:bodyPr wrap="square" lIns="0" tIns="0" rIns="0" bIns="0" rtlCol="0" anchor="t"/>
          <a:lstStyle/>
          <a:p>
            <a:pPr marL="0" indent="0" algn="ctr">
              <a:buNone/>
            </a:pPr>
            <a:r>
              <a:rPr lang="en-US" sz="1100" i="1" dirty="0">
                <a:solidFill>
                  <a:srgbClr val="5C6673"/>
                </a:solidFill>
              </a:rPr>
              <a:t>Report Figure 4.6: Critic revision rate, overall success and success of revised episodes, by budget (analyse_b.py)</a:t>
            </a:r>
            <a:endParaRPr lang="en-US" sz="1100" dirty="0"/>
          </a:p>
        </p:txBody>
      </p:sp>
      <p:sp>
        <p:nvSpPr>
          <p:cNvPr id="5" name="Stat 5.1%"/>
          <p:cNvSpPr txBox="1"/>
          <p:nvPr/>
        </p:nvSpPr>
        <p:spPr>
          <a:xfrm>
            <a:off x="7040880" y="1188720"/>
            <a:ext cx="2194560" cy="822960"/>
          </a:xfrm>
          <a:prstGeom prst="rect">
            <a:avLst/>
          </a:prstGeom>
          <a:noFill/>
          <a:ln/>
        </p:spPr>
        <p:txBody>
          <a:bodyPr wrap="square" lIns="0" tIns="0" rIns="0" bIns="0" rtlCol="0" anchor="b"/>
          <a:lstStyle/>
          <a:p>
            <a:pPr marL="0" indent="0" algn="l">
              <a:buNone/>
            </a:pPr>
            <a:r>
              <a:rPr lang="en-US" sz="4000" b="1" dirty="0">
                <a:solidFill>
                  <a:srgbClr val="FF7F0E"/>
                </a:solidFill>
                <a:latin typeface="Cambria" pitchFamily="34" charset="0"/>
                <a:ea typeface="Cambria" pitchFamily="34" charset="-122"/>
                <a:cs typeface="Cambria" pitchFamily="34" charset="-120"/>
              </a:rPr>
              <a:t>5.1%</a:t>
            </a:r>
            <a:endParaRPr lang="en-US" sz="4000" dirty="0"/>
          </a:p>
        </p:txBody>
      </p:sp>
      <p:sp>
        <p:nvSpPr>
          <p:cNvPr id="6" name="Stat label 5.1%"/>
          <p:cNvSpPr txBox="1"/>
          <p:nvPr/>
        </p:nvSpPr>
        <p:spPr>
          <a:xfrm>
            <a:off x="7040880" y="2029968"/>
            <a:ext cx="2194560" cy="685800"/>
          </a:xfrm>
          <a:prstGeom prst="rect">
            <a:avLst/>
          </a:prstGeom>
          <a:noFill/>
          <a:ln/>
        </p:spPr>
        <p:txBody>
          <a:bodyPr wrap="square" lIns="0" tIns="0" rIns="0" bIns="0" rtlCol="0" anchor="t"/>
          <a:lstStyle/>
          <a:p>
            <a:pPr marL="0" indent="0" algn="l">
              <a:buNone/>
            </a:pPr>
            <a:r>
              <a:rPr lang="en-US" sz="1300" dirty="0">
                <a:solidFill>
                  <a:srgbClr val="5C6673"/>
                </a:solidFill>
              </a:rPr>
              <a:t>of 6,263 Critic calls changed the Executor's action (322 revisions)</a:t>
            </a:r>
            <a:endParaRPr lang="en-US" sz="1300" dirty="0"/>
          </a:p>
        </p:txBody>
      </p:sp>
      <p:sp>
        <p:nvSpPr>
          <p:cNvPr id="7" name="Stat 31.5%"/>
          <p:cNvSpPr txBox="1"/>
          <p:nvPr/>
        </p:nvSpPr>
        <p:spPr>
          <a:xfrm>
            <a:off x="9509760" y="1188720"/>
            <a:ext cx="2194560" cy="822960"/>
          </a:xfrm>
          <a:prstGeom prst="rect">
            <a:avLst/>
          </a:prstGeom>
          <a:noFill/>
          <a:ln/>
        </p:spPr>
        <p:txBody>
          <a:bodyPr wrap="square" lIns="0" tIns="0" rIns="0" bIns="0" rtlCol="0" anchor="b"/>
          <a:lstStyle/>
          <a:p>
            <a:pPr marL="0" indent="0" algn="l">
              <a:buNone/>
            </a:pPr>
            <a:r>
              <a:rPr lang="en-US" sz="4000" b="1" dirty="0">
                <a:solidFill>
                  <a:srgbClr val="FF7F0E"/>
                </a:solidFill>
                <a:latin typeface="Cambria" pitchFamily="34" charset="0"/>
                <a:ea typeface="Cambria" pitchFamily="34" charset="-122"/>
                <a:cs typeface="Cambria" pitchFamily="34" charset="-120"/>
              </a:rPr>
              <a:t>31.5%</a:t>
            </a:r>
            <a:endParaRPr lang="en-US" sz="4000" dirty="0"/>
          </a:p>
        </p:txBody>
      </p:sp>
      <p:sp>
        <p:nvSpPr>
          <p:cNvPr id="8" name="Stat label 31.5%"/>
          <p:cNvSpPr txBox="1"/>
          <p:nvPr/>
        </p:nvSpPr>
        <p:spPr>
          <a:xfrm>
            <a:off x="9509760" y="2029968"/>
            <a:ext cx="2194560" cy="685800"/>
          </a:xfrm>
          <a:prstGeom prst="rect">
            <a:avLst/>
          </a:prstGeom>
          <a:noFill/>
          <a:ln/>
        </p:spPr>
        <p:txBody>
          <a:bodyPr wrap="square" lIns="0" tIns="0" rIns="0" bIns="0" rtlCol="0" anchor="t"/>
          <a:lstStyle/>
          <a:p>
            <a:pPr marL="0" indent="0" algn="l">
              <a:buNone/>
            </a:pPr>
            <a:r>
              <a:rPr lang="en-US" sz="1300" dirty="0">
                <a:solidFill>
                  <a:srgbClr val="5C6673"/>
                </a:solidFill>
              </a:rPr>
              <a:t>of everything B spent went on review; 29.7% on approvals that changed nothing</a:t>
            </a:r>
            <a:endParaRPr lang="en-US" sz="1300" dirty="0"/>
          </a:p>
        </p:txBody>
      </p:sp>
      <p:sp>
        <p:nvSpPr>
          <p:cNvPr id="9" name="Stat 95%"/>
          <p:cNvSpPr txBox="1"/>
          <p:nvPr/>
        </p:nvSpPr>
        <p:spPr>
          <a:xfrm>
            <a:off x="7040880" y="3017520"/>
            <a:ext cx="2194560" cy="822960"/>
          </a:xfrm>
          <a:prstGeom prst="rect">
            <a:avLst/>
          </a:prstGeom>
          <a:noFill/>
          <a:ln/>
        </p:spPr>
        <p:txBody>
          <a:bodyPr wrap="square" lIns="0" tIns="0" rIns="0" bIns="0" rtlCol="0" anchor="b"/>
          <a:lstStyle/>
          <a:p>
            <a:pPr marL="0" indent="0" algn="l">
              <a:buNone/>
            </a:pPr>
            <a:r>
              <a:rPr lang="en-US" sz="4000" b="1" dirty="0">
                <a:solidFill>
                  <a:srgbClr val="14213D"/>
                </a:solidFill>
                <a:latin typeface="Cambria" pitchFamily="34" charset="0"/>
                <a:ea typeface="Cambria" pitchFamily="34" charset="-122"/>
                <a:cs typeface="Cambria" pitchFamily="34" charset="-120"/>
              </a:rPr>
              <a:t>95%</a:t>
            </a:r>
            <a:endParaRPr lang="en-US" sz="4000" dirty="0"/>
          </a:p>
        </p:txBody>
      </p:sp>
      <p:sp>
        <p:nvSpPr>
          <p:cNvPr id="10" name="Stat label 95%"/>
          <p:cNvSpPr txBox="1"/>
          <p:nvPr/>
        </p:nvSpPr>
        <p:spPr>
          <a:xfrm>
            <a:off x="7040880" y="3858768"/>
            <a:ext cx="2194560" cy="685800"/>
          </a:xfrm>
          <a:prstGeom prst="rect">
            <a:avLst/>
          </a:prstGeom>
          <a:noFill/>
          <a:ln/>
        </p:spPr>
        <p:txBody>
          <a:bodyPr wrap="square" lIns="0" tIns="0" rIns="0" bIns="0" rtlCol="0" anchor="t"/>
          <a:lstStyle/>
          <a:p>
            <a:pPr marL="0" indent="0" algn="l">
              <a:buNone/>
            </a:pPr>
            <a:r>
              <a:rPr lang="en-US" sz="1300" dirty="0">
                <a:solidFill>
                  <a:srgbClr val="5C6673"/>
                </a:solidFill>
              </a:rPr>
              <a:t>of B's 226 successes involved no revision at all</a:t>
            </a:r>
            <a:endParaRPr lang="en-US" sz="1300" dirty="0"/>
          </a:p>
        </p:txBody>
      </p:sp>
      <p:sp>
        <p:nvSpPr>
          <p:cNvPr id="11" name="Stat 2.6×"/>
          <p:cNvSpPr txBox="1"/>
          <p:nvPr/>
        </p:nvSpPr>
        <p:spPr>
          <a:xfrm>
            <a:off x="9509760" y="3017520"/>
            <a:ext cx="2194560" cy="822960"/>
          </a:xfrm>
          <a:prstGeom prst="rect">
            <a:avLst/>
          </a:prstGeom>
          <a:noFill/>
          <a:ln/>
        </p:spPr>
        <p:txBody>
          <a:bodyPr wrap="square" lIns="0" tIns="0" rIns="0" bIns="0" rtlCol="0" anchor="b"/>
          <a:lstStyle/>
          <a:p>
            <a:pPr marL="0" indent="0" algn="l">
              <a:buNone/>
            </a:pPr>
            <a:r>
              <a:rPr lang="en-US" sz="4000" b="1" dirty="0">
                <a:solidFill>
                  <a:srgbClr val="14213D"/>
                </a:solidFill>
                <a:latin typeface="Cambria" pitchFamily="34" charset="0"/>
                <a:ea typeface="Cambria" pitchFamily="34" charset="-122"/>
                <a:cs typeface="Cambria" pitchFamily="34" charset="-120"/>
              </a:rPr>
              <a:t>2.6×</a:t>
            </a:r>
            <a:endParaRPr lang="en-US" sz="4000" dirty="0"/>
          </a:p>
        </p:txBody>
      </p:sp>
      <p:sp>
        <p:nvSpPr>
          <p:cNvPr id="12" name="Stat label 2.6×"/>
          <p:cNvSpPr txBox="1"/>
          <p:nvPr/>
        </p:nvSpPr>
        <p:spPr>
          <a:xfrm>
            <a:off x="9509760" y="3858768"/>
            <a:ext cx="2194560" cy="685800"/>
          </a:xfrm>
          <a:prstGeom prst="rect">
            <a:avLst/>
          </a:prstGeom>
          <a:noFill/>
          <a:ln/>
        </p:spPr>
        <p:txBody>
          <a:bodyPr wrap="square" lIns="0" tIns="0" rIns="0" bIns="0" rtlCol="0" anchor="t"/>
          <a:lstStyle/>
          <a:p>
            <a:pPr marL="0" indent="0" algn="l">
              <a:buNone/>
            </a:pPr>
            <a:r>
              <a:rPr lang="en-US" sz="1300" dirty="0">
                <a:solidFill>
                  <a:srgbClr val="5C6673"/>
                </a:solidFill>
              </a:rPr>
              <a:t>lift: revisions were 2.6 times more likely after an action error, the one useful signal</a:t>
            </a:r>
            <a:endParaRPr lang="en-US" sz="1300" dirty="0"/>
          </a:p>
        </p:txBody>
      </p:sp>
      <p:sp>
        <p:nvSpPr>
          <p:cNvPr id="13" name="Card"/>
          <p:cNvSpPr/>
          <p:nvPr/>
        </p:nvSpPr>
        <p:spPr>
          <a:xfrm>
            <a:off x="7040880" y="4846320"/>
            <a:ext cx="4709160" cy="1188720"/>
          </a:xfrm>
          <a:prstGeom prst="roundRect">
            <a:avLst>
              <a:gd name="adj" fmla="val 9231"/>
            </a:avLst>
          </a:prstGeom>
          <a:solidFill>
            <a:srgbClr val="EEF1F6"/>
          </a:solidFill>
          <a:ln w="12700">
            <a:solidFill>
              <a:srgbClr val="EEF1F6"/>
            </a:solidFill>
            <a:prstDash val="solid"/>
          </a:ln>
        </p:spPr>
        <p:txBody>
          <a:bodyPr/>
          <a:lstStyle/>
          <a:p>
            <a:endParaRPr lang="en-GB"/>
          </a:p>
        </p:txBody>
      </p:sp>
      <p:sp>
        <p:nvSpPr>
          <p:cNvPr id="14" name="Critic conclusion"/>
          <p:cNvSpPr txBox="1"/>
          <p:nvPr/>
        </p:nvSpPr>
        <p:spPr>
          <a:xfrm>
            <a:off x="7223760" y="4892040"/>
            <a:ext cx="4389120" cy="1097280"/>
          </a:xfrm>
          <a:prstGeom prst="rect">
            <a:avLst/>
          </a:prstGeom>
          <a:noFill/>
          <a:ln/>
        </p:spPr>
        <p:txBody>
          <a:bodyPr wrap="square" lIns="0" tIns="0" rIns="0" bIns="0" rtlCol="0" anchor="ctr"/>
          <a:lstStyle/>
          <a:p>
            <a:pPr marL="0" indent="0" algn="l">
              <a:buNone/>
            </a:pPr>
            <a:r>
              <a:rPr lang="en-US" sz="1200" dirty="0">
                <a:solidFill>
                  <a:srgbClr val="1B1F2A"/>
                </a:solidFill>
              </a:rPr>
              <a:t>Episodes containing a revision succeeded less often than those without (4.8% vs 8.6%). A reviewer that reads the same page as the actor has little independent information: review paid on every step is overhead, not safety.</a:t>
            </a:r>
            <a:endParaRPr lang="en-US" sz="1200" dirty="0"/>
          </a:p>
        </p:txBody>
      </p:sp>
      <p:sp>
        <p:nvSpPr>
          <p:cNvPr id="25" name="Slide Number Placeholder 0"/>
          <p:cNvSpPr>
            <a:spLocks noGrp="1"/>
          </p:cNvSpPr>
          <p:nvPr>
            <p:ph type="sldNum" sz="quarter" idx="4294967295"/>
          </p:nvPr>
        </p:nvSpPr>
        <p:spPr>
          <a:xfrm>
            <a:off x="1124712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673"/>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11247120" cy="777240"/>
          </a:xfrm>
          <a:prstGeom prst="rect">
            <a:avLst/>
          </a:prstGeom>
          <a:noFill/>
          <a:ln/>
        </p:spPr>
        <p:txBody>
          <a:bodyPr wrap="square" lIns="0" tIns="0" rIns="0" bIns="0" rtlCol="0" anchor="ctr"/>
          <a:lstStyle/>
          <a:p>
            <a:pPr marL="0" indent="0" algn="l">
              <a:buNone/>
            </a:pPr>
            <a:r>
              <a:rPr lang="en-US" sz="3000" b="1" dirty="0">
                <a:solidFill>
                  <a:schemeClr val="tx2"/>
                </a:solidFill>
              </a:rPr>
              <a:t>RQ2: sensitivity to task difficulty</a:t>
            </a:r>
            <a:endParaRPr lang="en-US" sz="3000" dirty="0"/>
          </a:p>
        </p:txBody>
      </p:sp>
      <p:pic>
        <p:nvPicPr>
          <p:cNvPr id="3" name="Report Figure 4.5" descr="/tmp/claude-0/-home-claude/3b9ca3d8-d8cd-59f1-9b80-73904a5c6e11/scratchpad/r23/word/media/image10.png"/>
          <p:cNvPicPr>
            <a:picLocks noChangeAspect="1"/>
          </p:cNvPicPr>
          <p:nvPr/>
        </p:nvPicPr>
        <p:blipFill>
          <a:blip r:embed="rId3"/>
          <a:stretch>
            <a:fillRect/>
          </a:stretch>
        </p:blipFill>
        <p:spPr>
          <a:xfrm>
            <a:off x="457200" y="1229868"/>
            <a:ext cx="6035040" cy="3621024"/>
          </a:xfrm>
          <a:prstGeom prst="rect">
            <a:avLst/>
          </a:prstGeom>
        </p:spPr>
      </p:pic>
      <p:sp>
        <p:nvSpPr>
          <p:cNvPr id="4" name="Caption Figure 4.5"/>
          <p:cNvSpPr txBox="1"/>
          <p:nvPr/>
        </p:nvSpPr>
        <p:spPr>
          <a:xfrm>
            <a:off x="457200" y="5001768"/>
            <a:ext cx="6035040" cy="301752"/>
          </a:xfrm>
          <a:prstGeom prst="rect">
            <a:avLst/>
          </a:prstGeom>
          <a:noFill/>
          <a:ln/>
        </p:spPr>
        <p:txBody>
          <a:bodyPr wrap="square" lIns="0" tIns="0" rIns="0" bIns="0" rtlCol="0" anchor="t"/>
          <a:lstStyle/>
          <a:p>
            <a:pPr marL="0" indent="0" algn="ctr">
              <a:buNone/>
            </a:pPr>
            <a:r>
              <a:rPr lang="en-US" sz="1100" i="1" dirty="0">
                <a:solidFill>
                  <a:srgbClr val="5C6673"/>
                </a:solidFill>
              </a:rPr>
              <a:t>Report Figure 4.5: success rate by difficulty tier with Wilson 95% intervals (compare_abc.py)</a:t>
            </a:r>
            <a:endParaRPr lang="en-US" sz="1100" dirty="0"/>
          </a:p>
        </p:txBody>
      </p:sp>
      <p:graphicFrame>
        <p:nvGraphicFramePr>
          <p:cNvPr id="23" name="Table"/>
          <p:cNvGraphicFramePr>
            <a:graphicFrameLocks noGrp="1"/>
          </p:cNvGraphicFramePr>
          <p:nvPr>
            <p:extLst>
              <p:ext uri="{D42A27DB-BD31-4B8C-83A1-F6EECF244321}">
                <p14:modId xmlns:p14="http://schemas.microsoft.com/office/powerpoint/2010/main" val="1579011935"/>
              </p:ext>
            </p:extLst>
          </p:nvPr>
        </p:nvGraphicFramePr>
        <p:xfrm>
          <a:off x="6766560" y="1188720"/>
          <a:ext cx="4983480" cy="1981200"/>
        </p:xfrm>
        <a:graphic>
          <a:graphicData uri="http://schemas.openxmlformats.org/drawingml/2006/table">
            <a:tbl>
              <a:tblPr/>
              <a:tblGrid>
                <a:gridCol w="196596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tblGrid>
              <a:tr h="365760">
                <a:tc>
                  <a:txBody>
                    <a:bodyPr/>
                    <a:lstStyle/>
                    <a:p>
                      <a:pPr marL="0" indent="0" algn="l">
                        <a:buNone/>
                      </a:pPr>
                      <a:r>
                        <a:rPr lang="en-US" sz="1150" b="1" dirty="0">
                          <a:solidFill>
                            <a:srgbClr val="FFFFFF"/>
                          </a:solidFill>
                        </a:rPr>
                        <a:t>Tier (n A / B / C)</a:t>
                      </a:r>
                      <a:endParaRPr lang="en-US" sz="115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14213D"/>
                    </a:solidFill>
                  </a:tcPr>
                </a:tc>
                <a:tc>
                  <a:txBody>
                    <a:bodyPr/>
                    <a:lstStyle/>
                    <a:p>
                      <a:pPr marL="0" indent="0" algn="l">
                        <a:buNone/>
                      </a:pPr>
                      <a:r>
                        <a:rPr lang="en-US" sz="1150" b="1" dirty="0">
                          <a:solidFill>
                            <a:srgbClr val="FFFFFF"/>
                          </a:solidFill>
                        </a:rPr>
                        <a:t>A</a:t>
                      </a:r>
                      <a:endParaRPr lang="en-US" sz="115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14213D"/>
                    </a:solidFill>
                  </a:tcPr>
                </a:tc>
                <a:tc>
                  <a:txBody>
                    <a:bodyPr/>
                    <a:lstStyle/>
                    <a:p>
                      <a:pPr marL="0" indent="0" algn="l">
                        <a:buNone/>
                      </a:pPr>
                      <a:r>
                        <a:rPr lang="en-US" sz="1150" b="1" dirty="0">
                          <a:solidFill>
                            <a:srgbClr val="FFFFFF"/>
                          </a:solidFill>
                        </a:rPr>
                        <a:t>B</a:t>
                      </a:r>
                      <a:endParaRPr lang="en-US" sz="115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14213D"/>
                    </a:solidFill>
                  </a:tcPr>
                </a:tc>
                <a:tc>
                  <a:txBody>
                    <a:bodyPr/>
                    <a:lstStyle/>
                    <a:p>
                      <a:pPr marL="0" indent="0" algn="l">
                        <a:buNone/>
                      </a:pPr>
                      <a:r>
                        <a:rPr lang="en-US" sz="1150" b="1" dirty="0">
                          <a:solidFill>
                            <a:srgbClr val="FFFFFF"/>
                          </a:solidFill>
                        </a:rPr>
                        <a:t>C</a:t>
                      </a:r>
                      <a:endParaRPr lang="en-US" sz="115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365760">
                <a:tc>
                  <a:txBody>
                    <a:bodyPr/>
                    <a:lstStyle/>
                    <a:p>
                      <a:pPr marL="0" indent="0" algn="l">
                        <a:buNone/>
                      </a:pPr>
                      <a:r>
                        <a:rPr lang="en-US" sz="1150" dirty="0">
                          <a:solidFill>
                            <a:srgbClr val="1B1F2A"/>
                          </a:solidFill>
                        </a:rPr>
                        <a:t>Easy (805 / 842 / 793)</a:t>
                      </a:r>
                      <a:endParaRPr lang="en-US" sz="115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B1F2A"/>
                          </a:solidFill>
                        </a:rPr>
                        <a:t>18.3%</a:t>
                      </a:r>
                      <a:endParaRPr lang="en-US" sz="115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B1F2A"/>
                          </a:solidFill>
                        </a:rPr>
                        <a:t>10.9%</a:t>
                      </a:r>
                      <a:endParaRPr lang="en-US" sz="115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B1F2A"/>
                          </a:solidFill>
                        </a:rPr>
                        <a:t>16.5%</a:t>
                      </a:r>
                      <a:endParaRPr lang="en-US" sz="115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lgn="l">
                        <a:buNone/>
                      </a:pPr>
                      <a:r>
                        <a:rPr lang="en-US" sz="1150" dirty="0">
                          <a:solidFill>
                            <a:srgbClr val="1B1F2A"/>
                          </a:solidFill>
                        </a:rPr>
                        <a:t>Medium (1,422 / 1,467 / 1,412)</a:t>
                      </a:r>
                      <a:endParaRPr lang="en-US" sz="115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tc>
                  <a:txBody>
                    <a:bodyPr/>
                    <a:lstStyle/>
                    <a:p>
                      <a:pPr marL="0" indent="0" algn="l">
                        <a:buNone/>
                      </a:pPr>
                      <a:r>
                        <a:rPr lang="en-US" sz="1150" dirty="0">
                          <a:solidFill>
                            <a:srgbClr val="1B1F2A"/>
                          </a:solidFill>
                        </a:rPr>
                        <a:t>13.8%</a:t>
                      </a:r>
                      <a:endParaRPr lang="en-US" sz="115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tc>
                  <a:txBody>
                    <a:bodyPr/>
                    <a:lstStyle/>
                    <a:p>
                      <a:pPr marL="0" indent="0" algn="l">
                        <a:buNone/>
                      </a:pPr>
                      <a:r>
                        <a:rPr lang="en-US" sz="1150" dirty="0">
                          <a:solidFill>
                            <a:srgbClr val="1B1F2A"/>
                          </a:solidFill>
                        </a:rPr>
                        <a:t>7.8%</a:t>
                      </a:r>
                      <a:endParaRPr lang="en-US" sz="115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tc>
                  <a:txBody>
                    <a:bodyPr/>
                    <a:lstStyle/>
                    <a:p>
                      <a:pPr marL="0" indent="0" algn="l">
                        <a:buNone/>
                      </a:pPr>
                      <a:r>
                        <a:rPr lang="en-US" sz="1150" dirty="0">
                          <a:solidFill>
                            <a:srgbClr val="1B1F2A"/>
                          </a:solidFill>
                        </a:rPr>
                        <a:t>13.3%</a:t>
                      </a:r>
                      <a:endParaRPr lang="en-US" sz="115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extLst>
                  <a:ext uri="{0D108BD9-81ED-4DB2-BD59-A6C34878D82A}">
                    <a16:rowId xmlns:a16="http://schemas.microsoft.com/office/drawing/2014/main" val="10002"/>
                  </a:ext>
                </a:extLst>
              </a:tr>
              <a:tr h="365760">
                <a:tc>
                  <a:txBody>
                    <a:bodyPr/>
                    <a:lstStyle/>
                    <a:p>
                      <a:pPr marL="0" indent="0" algn="l">
                        <a:buNone/>
                      </a:pPr>
                      <a:r>
                        <a:rPr lang="en-US" sz="1150" dirty="0">
                          <a:solidFill>
                            <a:srgbClr val="1B1F2A"/>
                          </a:solidFill>
                        </a:rPr>
                        <a:t>Hard (400 / 414 / 399)</a:t>
                      </a:r>
                      <a:endParaRPr lang="en-US" sz="115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B1F2A"/>
                          </a:solidFill>
                        </a:rPr>
                        <a:t>10.0%</a:t>
                      </a:r>
                      <a:endParaRPr lang="en-US" sz="115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B1F2A"/>
                          </a:solidFill>
                        </a:rPr>
                        <a:t>4.6%</a:t>
                      </a:r>
                      <a:endParaRPr lang="en-US" sz="115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B1F2A"/>
                          </a:solidFill>
                        </a:rPr>
                        <a:t>10.3%</a:t>
                      </a:r>
                      <a:endParaRPr lang="en-US" sz="115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lgn="l">
                        <a:buNone/>
                      </a:pPr>
                      <a:r>
                        <a:rPr lang="en-US" sz="1150" b="1" dirty="0">
                          <a:solidFill>
                            <a:srgbClr val="1B1F2A"/>
                          </a:solidFill>
                        </a:rPr>
                        <a:t>Hard / Easy ratio [CI]</a:t>
                      </a:r>
                      <a:endParaRPr lang="en-US" sz="115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tc>
                  <a:txBody>
                    <a:bodyPr/>
                    <a:lstStyle/>
                    <a:p>
                      <a:pPr marL="0" indent="0" algn="l">
                        <a:buNone/>
                      </a:pPr>
                      <a:r>
                        <a:rPr lang="en-US" sz="1150" b="1" dirty="0">
                          <a:solidFill>
                            <a:srgbClr val="1B1F2A"/>
                          </a:solidFill>
                        </a:rPr>
                        <a:t>0.55 [0.25, 0.94]</a:t>
                      </a:r>
                      <a:endParaRPr lang="en-US" sz="115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tc>
                  <a:txBody>
                    <a:bodyPr/>
                    <a:lstStyle/>
                    <a:p>
                      <a:pPr marL="0" indent="0" algn="l">
                        <a:buNone/>
                      </a:pPr>
                      <a:r>
                        <a:rPr lang="en-US" sz="1150" b="1" dirty="0">
                          <a:solidFill>
                            <a:srgbClr val="1B1F2A"/>
                          </a:solidFill>
                        </a:rPr>
                        <a:t>0.42 [0.13, 0.86]</a:t>
                      </a:r>
                      <a:endParaRPr lang="en-US" sz="115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tc>
                  <a:txBody>
                    <a:bodyPr/>
                    <a:lstStyle/>
                    <a:p>
                      <a:pPr marL="0" indent="0" algn="l">
                        <a:buNone/>
                      </a:pPr>
                      <a:r>
                        <a:rPr lang="en-US" sz="1150" b="1" dirty="0">
                          <a:solidFill>
                            <a:srgbClr val="1B1F2A"/>
                          </a:solidFill>
                        </a:rPr>
                        <a:t>0.62 [0.28, 1.09]</a:t>
                      </a:r>
                      <a:endParaRPr lang="en-US" sz="115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extLst>
                  <a:ext uri="{0D108BD9-81ED-4DB2-BD59-A6C34878D82A}">
                    <a16:rowId xmlns:a16="http://schemas.microsoft.com/office/drawing/2014/main" val="10004"/>
                  </a:ext>
                </a:extLst>
              </a:tr>
            </a:tbl>
          </a:graphicData>
        </a:graphic>
      </p:graphicFrame>
      <p:sp>
        <p:nvSpPr>
          <p:cNvPr id="6" name="Caption Report Table"/>
          <p:cNvSpPr txBox="1"/>
          <p:nvPr/>
        </p:nvSpPr>
        <p:spPr>
          <a:xfrm>
            <a:off x="6766560" y="3127248"/>
            <a:ext cx="4983480" cy="274320"/>
          </a:xfrm>
          <a:prstGeom prst="rect">
            <a:avLst/>
          </a:prstGeom>
          <a:noFill/>
          <a:ln/>
        </p:spPr>
        <p:txBody>
          <a:bodyPr wrap="square" lIns="0" tIns="0" rIns="0" bIns="0" rtlCol="0" anchor="t"/>
          <a:lstStyle/>
          <a:p>
            <a:pPr marL="0" indent="0" algn="l">
              <a:buNone/>
            </a:pPr>
            <a:r>
              <a:rPr lang="en-US" sz="1100" i="1" dirty="0">
                <a:solidFill>
                  <a:srgbClr val="5C6673"/>
                </a:solidFill>
              </a:rPr>
              <a:t>Report Table 4.5 (condensed): success by tier pooled over budgets</a:t>
            </a:r>
            <a:endParaRPr lang="en-US" sz="1100" dirty="0"/>
          </a:p>
        </p:txBody>
      </p:sp>
      <p:sp>
        <p:nvSpPr>
          <p:cNvPr id="7" name="Bullets"/>
          <p:cNvSpPr txBox="1"/>
          <p:nvPr/>
        </p:nvSpPr>
        <p:spPr>
          <a:xfrm>
            <a:off x="6766560" y="3566160"/>
            <a:ext cx="4983480" cy="2560320"/>
          </a:xfrm>
          <a:prstGeom prst="rect">
            <a:avLst/>
          </a:prstGeom>
          <a:noFill/>
          <a:ln/>
        </p:spPr>
        <p:txBody>
          <a:bodyPr wrap="square" lIns="0" tIns="0" rIns="0" bIns="0" rtlCol="0" anchor="t"/>
          <a:lstStyle/>
          <a:p>
            <a:pPr marL="177800" indent="-177800" algn="l">
              <a:spcAft>
                <a:spcPts val="600"/>
              </a:spcAft>
              <a:buSzPct val="100000"/>
              <a:buChar char="•"/>
            </a:pPr>
            <a:r>
              <a:rPr lang="en-US" sz="1250" dirty="0">
                <a:solidFill>
                  <a:srgbClr val="1B1F2A"/>
                </a:solidFill>
              </a:rPr>
              <a:t>Same ordering in every tier: A &gt; B and C &gt; B (p &lt; 0.0001 each, threshold 0.0056); A vs C never differs (p = 0.058, 0.434, 1.000)</a:t>
            </a:r>
            <a:endParaRPr lang="en-US" sz="1250" dirty="0"/>
          </a:p>
          <a:p>
            <a:pPr marL="177800" indent="-177800" algn="l">
              <a:spcAft>
                <a:spcPts val="600"/>
              </a:spcAft>
              <a:buSzPct val="100000"/>
              <a:buChar char="•"/>
            </a:pPr>
            <a:r>
              <a:rPr lang="en-US" sz="1250" dirty="0">
                <a:solidFill>
                  <a:srgbClr val="1B1F2A"/>
                </a:solidFill>
              </a:rPr>
              <a:t>Paired sensitivity differences: C − B +0.20 [+0.01, +0.44] excludes zero; B − A and C − A do not</a:t>
            </a:r>
            <a:endParaRPr lang="en-US" sz="1250" dirty="0"/>
          </a:p>
          <a:p>
            <a:pPr marL="177800" indent="-177800" algn="l">
              <a:spcAft>
                <a:spcPts val="600"/>
              </a:spcAft>
              <a:buSzPct val="100000"/>
              <a:buChar char="•"/>
            </a:pPr>
            <a:r>
              <a:rPr lang="en-US" sz="1250" dirty="0">
                <a:solidFill>
                  <a:srgbClr val="1B1F2A"/>
                </a:solidFill>
              </a:rPr>
              <a:t>The router declined 46% of Hard tasks against 27% of Easy: its stop head learned where A's success was lowest</a:t>
            </a:r>
            <a:endParaRPr lang="en-US" sz="1250" dirty="0"/>
          </a:p>
          <a:p>
            <a:pPr marL="177800" indent="-177800" algn="l">
              <a:spcAft>
                <a:spcPts val="600"/>
              </a:spcAft>
              <a:buSzPct val="100000"/>
              <a:buChar char="•"/>
            </a:pPr>
            <a:r>
              <a:rPr lang="en-US" sz="1250" dirty="0">
                <a:solidFill>
                  <a:srgbClr val="1B1F2A"/>
                </a:solidFill>
              </a:rPr>
              <a:t>B overtook A only on Easy tasks at 64k (31.3% vs 30.1%); 15 tasks were solved by B and never by A, where A looped rather than ran out of budget</a:t>
            </a:r>
            <a:endParaRPr lang="en-US" sz="1250" dirty="0"/>
          </a:p>
        </p:txBody>
      </p:sp>
      <p:sp>
        <p:nvSpPr>
          <p:cNvPr id="25" name="Slide Number Placeholder 0"/>
          <p:cNvSpPr>
            <a:spLocks noGrp="1"/>
          </p:cNvSpPr>
          <p:nvPr>
            <p:ph type="sldNum" sz="quarter" idx="4294967295"/>
          </p:nvPr>
        </p:nvSpPr>
        <p:spPr>
          <a:xfrm>
            <a:off x="1124712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673"/>
                </a:solidFil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11247120" cy="777240"/>
          </a:xfrm>
          <a:prstGeom prst="rect">
            <a:avLst/>
          </a:prstGeom>
          <a:noFill/>
          <a:ln/>
        </p:spPr>
        <p:txBody>
          <a:bodyPr wrap="square" lIns="0" tIns="0" rIns="0" bIns="0" rtlCol="0" anchor="ctr"/>
          <a:lstStyle/>
          <a:p>
            <a:pPr marL="0" indent="0" algn="l">
              <a:buNone/>
            </a:pPr>
            <a:r>
              <a:rPr lang="en-US" sz="3000" b="1" dirty="0">
                <a:solidFill>
                  <a:schemeClr val="tx2"/>
                </a:solidFill>
              </a:rPr>
              <a:t>RQ3: allocation within an episode changed cost, not success</a:t>
            </a:r>
            <a:endParaRPr lang="en-US" sz="3000" dirty="0"/>
          </a:p>
        </p:txBody>
      </p:sp>
      <p:pic>
        <p:nvPicPr>
          <p:cNvPr id="3" name="Report Figure 4.7" descr="/tmp/claude-0/-home-claude/3b9ca3d8-d8cd-59f1-9b80-73904a5c6e11/scratchpad/r23/word/media/image12.png"/>
          <p:cNvPicPr>
            <a:picLocks noChangeAspect="1"/>
          </p:cNvPicPr>
          <p:nvPr/>
        </p:nvPicPr>
        <p:blipFill>
          <a:blip r:embed="rId3"/>
          <a:stretch>
            <a:fillRect/>
          </a:stretch>
        </p:blipFill>
        <p:spPr>
          <a:xfrm>
            <a:off x="609052" y="1097280"/>
            <a:ext cx="4176856" cy="4800600"/>
          </a:xfrm>
          <a:prstGeom prst="rect">
            <a:avLst/>
          </a:prstGeom>
        </p:spPr>
      </p:pic>
      <p:sp>
        <p:nvSpPr>
          <p:cNvPr id="4" name="Caption Figure 4.7"/>
          <p:cNvSpPr txBox="1"/>
          <p:nvPr/>
        </p:nvSpPr>
        <p:spPr>
          <a:xfrm>
            <a:off x="457200" y="5916168"/>
            <a:ext cx="4480560" cy="301752"/>
          </a:xfrm>
          <a:prstGeom prst="rect">
            <a:avLst/>
          </a:prstGeom>
          <a:noFill/>
          <a:ln/>
        </p:spPr>
        <p:txBody>
          <a:bodyPr wrap="square" lIns="0" tIns="0" rIns="0" bIns="0" rtlCol="0" anchor="t"/>
          <a:lstStyle/>
          <a:p>
            <a:pPr marL="0" indent="0" algn="ctr">
              <a:buNone/>
            </a:pPr>
            <a:r>
              <a:rPr lang="en-US" sz="1100" i="1" dirty="0">
                <a:solidFill>
                  <a:srgbClr val="5C6673"/>
                </a:solidFill>
              </a:rPr>
              <a:t>Report Figure 4.7: effect of each scheme vs pay-as-you-go, 95% bootstrap intervals (analyse_schemes.py)</a:t>
            </a:r>
            <a:endParaRPr lang="en-US" sz="1100" dirty="0"/>
          </a:p>
        </p:txBody>
      </p:sp>
      <p:graphicFrame>
        <p:nvGraphicFramePr>
          <p:cNvPr id="24" name="Table"/>
          <p:cNvGraphicFramePr>
            <a:graphicFrameLocks noGrp="1"/>
          </p:cNvGraphicFramePr>
          <p:nvPr>
            <p:extLst>
              <p:ext uri="{D42A27DB-BD31-4B8C-83A1-F6EECF244321}">
                <p14:modId xmlns:p14="http://schemas.microsoft.com/office/powerpoint/2010/main" val="1579011935"/>
              </p:ext>
            </p:extLst>
          </p:nvPr>
        </p:nvGraphicFramePr>
        <p:xfrm>
          <a:off x="5212080" y="1188720"/>
          <a:ext cx="6537960" cy="2834640"/>
        </p:xfrm>
        <a:graphic>
          <a:graphicData uri="http://schemas.openxmlformats.org/drawingml/2006/table">
            <a:tbl>
              <a:tblPr/>
              <a:tblGrid>
                <a:gridCol w="914400">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tblGrid>
              <a:tr h="283464">
                <a:tc>
                  <a:txBody>
                    <a:bodyPr/>
                    <a:lstStyle/>
                    <a:p>
                      <a:pPr marL="0" indent="0" algn="l">
                        <a:buNone/>
                      </a:pPr>
                      <a:r>
                        <a:rPr lang="en-US" sz="1150" b="1" dirty="0">
                          <a:solidFill>
                            <a:srgbClr val="FFFFFF"/>
                          </a:solidFill>
                        </a:rPr>
                        <a:t>Strategy</a:t>
                      </a:r>
                      <a:endParaRPr lang="en-US" sz="115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14213D"/>
                    </a:solidFill>
                  </a:tcPr>
                </a:tc>
                <a:tc>
                  <a:txBody>
                    <a:bodyPr/>
                    <a:lstStyle/>
                    <a:p>
                      <a:pPr marL="0" indent="0" algn="l">
                        <a:buNone/>
                      </a:pPr>
                      <a:r>
                        <a:rPr lang="en-US" sz="1150" b="1" dirty="0">
                          <a:solidFill>
                            <a:srgbClr val="FFFFFF"/>
                          </a:solidFill>
                        </a:rPr>
                        <a:t>Scheme</a:t>
                      </a:r>
                      <a:endParaRPr lang="en-US" sz="115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14213D"/>
                    </a:solidFill>
                  </a:tcPr>
                </a:tc>
                <a:tc>
                  <a:txBody>
                    <a:bodyPr/>
                    <a:lstStyle/>
                    <a:p>
                      <a:pPr marL="0" indent="0" algn="l">
                        <a:buNone/>
                      </a:pPr>
                      <a:r>
                        <a:rPr lang="en-US" sz="1150" b="1" dirty="0">
                          <a:solidFill>
                            <a:srgbClr val="FFFFFF"/>
                          </a:solidFill>
                        </a:rPr>
                        <a:t>Δ success (pp) [CI]</a:t>
                      </a:r>
                      <a:endParaRPr lang="en-US" sz="115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14213D"/>
                    </a:solidFill>
                  </a:tcPr>
                </a:tc>
                <a:tc>
                  <a:txBody>
                    <a:bodyPr/>
                    <a:lstStyle/>
                    <a:p>
                      <a:pPr marL="0" indent="0" algn="l">
                        <a:buNone/>
                      </a:pPr>
                      <a:r>
                        <a:rPr lang="en-US" sz="1150" b="1" dirty="0">
                          <a:solidFill>
                            <a:srgbClr val="FFFFFF"/>
                          </a:solidFill>
                        </a:rPr>
                        <a:t>Δ tokens (%) [CI]</a:t>
                      </a:r>
                      <a:endParaRPr lang="en-US" sz="115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283464">
                <a:tc>
                  <a:txBody>
                    <a:bodyPr/>
                    <a:lstStyle/>
                    <a:p>
                      <a:pPr marL="0" indent="0" algn="l">
                        <a:buNone/>
                      </a:pPr>
                      <a:r>
                        <a:rPr lang="en-US" sz="1150" b="1" dirty="0">
                          <a:solidFill>
                            <a:srgbClr val="1F77B4"/>
                          </a:solidFill>
                        </a:rPr>
                        <a:t>A</a:t>
                      </a:r>
                      <a:endParaRPr lang="en-US" sz="115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B1F2A"/>
                          </a:solidFill>
                        </a:rPr>
                        <a:t>Even</a:t>
                      </a:r>
                      <a:endParaRPr lang="en-US" sz="115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B1F2A"/>
                          </a:solidFill>
                        </a:rPr>
                        <a:t>−2.0 [−8.0, +3.0]</a:t>
                      </a:r>
                      <a:endParaRPr lang="en-US" sz="115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B1F2A"/>
                          </a:solidFill>
                        </a:rPr>
                        <a:t>−0.9 [−11.0, +10.7]</a:t>
                      </a:r>
                      <a:endParaRPr lang="en-US" sz="115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83464">
                <a:tc>
                  <a:txBody>
                    <a:bodyPr/>
                    <a:lstStyle/>
                    <a:p>
                      <a:pPr marL="0" indent="0" algn="l">
                        <a:buNone/>
                      </a:pPr>
                      <a:endParaRPr lang="en-US" sz="115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tc>
                  <a:txBody>
                    <a:bodyPr/>
                    <a:lstStyle/>
                    <a:p>
                      <a:pPr marL="0" indent="0" algn="l">
                        <a:buNone/>
                      </a:pPr>
                      <a:r>
                        <a:rPr lang="en-US" sz="1150" dirty="0">
                          <a:solidFill>
                            <a:srgbClr val="1B1F2A"/>
                          </a:solidFill>
                        </a:rPr>
                        <a:t>Front-loaded</a:t>
                      </a:r>
                      <a:endParaRPr lang="en-US" sz="115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tc>
                  <a:txBody>
                    <a:bodyPr/>
                    <a:lstStyle/>
                    <a:p>
                      <a:pPr marL="0" indent="0" algn="l">
                        <a:buNone/>
                      </a:pPr>
                      <a:r>
                        <a:rPr lang="en-US" sz="1150" dirty="0">
                          <a:solidFill>
                            <a:srgbClr val="1B1F2A"/>
                          </a:solidFill>
                        </a:rPr>
                        <a:t>0.0 [−6.0, +6.0]</a:t>
                      </a:r>
                      <a:endParaRPr lang="en-US" sz="115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tc>
                  <a:txBody>
                    <a:bodyPr/>
                    <a:lstStyle/>
                    <a:p>
                      <a:pPr marL="0" indent="0" algn="l">
                        <a:buNone/>
                      </a:pPr>
                      <a:r>
                        <a:rPr lang="en-US" sz="1150" dirty="0">
                          <a:solidFill>
                            <a:srgbClr val="1B1F2A"/>
                          </a:solidFill>
                        </a:rPr>
                        <a:t>+9.6 [−1.4, +22.2]</a:t>
                      </a:r>
                      <a:endParaRPr lang="en-US" sz="115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extLst>
                  <a:ext uri="{0D108BD9-81ED-4DB2-BD59-A6C34878D82A}">
                    <a16:rowId xmlns:a16="http://schemas.microsoft.com/office/drawing/2014/main" val="10002"/>
                  </a:ext>
                </a:extLst>
              </a:tr>
              <a:tr h="283464">
                <a:tc>
                  <a:txBody>
                    <a:bodyPr/>
                    <a:lstStyle/>
                    <a:p>
                      <a:pPr marL="0" indent="0" algn="l">
                        <a:buNone/>
                      </a:pPr>
                      <a:endParaRPr lang="en-US" sz="115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B1F2A"/>
                          </a:solidFill>
                        </a:rPr>
                        <a:t>Reactive</a:t>
                      </a:r>
                      <a:endParaRPr lang="en-US" sz="115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B1F2A"/>
                          </a:solidFill>
                        </a:rPr>
                        <a:t>+4.0 [−1.0, +9.0]</a:t>
                      </a:r>
                      <a:endParaRPr lang="en-US" sz="115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B1F2A"/>
                          </a:solidFill>
                        </a:rPr>
                        <a:t>+11.9 [−0.0, +24.1]</a:t>
                      </a:r>
                      <a:endParaRPr lang="en-US" sz="115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83464">
                <a:tc>
                  <a:txBody>
                    <a:bodyPr/>
                    <a:lstStyle/>
                    <a:p>
                      <a:pPr marL="0" indent="0" algn="l">
                        <a:buNone/>
                      </a:pPr>
                      <a:r>
                        <a:rPr lang="en-US" sz="1150" b="1" dirty="0">
                          <a:solidFill>
                            <a:srgbClr val="FF7F0E"/>
                          </a:solidFill>
                        </a:rPr>
                        <a:t>B</a:t>
                      </a:r>
                      <a:endParaRPr lang="en-US" sz="115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tc>
                  <a:txBody>
                    <a:bodyPr/>
                    <a:lstStyle/>
                    <a:p>
                      <a:pPr marL="0" indent="0" algn="l">
                        <a:buNone/>
                      </a:pPr>
                      <a:r>
                        <a:rPr lang="en-US" sz="1150" dirty="0">
                          <a:solidFill>
                            <a:srgbClr val="1B1F2A"/>
                          </a:solidFill>
                        </a:rPr>
                        <a:t>Even</a:t>
                      </a:r>
                      <a:endParaRPr lang="en-US" sz="115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tc>
                  <a:txBody>
                    <a:bodyPr/>
                    <a:lstStyle/>
                    <a:p>
                      <a:pPr marL="0" indent="0" algn="l">
                        <a:buNone/>
                      </a:pPr>
                      <a:r>
                        <a:rPr lang="en-US" sz="1150" dirty="0">
                          <a:solidFill>
                            <a:srgbClr val="1B1F2A"/>
                          </a:solidFill>
                        </a:rPr>
                        <a:t>+2.0 [−3.0, +7.0]</a:t>
                      </a:r>
                      <a:endParaRPr lang="en-US" sz="115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tc>
                  <a:txBody>
                    <a:bodyPr/>
                    <a:lstStyle/>
                    <a:p>
                      <a:pPr marL="0" indent="0" algn="l">
                        <a:buNone/>
                      </a:pPr>
                      <a:r>
                        <a:rPr lang="en-US" sz="1150" b="1" dirty="0">
                          <a:solidFill>
                            <a:srgbClr val="1B1F2A"/>
                          </a:solidFill>
                        </a:rPr>
                        <a:t>+6.2 [+2.9, +9.8]</a:t>
                      </a:r>
                      <a:endParaRPr lang="en-US" sz="115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extLst>
                  <a:ext uri="{0D108BD9-81ED-4DB2-BD59-A6C34878D82A}">
                    <a16:rowId xmlns:a16="http://schemas.microsoft.com/office/drawing/2014/main" val="10004"/>
                  </a:ext>
                </a:extLst>
              </a:tr>
              <a:tr h="283464">
                <a:tc>
                  <a:txBody>
                    <a:bodyPr/>
                    <a:lstStyle/>
                    <a:p>
                      <a:pPr marL="0" indent="0" algn="l">
                        <a:buNone/>
                      </a:pPr>
                      <a:endParaRPr lang="en-US" sz="115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B1F2A"/>
                          </a:solidFill>
                        </a:rPr>
                        <a:t>Front-loaded</a:t>
                      </a:r>
                      <a:endParaRPr lang="en-US" sz="115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B1F2A"/>
                          </a:solidFill>
                        </a:rPr>
                        <a:t>−5.0 [−10.0, 0.0]</a:t>
                      </a:r>
                      <a:endParaRPr lang="en-US" sz="115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tc>
                  <a:txBody>
                    <a:bodyPr/>
                    <a:lstStyle/>
                    <a:p>
                      <a:pPr marL="0" indent="0" algn="l">
                        <a:buNone/>
                      </a:pPr>
                      <a:r>
                        <a:rPr lang="en-US" sz="1150" b="1" dirty="0">
                          <a:solidFill>
                            <a:srgbClr val="1B1F2A"/>
                          </a:solidFill>
                        </a:rPr>
                        <a:t>+3.3 [+0.6, +6.3]</a:t>
                      </a:r>
                      <a:endParaRPr lang="en-US" sz="115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83464">
                <a:tc>
                  <a:txBody>
                    <a:bodyPr/>
                    <a:lstStyle/>
                    <a:p>
                      <a:pPr marL="0" indent="0" algn="l">
                        <a:buNone/>
                      </a:pPr>
                      <a:endParaRPr lang="en-US" sz="115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tc>
                  <a:txBody>
                    <a:bodyPr/>
                    <a:lstStyle/>
                    <a:p>
                      <a:pPr marL="0" indent="0" algn="l">
                        <a:buNone/>
                      </a:pPr>
                      <a:r>
                        <a:rPr lang="en-US" sz="1150" dirty="0">
                          <a:solidFill>
                            <a:srgbClr val="1B1F2A"/>
                          </a:solidFill>
                        </a:rPr>
                        <a:t>Reactive</a:t>
                      </a:r>
                      <a:endParaRPr lang="en-US" sz="115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tc>
                  <a:txBody>
                    <a:bodyPr/>
                    <a:lstStyle/>
                    <a:p>
                      <a:pPr marL="0" indent="0" algn="l">
                        <a:buNone/>
                      </a:pPr>
                      <a:r>
                        <a:rPr lang="en-US" sz="1150" dirty="0">
                          <a:solidFill>
                            <a:srgbClr val="1B1F2A"/>
                          </a:solidFill>
                        </a:rPr>
                        <a:t>+1.0 [−4.0, +6.0]</a:t>
                      </a:r>
                      <a:endParaRPr lang="en-US" sz="115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tc>
                  <a:txBody>
                    <a:bodyPr/>
                    <a:lstStyle/>
                    <a:p>
                      <a:pPr marL="0" indent="0" algn="l">
                        <a:buNone/>
                      </a:pPr>
                      <a:r>
                        <a:rPr lang="en-US" sz="1150" b="1" dirty="0">
                          <a:solidFill>
                            <a:srgbClr val="1B1F2A"/>
                          </a:solidFill>
                        </a:rPr>
                        <a:t>+7.3 [+5.2, +9.5]</a:t>
                      </a:r>
                      <a:endParaRPr lang="en-US" sz="115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extLst>
                  <a:ext uri="{0D108BD9-81ED-4DB2-BD59-A6C34878D82A}">
                    <a16:rowId xmlns:a16="http://schemas.microsoft.com/office/drawing/2014/main" val="10006"/>
                  </a:ext>
                </a:extLst>
              </a:tr>
              <a:tr h="283464">
                <a:tc>
                  <a:txBody>
                    <a:bodyPr/>
                    <a:lstStyle/>
                    <a:p>
                      <a:pPr marL="0" indent="0" algn="l">
                        <a:buNone/>
                      </a:pPr>
                      <a:r>
                        <a:rPr lang="en-US" sz="1150" b="1" dirty="0">
                          <a:solidFill>
                            <a:srgbClr val="2CA02C"/>
                          </a:solidFill>
                        </a:rPr>
                        <a:t>C</a:t>
                      </a:r>
                      <a:endParaRPr lang="en-US" sz="115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B1F2A"/>
                          </a:solidFill>
                        </a:rPr>
                        <a:t>Even</a:t>
                      </a:r>
                      <a:endParaRPr lang="en-US" sz="115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B1F2A"/>
                          </a:solidFill>
                        </a:rPr>
                        <a:t>+1.0 [−4.0, +6.0]</a:t>
                      </a:r>
                      <a:endParaRPr lang="en-US" sz="115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B1F2A"/>
                          </a:solidFill>
                        </a:rPr>
                        <a:t>−6.3 [−15.1, +3.9]</a:t>
                      </a:r>
                      <a:endParaRPr lang="en-US" sz="115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83464">
                <a:tc>
                  <a:txBody>
                    <a:bodyPr/>
                    <a:lstStyle/>
                    <a:p>
                      <a:pPr marL="0" indent="0" algn="l">
                        <a:buNone/>
                      </a:pPr>
                      <a:endParaRPr lang="en-US" sz="115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tc>
                  <a:txBody>
                    <a:bodyPr/>
                    <a:lstStyle/>
                    <a:p>
                      <a:pPr marL="0" indent="0" algn="l">
                        <a:buNone/>
                      </a:pPr>
                      <a:r>
                        <a:rPr lang="en-US" sz="1150" dirty="0">
                          <a:solidFill>
                            <a:srgbClr val="1B1F2A"/>
                          </a:solidFill>
                        </a:rPr>
                        <a:t>Front-loaded</a:t>
                      </a:r>
                      <a:endParaRPr lang="en-US" sz="115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tc>
                  <a:txBody>
                    <a:bodyPr/>
                    <a:lstStyle/>
                    <a:p>
                      <a:pPr marL="0" indent="0" algn="l">
                        <a:buNone/>
                      </a:pPr>
                      <a:r>
                        <a:rPr lang="en-US" sz="1150" dirty="0">
                          <a:solidFill>
                            <a:srgbClr val="1B1F2A"/>
                          </a:solidFill>
                        </a:rPr>
                        <a:t>+1.0 [−5.0, +7.0]</a:t>
                      </a:r>
                      <a:endParaRPr lang="en-US" sz="115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tc>
                  <a:txBody>
                    <a:bodyPr/>
                    <a:lstStyle/>
                    <a:p>
                      <a:pPr marL="0" indent="0" algn="l">
                        <a:buNone/>
                      </a:pPr>
                      <a:r>
                        <a:rPr lang="en-US" sz="1150" dirty="0">
                          <a:solidFill>
                            <a:srgbClr val="1B1F2A"/>
                          </a:solidFill>
                        </a:rPr>
                        <a:t>−7.0 [−14.7, +1.4]</a:t>
                      </a:r>
                      <a:endParaRPr lang="en-US" sz="115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extLst>
                  <a:ext uri="{0D108BD9-81ED-4DB2-BD59-A6C34878D82A}">
                    <a16:rowId xmlns:a16="http://schemas.microsoft.com/office/drawing/2014/main" val="10008"/>
                  </a:ext>
                </a:extLst>
              </a:tr>
              <a:tr h="283464">
                <a:tc>
                  <a:txBody>
                    <a:bodyPr/>
                    <a:lstStyle/>
                    <a:p>
                      <a:pPr marL="0" indent="0" algn="l">
                        <a:buNone/>
                      </a:pPr>
                      <a:endParaRPr lang="en-US" sz="115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B1F2A"/>
                          </a:solidFill>
                        </a:rPr>
                        <a:t>Reactive</a:t>
                      </a:r>
                      <a:endParaRPr lang="en-US" sz="115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B1F2A"/>
                          </a:solidFill>
                        </a:rPr>
                        <a:t>+1.0 [−5.0, +7.0]</a:t>
                      </a:r>
                      <a:endParaRPr lang="en-US" sz="115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B1F2A"/>
                          </a:solidFill>
                        </a:rPr>
                        <a:t>+10.5 [−0.5, +23.7]</a:t>
                      </a:r>
                      <a:endParaRPr lang="en-US" sz="115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6" name="Caption Report Table"/>
          <p:cNvSpPr txBox="1"/>
          <p:nvPr/>
        </p:nvSpPr>
        <p:spPr>
          <a:xfrm>
            <a:off x="5212080" y="4133088"/>
            <a:ext cx="6537960" cy="274320"/>
          </a:xfrm>
          <a:prstGeom prst="rect">
            <a:avLst/>
          </a:prstGeom>
          <a:noFill/>
          <a:ln/>
        </p:spPr>
        <p:txBody>
          <a:bodyPr wrap="square" lIns="0" tIns="0" rIns="0" bIns="0" rtlCol="0" anchor="t"/>
          <a:lstStyle/>
          <a:p>
            <a:pPr marL="0" indent="0" algn="l">
              <a:buNone/>
            </a:pPr>
            <a:r>
              <a:rPr lang="en-US" sz="1100" i="1" dirty="0">
                <a:solidFill>
                  <a:srgbClr val="5C6673"/>
                </a:solidFill>
              </a:rPr>
              <a:t>Report Table 4.7 (Appendix): paired bootstrap over 100 read-only tasks at 32k, 2,000 resamples</a:t>
            </a:r>
            <a:endParaRPr lang="en-US" sz="1100" dirty="0"/>
          </a:p>
        </p:txBody>
      </p:sp>
      <p:sp>
        <p:nvSpPr>
          <p:cNvPr id="7" name="Bullets"/>
          <p:cNvSpPr txBox="1"/>
          <p:nvPr/>
        </p:nvSpPr>
        <p:spPr>
          <a:xfrm>
            <a:off x="5212080" y="4343400"/>
            <a:ext cx="6537960" cy="1783080"/>
          </a:xfrm>
          <a:prstGeom prst="rect">
            <a:avLst/>
          </a:prstGeom>
          <a:noFill/>
          <a:ln/>
        </p:spPr>
        <p:txBody>
          <a:bodyPr wrap="square" lIns="0" tIns="0" rIns="0" bIns="0" rtlCol="0" anchor="t"/>
          <a:lstStyle/>
          <a:p>
            <a:pPr marL="177800" indent="-177800" algn="l">
              <a:spcAft>
                <a:spcPts val="400"/>
              </a:spcAft>
              <a:buSzPct val="100000"/>
              <a:buChar char="•"/>
            </a:pPr>
            <a:r>
              <a:rPr lang="en-US" sz="1150" dirty="0">
                <a:solidFill>
                  <a:srgbClr val="1B1F2A"/>
                </a:solidFill>
              </a:rPr>
              <a:t>No scheme changed any strategy's success: none of 18 within-strategy McNemar tests reached 0.0028; every success interval spans zero</a:t>
            </a:r>
            <a:endParaRPr lang="en-US" sz="1150" dirty="0"/>
          </a:p>
          <a:p>
            <a:pPr marL="177800" indent="-177800" algn="l">
              <a:spcAft>
                <a:spcPts val="400"/>
              </a:spcAft>
              <a:buSzPct val="100000"/>
              <a:buChar char="•"/>
            </a:pPr>
            <a:r>
              <a:rPr lang="en-US" sz="1150" dirty="0">
                <a:solidFill>
                  <a:srgbClr val="1B1F2A"/>
                </a:solidFill>
              </a:rPr>
              <a:t>B cost more under every scheme (bold): fitting three calls into a per-step allowance trimmed the page on 49% to 78% of steps, and the pipeline then took more steps</a:t>
            </a:r>
            <a:endParaRPr lang="en-US" sz="1150" dirty="0"/>
          </a:p>
          <a:p>
            <a:pPr marL="177800" indent="-177800" algn="l">
              <a:spcAft>
                <a:spcPts val="400"/>
              </a:spcAft>
              <a:buSzPct val="100000"/>
              <a:buChar char="•"/>
            </a:pPr>
            <a:r>
              <a:rPr lang="en-US" sz="1150" dirty="0">
                <a:solidFill>
                  <a:srgbClr val="1B1F2A"/>
                </a:solidFill>
              </a:rPr>
              <a:t>A's high-effort schemes raised spend (+9.6%, +11.9%); C's even and front-loaded schemes trended cheaper</a:t>
            </a:r>
            <a:endParaRPr lang="en-US" sz="1150" dirty="0"/>
          </a:p>
          <a:p>
            <a:pPr marL="177800" indent="-177800" algn="l">
              <a:spcAft>
                <a:spcPts val="400"/>
              </a:spcAft>
              <a:buSzPct val="100000"/>
              <a:buChar char="•"/>
            </a:pPr>
            <a:r>
              <a:rPr lang="en-US" sz="1150" dirty="0">
                <a:solidFill>
                  <a:srgbClr val="1B1F2A"/>
                </a:solidFill>
              </a:rPr>
              <a:t>The ordering survived every scheme: A and C never differed (p ≥ 0.375); B trailed both under every scheme, significantly for three of the six contrasts at the 0.0042 threshold</a:t>
            </a:r>
            <a:endParaRPr lang="en-US" sz="1150" dirty="0"/>
          </a:p>
        </p:txBody>
      </p:sp>
      <p:sp>
        <p:nvSpPr>
          <p:cNvPr id="25" name="Slide Number Placeholder 0"/>
          <p:cNvSpPr>
            <a:spLocks noGrp="1"/>
          </p:cNvSpPr>
          <p:nvPr>
            <p:ph type="sldNum" sz="quarter" idx="4294967295"/>
          </p:nvPr>
        </p:nvSpPr>
        <p:spPr>
          <a:xfrm>
            <a:off x="1124712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673"/>
                </a:solidFill>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11247120" cy="777240"/>
          </a:xfrm>
          <a:prstGeom prst="rect">
            <a:avLst/>
          </a:prstGeom>
          <a:noFill/>
          <a:ln/>
        </p:spPr>
        <p:txBody>
          <a:bodyPr wrap="square" lIns="0" tIns="0" rIns="0" bIns="0" rtlCol="0" anchor="ctr"/>
          <a:lstStyle/>
          <a:p>
            <a:pPr marL="0" indent="0" algn="l">
              <a:buNone/>
            </a:pPr>
            <a:r>
              <a:rPr lang="en-US" sz="3000" b="1" dirty="0">
                <a:solidFill>
                  <a:schemeClr val="tx2"/>
                </a:solidFill>
              </a:rPr>
              <a:t>How far to trust the results, and what bounded them</a:t>
            </a:r>
            <a:endParaRPr lang="en-US" sz="3000" dirty="0"/>
          </a:p>
        </p:txBody>
      </p:sp>
      <p:sp>
        <p:nvSpPr>
          <p:cNvPr id="3" name="Heading What makes the comparison trustworthy"/>
          <p:cNvSpPr txBox="1"/>
          <p:nvPr/>
        </p:nvSpPr>
        <p:spPr>
          <a:xfrm>
            <a:off x="457200" y="1143000"/>
            <a:ext cx="5486400" cy="365760"/>
          </a:xfrm>
          <a:prstGeom prst="rect">
            <a:avLst/>
          </a:prstGeom>
          <a:noFill/>
          <a:ln/>
        </p:spPr>
        <p:txBody>
          <a:bodyPr wrap="square" lIns="0" tIns="0" rIns="0" bIns="0" rtlCol="0" anchor="ctr"/>
          <a:lstStyle/>
          <a:p>
            <a:pPr marL="0" indent="0" algn="l">
              <a:buNone/>
            </a:pPr>
            <a:r>
              <a:rPr lang="en-US" sz="1600" b="1" dirty="0">
                <a:solidFill>
                  <a:srgbClr val="14213D"/>
                </a:solidFill>
              </a:rPr>
              <a:t>What makes the comparison trustworthy</a:t>
            </a:r>
            <a:endParaRPr lang="en-US" sz="1600" dirty="0"/>
          </a:p>
        </p:txBody>
      </p:sp>
      <p:sp>
        <p:nvSpPr>
          <p:cNvPr id="4" name="Badge ✓"/>
          <p:cNvSpPr/>
          <p:nvPr/>
        </p:nvSpPr>
        <p:spPr>
          <a:xfrm>
            <a:off x="457200" y="1645920"/>
            <a:ext cx="384048" cy="384048"/>
          </a:xfrm>
          <a:prstGeom prst="ellipse">
            <a:avLst/>
          </a:prstGeom>
          <a:solidFill>
            <a:srgbClr val="2CA02C"/>
          </a:solidFill>
          <a:ln w="12700">
            <a:solidFill>
              <a:srgbClr val="2CA02C"/>
            </a:solidFill>
            <a:prstDash val="solid"/>
          </a:ln>
        </p:spPr>
        <p:txBody>
          <a:bodyPr/>
          <a:lstStyle/>
          <a:p>
            <a:endParaRPr lang="en-GB"/>
          </a:p>
        </p:txBody>
      </p:sp>
      <p:sp>
        <p:nvSpPr>
          <p:cNvPr id="5" name="Badge label ✓"/>
          <p:cNvSpPr txBox="1"/>
          <p:nvPr/>
        </p:nvSpPr>
        <p:spPr>
          <a:xfrm>
            <a:off x="457200" y="164592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rPr>
              <a:t>✓</a:t>
            </a:r>
            <a:endParaRPr lang="en-US" sz="1300" dirty="0"/>
          </a:p>
        </p:txBody>
      </p:sp>
      <p:sp>
        <p:nvSpPr>
          <p:cNvPr id="6" name="Row title Paired design"/>
          <p:cNvSpPr txBox="1"/>
          <p:nvPr/>
        </p:nvSpPr>
        <p:spPr>
          <a:xfrm>
            <a:off x="987552" y="1600200"/>
            <a:ext cx="4956048" cy="292608"/>
          </a:xfrm>
          <a:prstGeom prst="rect">
            <a:avLst/>
          </a:prstGeom>
          <a:noFill/>
          <a:ln/>
        </p:spPr>
        <p:txBody>
          <a:bodyPr wrap="square" lIns="0" tIns="0" rIns="0" bIns="0" rtlCol="0" anchor="ctr"/>
          <a:lstStyle/>
          <a:p>
            <a:pPr marL="0" indent="0" algn="l">
              <a:buNone/>
            </a:pPr>
            <a:r>
              <a:rPr lang="en-US" sz="1400" b="1" dirty="0">
                <a:solidFill>
                  <a:srgbClr val="14213D"/>
                </a:solidFill>
              </a:rPr>
              <a:t>Paired design</a:t>
            </a:r>
            <a:endParaRPr lang="en-US" sz="1400" dirty="0"/>
          </a:p>
        </p:txBody>
      </p:sp>
      <p:sp>
        <p:nvSpPr>
          <p:cNvPr id="7" name="Row body Paired design"/>
          <p:cNvSpPr txBox="1"/>
          <p:nvPr/>
        </p:nvSpPr>
        <p:spPr>
          <a:xfrm>
            <a:off x="987552" y="1892808"/>
            <a:ext cx="4956048" cy="566928"/>
          </a:xfrm>
          <a:prstGeom prst="rect">
            <a:avLst/>
          </a:prstGeom>
          <a:noFill/>
          <a:ln/>
        </p:spPr>
        <p:txBody>
          <a:bodyPr wrap="square" lIns="0" tIns="0" rIns="0" bIns="0" rtlCol="0" anchor="t"/>
          <a:lstStyle/>
          <a:p>
            <a:pPr marL="0" indent="0" algn="l">
              <a:buNone/>
            </a:pPr>
            <a:r>
              <a:rPr lang="en-US" sz="1200" dirty="0">
                <a:solidFill>
                  <a:srgbClr val="1B1F2A"/>
                </a:solidFill>
              </a:rPr>
              <a:t>Every comparison is within identical (task, budget) cells: exact McNemar on discordant cells, Bonferroni-corrected, Wilson 95% intervals.</a:t>
            </a:r>
            <a:endParaRPr lang="en-US" sz="1200" dirty="0"/>
          </a:p>
        </p:txBody>
      </p:sp>
      <p:sp>
        <p:nvSpPr>
          <p:cNvPr id="8" name="Badge ✓"/>
          <p:cNvSpPr/>
          <p:nvPr/>
        </p:nvSpPr>
        <p:spPr>
          <a:xfrm>
            <a:off x="457200" y="2670048"/>
            <a:ext cx="384048" cy="384048"/>
          </a:xfrm>
          <a:prstGeom prst="ellipse">
            <a:avLst/>
          </a:prstGeom>
          <a:solidFill>
            <a:srgbClr val="2CA02C"/>
          </a:solidFill>
          <a:ln w="12700">
            <a:solidFill>
              <a:srgbClr val="2CA02C"/>
            </a:solidFill>
            <a:prstDash val="solid"/>
          </a:ln>
        </p:spPr>
        <p:txBody>
          <a:bodyPr/>
          <a:lstStyle/>
          <a:p>
            <a:endParaRPr lang="en-GB"/>
          </a:p>
        </p:txBody>
      </p:sp>
      <p:sp>
        <p:nvSpPr>
          <p:cNvPr id="9" name="Badge label ✓"/>
          <p:cNvSpPr txBox="1"/>
          <p:nvPr/>
        </p:nvSpPr>
        <p:spPr>
          <a:xfrm>
            <a:off x="457200" y="267004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rPr>
              <a:t>✓</a:t>
            </a:r>
            <a:endParaRPr lang="en-US" sz="1300" dirty="0"/>
          </a:p>
        </p:txBody>
      </p:sp>
      <p:sp>
        <p:nvSpPr>
          <p:cNvPr id="10" name="Row title Decontamination"/>
          <p:cNvSpPr txBox="1"/>
          <p:nvPr/>
        </p:nvSpPr>
        <p:spPr>
          <a:xfrm>
            <a:off x="987552" y="2624328"/>
            <a:ext cx="4956048" cy="292608"/>
          </a:xfrm>
          <a:prstGeom prst="rect">
            <a:avLst/>
          </a:prstGeom>
          <a:noFill/>
          <a:ln/>
        </p:spPr>
        <p:txBody>
          <a:bodyPr wrap="square" lIns="0" tIns="0" rIns="0" bIns="0" rtlCol="0" anchor="ctr"/>
          <a:lstStyle/>
          <a:p>
            <a:pPr marL="0" indent="0" algn="l">
              <a:buNone/>
            </a:pPr>
            <a:r>
              <a:rPr lang="en-US" sz="1400" b="1" dirty="0">
                <a:solidFill>
                  <a:srgbClr val="14213D"/>
                </a:solidFill>
              </a:rPr>
              <a:t>Decontamination</a:t>
            </a:r>
            <a:endParaRPr lang="en-US" sz="1400" dirty="0"/>
          </a:p>
        </p:txBody>
      </p:sp>
      <p:sp>
        <p:nvSpPr>
          <p:cNvPr id="11" name="Row body Decontamination"/>
          <p:cNvSpPr txBox="1"/>
          <p:nvPr/>
        </p:nvSpPr>
        <p:spPr>
          <a:xfrm>
            <a:off x="987552" y="2916936"/>
            <a:ext cx="4956048" cy="566928"/>
          </a:xfrm>
          <a:prstGeom prst="rect">
            <a:avLst/>
          </a:prstGeom>
          <a:noFill/>
          <a:ln/>
        </p:spPr>
        <p:txBody>
          <a:bodyPr wrap="square" lIns="0" tIns="0" rIns="0" bIns="0" rtlCol="0" anchor="t"/>
          <a:lstStyle/>
          <a:p>
            <a:pPr marL="0" indent="0" algn="l">
              <a:buNone/>
            </a:pPr>
            <a:r>
              <a:rPr lang="en-US" sz="1200" dirty="0">
                <a:solidFill>
                  <a:srgbClr val="1B1F2A"/>
                </a:solidFill>
              </a:rPr>
              <a:t>Risk labels and the first-success rule remove carried-over state; RQ3 used read-only tasks only.</a:t>
            </a:r>
            <a:endParaRPr lang="en-US" sz="1200" dirty="0"/>
          </a:p>
        </p:txBody>
      </p:sp>
      <p:sp>
        <p:nvSpPr>
          <p:cNvPr id="12" name="Badge ✓"/>
          <p:cNvSpPr/>
          <p:nvPr/>
        </p:nvSpPr>
        <p:spPr>
          <a:xfrm>
            <a:off x="457200" y="3694176"/>
            <a:ext cx="384048" cy="384048"/>
          </a:xfrm>
          <a:prstGeom prst="ellipse">
            <a:avLst/>
          </a:prstGeom>
          <a:solidFill>
            <a:srgbClr val="2CA02C"/>
          </a:solidFill>
          <a:ln w="12700">
            <a:solidFill>
              <a:srgbClr val="2CA02C"/>
            </a:solidFill>
            <a:prstDash val="solid"/>
          </a:ln>
        </p:spPr>
        <p:txBody>
          <a:bodyPr/>
          <a:lstStyle/>
          <a:p>
            <a:endParaRPr lang="en-GB"/>
          </a:p>
        </p:txBody>
      </p:sp>
      <p:sp>
        <p:nvSpPr>
          <p:cNvPr id="13" name="Badge label ✓"/>
          <p:cNvSpPr txBox="1"/>
          <p:nvPr/>
        </p:nvSpPr>
        <p:spPr>
          <a:xfrm>
            <a:off x="457200" y="3694176"/>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rPr>
              <a:t>✓</a:t>
            </a:r>
            <a:endParaRPr lang="en-US" sz="1300" dirty="0"/>
          </a:p>
        </p:txBody>
      </p:sp>
      <p:sp>
        <p:nvSpPr>
          <p:cNvPr id="14" name="Row title Independent difficulty labels"/>
          <p:cNvSpPr txBox="1"/>
          <p:nvPr/>
        </p:nvSpPr>
        <p:spPr>
          <a:xfrm>
            <a:off x="987552" y="3648456"/>
            <a:ext cx="4956048" cy="292608"/>
          </a:xfrm>
          <a:prstGeom prst="rect">
            <a:avLst/>
          </a:prstGeom>
          <a:noFill/>
          <a:ln/>
        </p:spPr>
        <p:txBody>
          <a:bodyPr wrap="square" lIns="0" tIns="0" rIns="0" bIns="0" rtlCol="0" anchor="ctr"/>
          <a:lstStyle/>
          <a:p>
            <a:pPr marL="0" indent="0" algn="l">
              <a:buNone/>
            </a:pPr>
            <a:r>
              <a:rPr lang="en-US" sz="1400" b="1" dirty="0">
                <a:solidFill>
                  <a:srgbClr val="14213D"/>
                </a:solidFill>
              </a:rPr>
              <a:t>Independent difficulty labels</a:t>
            </a:r>
            <a:endParaRPr lang="en-US" sz="1400" dirty="0"/>
          </a:p>
        </p:txBody>
      </p:sp>
      <p:sp>
        <p:nvSpPr>
          <p:cNvPr id="15" name="Row body Independent difficulty labels"/>
          <p:cNvSpPr txBox="1"/>
          <p:nvPr/>
        </p:nvSpPr>
        <p:spPr>
          <a:xfrm>
            <a:off x="987552" y="3941064"/>
            <a:ext cx="4956048" cy="566928"/>
          </a:xfrm>
          <a:prstGeom prst="rect">
            <a:avLst/>
          </a:prstGeom>
          <a:noFill/>
          <a:ln/>
        </p:spPr>
        <p:txBody>
          <a:bodyPr wrap="square" lIns="0" tIns="0" rIns="0" bIns="0" rtlCol="0" anchor="t"/>
          <a:lstStyle/>
          <a:p>
            <a:pPr marL="0" indent="0" algn="l">
              <a:buNone/>
            </a:pPr>
            <a:r>
              <a:rPr lang="en-US" sz="1200" dirty="0">
                <a:solidFill>
                  <a:srgbClr val="1B1F2A"/>
                </a:solidFill>
              </a:rPr>
              <a:t>Rubric scored without agent outcomes; κ = 0.63 held out against my hand labels.</a:t>
            </a:r>
            <a:endParaRPr lang="en-US" sz="1200" dirty="0"/>
          </a:p>
        </p:txBody>
      </p:sp>
      <p:sp>
        <p:nvSpPr>
          <p:cNvPr id="16" name="Badge ✓"/>
          <p:cNvSpPr/>
          <p:nvPr/>
        </p:nvSpPr>
        <p:spPr>
          <a:xfrm>
            <a:off x="457200" y="4718304"/>
            <a:ext cx="384048" cy="384048"/>
          </a:xfrm>
          <a:prstGeom prst="ellipse">
            <a:avLst/>
          </a:prstGeom>
          <a:solidFill>
            <a:srgbClr val="2CA02C"/>
          </a:solidFill>
          <a:ln w="12700">
            <a:solidFill>
              <a:srgbClr val="2CA02C"/>
            </a:solidFill>
            <a:prstDash val="solid"/>
          </a:ln>
        </p:spPr>
        <p:txBody>
          <a:bodyPr/>
          <a:lstStyle/>
          <a:p>
            <a:endParaRPr lang="en-GB"/>
          </a:p>
        </p:txBody>
      </p:sp>
      <p:sp>
        <p:nvSpPr>
          <p:cNvPr id="17" name="Badge label ✓"/>
          <p:cNvSpPr txBox="1"/>
          <p:nvPr/>
        </p:nvSpPr>
        <p:spPr>
          <a:xfrm>
            <a:off x="457200" y="4718304"/>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rPr>
              <a:t>✓</a:t>
            </a:r>
            <a:endParaRPr lang="en-US" sz="1300" dirty="0"/>
          </a:p>
        </p:txBody>
      </p:sp>
      <p:sp>
        <p:nvSpPr>
          <p:cNvPr id="18" name="Row title Offline to live transfer"/>
          <p:cNvSpPr txBox="1"/>
          <p:nvPr/>
        </p:nvSpPr>
        <p:spPr>
          <a:xfrm>
            <a:off x="987552" y="4672584"/>
            <a:ext cx="4956048" cy="292608"/>
          </a:xfrm>
          <a:prstGeom prst="rect">
            <a:avLst/>
          </a:prstGeom>
          <a:noFill/>
          <a:ln/>
        </p:spPr>
        <p:txBody>
          <a:bodyPr wrap="square" lIns="0" tIns="0" rIns="0" bIns="0" rtlCol="0" anchor="ctr"/>
          <a:lstStyle/>
          <a:p>
            <a:pPr marL="0" indent="0" algn="l">
              <a:buNone/>
            </a:pPr>
            <a:r>
              <a:rPr lang="en-US" sz="1400" b="1" dirty="0">
                <a:solidFill>
                  <a:srgbClr val="14213D"/>
                </a:solidFill>
              </a:rPr>
              <a:t>Offline to live transfer</a:t>
            </a:r>
            <a:endParaRPr lang="en-US" sz="1400" dirty="0"/>
          </a:p>
        </p:txBody>
      </p:sp>
      <p:sp>
        <p:nvSpPr>
          <p:cNvPr id="19" name="Row body Offline to live transfer"/>
          <p:cNvSpPr txBox="1"/>
          <p:nvPr/>
        </p:nvSpPr>
        <p:spPr>
          <a:xfrm>
            <a:off x="987552" y="4965192"/>
            <a:ext cx="4956048" cy="566928"/>
          </a:xfrm>
          <a:prstGeom prst="rect">
            <a:avLst/>
          </a:prstGeom>
          <a:noFill/>
          <a:ln/>
        </p:spPr>
        <p:txBody>
          <a:bodyPr wrap="square" lIns="0" tIns="0" rIns="0" bIns="0" rtlCol="0" anchor="t"/>
          <a:lstStyle/>
          <a:p>
            <a:pPr marL="0" indent="0" algn="l">
              <a:buNone/>
            </a:pPr>
            <a:r>
              <a:rPr lang="en-US" sz="1200" dirty="0">
                <a:solidFill>
                  <a:srgbClr val="1B1F2A"/>
                </a:solidFill>
              </a:rPr>
              <a:t>Router predicted 91.8% kept / 22.0% saved; live 93% / 20%.</a:t>
            </a:r>
            <a:endParaRPr lang="en-US" sz="1200" dirty="0"/>
          </a:p>
        </p:txBody>
      </p:sp>
      <p:sp>
        <p:nvSpPr>
          <p:cNvPr id="20" name="Heading Limitations"/>
          <p:cNvSpPr txBox="1"/>
          <p:nvPr/>
        </p:nvSpPr>
        <p:spPr>
          <a:xfrm>
            <a:off x="6400800" y="1143000"/>
            <a:ext cx="5349240" cy="365760"/>
          </a:xfrm>
          <a:prstGeom prst="rect">
            <a:avLst/>
          </a:prstGeom>
          <a:noFill/>
          <a:ln/>
        </p:spPr>
        <p:txBody>
          <a:bodyPr wrap="square" lIns="0" tIns="0" rIns="0" bIns="0" rtlCol="0" anchor="ctr"/>
          <a:lstStyle/>
          <a:p>
            <a:pPr marL="0" indent="0" algn="l">
              <a:buNone/>
            </a:pPr>
            <a:r>
              <a:rPr lang="en-US" sz="1600" b="1" dirty="0">
                <a:solidFill>
                  <a:srgbClr val="14213D"/>
                </a:solidFill>
              </a:rPr>
              <a:t>Limitations</a:t>
            </a:r>
            <a:endParaRPr lang="en-US" sz="1600" dirty="0"/>
          </a:p>
        </p:txBody>
      </p:sp>
      <p:sp>
        <p:nvSpPr>
          <p:cNvPr id="21" name="Bullets"/>
          <p:cNvSpPr txBox="1"/>
          <p:nvPr/>
        </p:nvSpPr>
        <p:spPr>
          <a:xfrm>
            <a:off x="6400800" y="1600200"/>
            <a:ext cx="5349240" cy="3108960"/>
          </a:xfrm>
          <a:prstGeom prst="rect">
            <a:avLst/>
          </a:prstGeom>
          <a:noFill/>
          <a:ln/>
        </p:spPr>
        <p:txBody>
          <a:bodyPr wrap="square" lIns="0" tIns="0" rIns="0" bIns="0" rtlCol="0" anchor="t"/>
          <a:lstStyle/>
          <a:p>
            <a:pPr marL="177800" indent="-177800" algn="l">
              <a:spcAft>
                <a:spcPts val="500"/>
              </a:spcAft>
              <a:buSzPct val="100000"/>
              <a:buChar char="•"/>
            </a:pPr>
            <a:r>
              <a:rPr lang="en-US" sz="1200" dirty="0">
                <a:solidFill>
                  <a:srgbClr val="1B1F2A"/>
                </a:solidFill>
              </a:rPr>
              <a:t>One backbone model (GPT-5 mini) and three of WebArena's five sites</a:t>
            </a:r>
            <a:endParaRPr lang="en-US" sz="1200" dirty="0"/>
          </a:p>
          <a:p>
            <a:pPr marL="177800" indent="-177800" algn="l">
              <a:spcAft>
                <a:spcPts val="500"/>
              </a:spcAft>
              <a:buSzPct val="100000"/>
              <a:buChar char="•"/>
            </a:pPr>
            <a:r>
              <a:rPr lang="en-US" sz="1200" dirty="0">
                <a:solidFill>
                  <a:srgbClr val="1B1F2A"/>
                </a:solidFill>
              </a:rPr>
              <a:t>One collection per cell: run-to-run variance is unmeasured; ±4-point intervals mean A vs C is undetectable, not equal</a:t>
            </a:r>
            <a:endParaRPr lang="en-US" sz="1200" dirty="0"/>
          </a:p>
          <a:p>
            <a:pPr marL="177800" indent="-177800" algn="l">
              <a:spcAft>
                <a:spcPts val="500"/>
              </a:spcAft>
              <a:buSzPct val="100000"/>
              <a:buChar char="•"/>
            </a:pPr>
            <a:r>
              <a:rPr lang="en-US" sz="1200" dirty="0">
                <a:solidFill>
                  <a:srgbClr val="1B1F2A"/>
                </a:solidFill>
              </a:rPr>
              <a:t>A's pre-step estimate covers the prompt only, so its cap can be overshot by one step's output (measured and bounded)</a:t>
            </a:r>
            <a:endParaRPr lang="en-US" sz="1200" dirty="0"/>
          </a:p>
          <a:p>
            <a:pPr marL="177800" indent="-177800" algn="l">
              <a:spcAft>
                <a:spcPts val="500"/>
              </a:spcAft>
              <a:buSzPct val="100000"/>
              <a:buChar char="•"/>
            </a:pPr>
            <a:r>
              <a:rPr lang="en-US" sz="1200" dirty="0">
                <a:solidFill>
                  <a:srgbClr val="1B1F2A"/>
                </a:solidFill>
              </a:rPr>
              <a:t>Difficulty κ 0.63 overall but 0.43 on pages-to-traverse</a:t>
            </a:r>
            <a:endParaRPr lang="en-US" sz="1200" dirty="0"/>
          </a:p>
          <a:p>
            <a:pPr marL="177800" indent="-177800" algn="l">
              <a:spcAft>
                <a:spcPts val="500"/>
              </a:spcAft>
              <a:buSzPct val="100000"/>
              <a:buChar char="•"/>
            </a:pPr>
            <a:r>
              <a:rPr lang="en-US" sz="1200" dirty="0">
                <a:solidFill>
                  <a:srgbClr val="1B1F2A"/>
                </a:solidFill>
              </a:rPr>
              <a:t>RQ3: 100 shopping-heavy tasks; ±9-point intervals cannot detect scheme effects of the size observed</a:t>
            </a:r>
            <a:endParaRPr lang="en-US" sz="1200" dirty="0"/>
          </a:p>
          <a:p>
            <a:pPr marL="177800" indent="-177800" algn="l">
              <a:spcAft>
                <a:spcPts val="500"/>
              </a:spcAft>
              <a:buSzPct val="100000"/>
              <a:buChar char="•"/>
            </a:pPr>
            <a:r>
              <a:rPr lang="en-US" sz="1200" dirty="0">
                <a:solidFill>
                  <a:srgbClr val="1B1F2A"/>
                </a:solidFill>
              </a:rPr>
              <a:t>Router trained and tested on the same task population: folds prevent task leakage, not distribution shift</a:t>
            </a:r>
            <a:endParaRPr lang="en-US" sz="1200" dirty="0"/>
          </a:p>
        </p:txBody>
      </p:sp>
      <p:sp>
        <p:nvSpPr>
          <p:cNvPr id="22" name="Card"/>
          <p:cNvSpPr/>
          <p:nvPr/>
        </p:nvSpPr>
        <p:spPr>
          <a:xfrm>
            <a:off x="6400800" y="4846320"/>
            <a:ext cx="5349240" cy="1234440"/>
          </a:xfrm>
          <a:prstGeom prst="roundRect">
            <a:avLst>
              <a:gd name="adj" fmla="val 8889"/>
            </a:avLst>
          </a:prstGeom>
          <a:solidFill>
            <a:srgbClr val="EEF1F6"/>
          </a:solidFill>
          <a:ln w="12700">
            <a:solidFill>
              <a:srgbClr val="EEF1F6"/>
            </a:solidFill>
            <a:prstDash val="solid"/>
          </a:ln>
        </p:spPr>
        <p:txBody>
          <a:bodyPr/>
          <a:lstStyle/>
          <a:p>
            <a:endParaRPr lang="en-GB"/>
          </a:p>
        </p:txBody>
      </p:sp>
      <p:sp>
        <p:nvSpPr>
          <p:cNvPr id="23" name="Cost note"/>
          <p:cNvSpPr txBox="1"/>
          <p:nvPr/>
        </p:nvSpPr>
        <p:spPr>
          <a:xfrm>
            <a:off x="6583680" y="4919472"/>
            <a:ext cx="5029200" cy="1097280"/>
          </a:xfrm>
          <a:prstGeom prst="rect">
            <a:avLst/>
          </a:prstGeom>
          <a:noFill/>
          <a:ln/>
        </p:spPr>
        <p:txBody>
          <a:bodyPr wrap="square" lIns="0" tIns="0" rIns="0" bIns="0" rtlCol="0" anchor="ctr"/>
          <a:lstStyle/>
          <a:p>
            <a:pPr marL="0" indent="0" algn="l">
              <a:buNone/>
            </a:pPr>
            <a:r>
              <a:rPr lang="en-US" sz="1200" b="1" dirty="0">
                <a:solidFill>
                  <a:srgbClr val="14213D"/>
                </a:solidFill>
              </a:rPr>
              <a:t>Cost bounded the scope. </a:t>
            </a:r>
            <a:r>
              <a:rPr lang="en-US" sz="1200" dirty="0">
                <a:solidFill>
                  <a:srgbClr val="1B1F2A"/>
                </a:solidFill>
              </a:rPr>
              <a:t>The EC2 instance cost about US$280 from July to October (≈ US$115 a month during the main collections), plus OpenAI charges for roughly 116 million tokens. That budget allowed one model, three sites and one run per cell.</a:t>
            </a:r>
            <a:endParaRPr lang="en-US" sz="1200" dirty="0"/>
          </a:p>
        </p:txBody>
      </p:sp>
      <p:sp>
        <p:nvSpPr>
          <p:cNvPr id="25" name="Slide Number Placeholder 0"/>
          <p:cNvSpPr>
            <a:spLocks noGrp="1"/>
          </p:cNvSpPr>
          <p:nvPr>
            <p:ph type="sldNum" sz="quarter" idx="4294967295"/>
          </p:nvPr>
        </p:nvSpPr>
        <p:spPr>
          <a:xfrm>
            <a:off x="1124712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673"/>
                </a:solidFill>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11247120" cy="777240"/>
          </a:xfrm>
          <a:prstGeom prst="rect">
            <a:avLst/>
          </a:prstGeom>
          <a:noFill/>
          <a:ln/>
        </p:spPr>
        <p:txBody>
          <a:bodyPr wrap="square" lIns="0" tIns="0" rIns="0" bIns="0" rtlCol="0" anchor="ctr"/>
          <a:lstStyle/>
          <a:p>
            <a:pPr marL="0" indent="0" algn="l">
              <a:buNone/>
            </a:pPr>
            <a:r>
              <a:rPr lang="en-US" sz="3000" b="1" dirty="0">
                <a:solidFill>
                  <a:schemeClr val="tx2"/>
                </a:solidFill>
              </a:rPr>
              <a:t>Use of generative AI: five functions, each specified and tested</a:t>
            </a:r>
            <a:endParaRPr lang="en-US" sz="3000" dirty="0"/>
          </a:p>
        </p:txBody>
      </p:sp>
      <p:graphicFrame>
        <p:nvGraphicFramePr>
          <p:cNvPr id="26" name="Table"/>
          <p:cNvGraphicFramePr>
            <a:graphicFrameLocks noGrp="1"/>
          </p:cNvGraphicFramePr>
          <p:nvPr>
            <p:extLst>
              <p:ext uri="{D42A27DB-BD31-4B8C-83A1-F6EECF244321}">
                <p14:modId xmlns:p14="http://schemas.microsoft.com/office/powerpoint/2010/main" val="1579011935"/>
              </p:ext>
            </p:extLst>
          </p:nvPr>
        </p:nvGraphicFramePr>
        <p:xfrm>
          <a:off x="457200" y="1188720"/>
          <a:ext cx="7589520" cy="4389120"/>
        </p:xfrm>
        <a:graphic>
          <a:graphicData uri="http://schemas.openxmlformats.org/drawingml/2006/table">
            <a:tbl>
              <a:tblPr/>
              <a:tblGrid>
                <a:gridCol w="137160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tblGrid>
              <a:tr h="731520">
                <a:tc>
                  <a:txBody>
                    <a:bodyPr/>
                    <a:lstStyle/>
                    <a:p>
                      <a:pPr marL="0" indent="0" algn="l">
                        <a:buNone/>
                      </a:pPr>
                      <a:r>
                        <a:rPr lang="en-US" sz="1150" b="1" dirty="0">
                          <a:solidFill>
                            <a:srgbClr val="FFFFFF"/>
                          </a:solidFill>
                        </a:rPr>
                        <a:t>Script</a:t>
                      </a:r>
                      <a:endParaRPr lang="en-US" sz="115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14213D"/>
                    </a:solidFill>
                  </a:tcPr>
                </a:tc>
                <a:tc>
                  <a:txBody>
                    <a:bodyPr/>
                    <a:lstStyle/>
                    <a:p>
                      <a:pPr marL="0" indent="0" algn="l">
                        <a:buNone/>
                      </a:pPr>
                      <a:r>
                        <a:rPr lang="en-US" sz="1150" b="1" dirty="0">
                          <a:solidFill>
                            <a:srgbClr val="FFFFFF"/>
                          </a:solidFill>
                        </a:rPr>
                        <a:t>Function generated from my prompt (Claude Opus 5)</a:t>
                      </a:r>
                      <a:endParaRPr lang="en-US" sz="115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14213D"/>
                    </a:solidFill>
                  </a:tcPr>
                </a:tc>
                <a:tc>
                  <a:txBody>
                    <a:bodyPr/>
                    <a:lstStyle/>
                    <a:p>
                      <a:pPr marL="0" indent="0" algn="l">
                        <a:buNone/>
                      </a:pPr>
                      <a:r>
                        <a:rPr lang="en-US" sz="1150" b="1" dirty="0">
                          <a:solidFill>
                            <a:srgbClr val="FFFFFF"/>
                          </a:solidFill>
                        </a:rPr>
                        <a:t>Lines</a:t>
                      </a:r>
                      <a:endParaRPr lang="en-US" sz="115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14213D"/>
                    </a:solidFill>
                  </a:tcPr>
                </a:tc>
                <a:tc>
                  <a:txBody>
                    <a:bodyPr/>
                    <a:lstStyle/>
                    <a:p>
                      <a:pPr marL="0" indent="0" algn="l">
                        <a:buNone/>
                      </a:pPr>
                      <a:r>
                        <a:rPr lang="en-US" sz="1150" b="1" dirty="0">
                          <a:solidFill>
                            <a:srgbClr val="FFFFFF"/>
                          </a:solidFill>
                        </a:rPr>
                        <a:t>Checked by</a:t>
                      </a:r>
                      <a:endParaRPr lang="en-US" sz="115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731520">
                <a:tc>
                  <a:txBody>
                    <a:bodyPr/>
                    <a:lstStyle/>
                    <a:p>
                      <a:pPr marL="0" indent="0" algn="l">
                        <a:buNone/>
                      </a:pPr>
                      <a:r>
                        <a:rPr lang="en-US" sz="1150" dirty="0">
                          <a:solidFill>
                            <a:srgbClr val="1B1F2A"/>
                          </a:solidFill>
                        </a:rPr>
                        <a:t>label_tool.py</a:t>
                      </a:r>
                      <a:endParaRPr lang="en-US" sz="115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B1F2A"/>
                          </a:solidFill>
                        </a:rPr>
                        <a:t>Consistency check between the hand-labelled gold-set CSV and the unedited gold-set JSONL</a:t>
                      </a:r>
                      <a:endParaRPr lang="en-US" sz="115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B1F2A"/>
                          </a:solidFill>
                        </a:rPr>
                        <a:t>206–250</a:t>
                      </a:r>
                      <a:endParaRPr lang="en-US" sz="115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B1F2A"/>
                          </a:solidFill>
                        </a:rPr>
                        <a:t>Run on the real gold set before it served as ground truth</a:t>
                      </a:r>
                      <a:endParaRPr lang="en-US" sz="115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31520">
                <a:tc>
                  <a:txBody>
                    <a:bodyPr/>
                    <a:lstStyle/>
                    <a:p>
                      <a:pPr marL="0" indent="0" algn="l">
                        <a:buNone/>
                      </a:pPr>
                      <a:r>
                        <a:rPr lang="en-US" sz="1150" dirty="0">
                          <a:solidFill>
                            <a:srgbClr val="1B1F2A"/>
                          </a:solidFill>
                        </a:rPr>
                        <a:t>classify_tasks.py</a:t>
                      </a:r>
                      <a:endParaRPr lang="en-US" sz="115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tc>
                  <a:txBody>
                    <a:bodyPr/>
                    <a:lstStyle/>
                    <a:p>
                      <a:pPr marL="0" indent="0" algn="l">
                        <a:buNone/>
                      </a:pPr>
                      <a:r>
                        <a:rPr lang="en-US" sz="1150" dirty="0">
                          <a:solidFill>
                            <a:srgbClr val="1B1F2A"/>
                          </a:solidFill>
                        </a:rPr>
                        <a:t>Self-test of the keyword rules over a hand-checked list of task intents</a:t>
                      </a:r>
                      <a:endParaRPr lang="en-US" sz="115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tc>
                  <a:txBody>
                    <a:bodyPr/>
                    <a:lstStyle/>
                    <a:p>
                      <a:pPr marL="0" indent="0" algn="l">
                        <a:buNone/>
                      </a:pPr>
                      <a:r>
                        <a:rPr lang="en-US" sz="1150" dirty="0">
                          <a:solidFill>
                            <a:srgbClr val="1B1F2A"/>
                          </a:solidFill>
                        </a:rPr>
                        <a:t>263–345</a:t>
                      </a:r>
                      <a:endParaRPr lang="en-US" sz="115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tc>
                  <a:txBody>
                    <a:bodyPr/>
                    <a:lstStyle/>
                    <a:p>
                      <a:pPr marL="0" indent="0" algn="l">
                        <a:buNone/>
                      </a:pPr>
                      <a:r>
                        <a:rPr lang="en-US" sz="1150" dirty="0">
                          <a:solidFill>
                            <a:srgbClr val="1B1F2A"/>
                          </a:solidFill>
                        </a:rPr>
                        <a:t>Self-test passed first time; pattern reused in flag_episodes.py</a:t>
                      </a:r>
                      <a:endParaRPr lang="en-US" sz="115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extLst>
                  <a:ext uri="{0D108BD9-81ED-4DB2-BD59-A6C34878D82A}">
                    <a16:rowId xmlns:a16="http://schemas.microsoft.com/office/drawing/2014/main" val="10002"/>
                  </a:ext>
                </a:extLst>
              </a:tr>
              <a:tr h="731520">
                <a:tc>
                  <a:txBody>
                    <a:bodyPr/>
                    <a:lstStyle/>
                    <a:p>
                      <a:pPr marL="0" indent="0" algn="l">
                        <a:buNone/>
                      </a:pPr>
                      <a:r>
                        <a:rPr lang="en-US" sz="1150" dirty="0">
                          <a:solidFill>
                            <a:srgbClr val="1B1F2A"/>
                          </a:solidFill>
                        </a:rPr>
                        <a:t>shared.py</a:t>
                      </a:r>
                      <a:endParaRPr lang="en-US" sz="115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B1F2A"/>
                          </a:solidFill>
                        </a:rPr>
                        <a:t>Wilson 95% interval that behaves at zero successes; exact McNemar on discordant cells only</a:t>
                      </a:r>
                      <a:endParaRPr lang="en-US" sz="115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B1F2A"/>
                          </a:solidFill>
                        </a:rPr>
                        <a:t>75–84, 90–97</a:t>
                      </a:r>
                      <a:endParaRPr lang="en-US" sz="115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B1F2A"/>
                          </a:solidFill>
                        </a:rPr>
                        <a:t>Read against Eq. 3.5 and 3.6; zero successes → interval starts at 0; identical strategies → p = 1</a:t>
                      </a:r>
                      <a:endParaRPr lang="en-US" sz="115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31520">
                <a:tc>
                  <a:txBody>
                    <a:bodyPr/>
                    <a:lstStyle/>
                    <a:p>
                      <a:pPr marL="0" indent="0" algn="l">
                        <a:buNone/>
                      </a:pPr>
                      <a:r>
                        <a:rPr lang="en-US" sz="1150" dirty="0">
                          <a:solidFill>
                            <a:srgbClr val="1B1F2A"/>
                          </a:solidFill>
                        </a:rPr>
                        <a:t>compare_abc.py</a:t>
                      </a:r>
                      <a:endParaRPr lang="en-US" sz="115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tc>
                  <a:txBody>
                    <a:bodyPr/>
                    <a:lstStyle/>
                    <a:p>
                      <a:pPr marL="0" indent="0" algn="l">
                        <a:buNone/>
                      </a:pPr>
                      <a:r>
                        <a:rPr lang="en-US" sz="1150" dirty="0">
                          <a:solidFill>
                            <a:srgbClr val="1B1F2A"/>
                          </a:solidFill>
                        </a:rPr>
                        <a:t>Bonferroni correction across strategy pairs and difficulty tiers</a:t>
                      </a:r>
                      <a:endParaRPr lang="en-US" sz="115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tc>
                  <a:txBody>
                    <a:bodyPr/>
                    <a:lstStyle/>
                    <a:p>
                      <a:pPr marL="0" indent="0" algn="l">
                        <a:buNone/>
                      </a:pPr>
                      <a:r>
                        <a:rPr lang="en-US" sz="1150" dirty="0">
                          <a:solidFill>
                            <a:srgbClr val="1B1F2A"/>
                          </a:solidFill>
                        </a:rPr>
                        <a:t>123–150, 291–313</a:t>
                      </a:r>
                      <a:endParaRPr lang="en-US" sz="115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tc>
                  <a:txBody>
                    <a:bodyPr/>
                    <a:lstStyle/>
                    <a:p>
                      <a:pPr marL="0" indent="0" algn="l">
                        <a:buNone/>
                      </a:pPr>
                      <a:r>
                        <a:rPr lang="en-US" sz="1150" dirty="0">
                          <a:solidFill>
                            <a:srgbClr val="1B1F2A"/>
                          </a:solidFill>
                        </a:rPr>
                        <a:t>Thresholds 0.05/3 and 0.05/9 recomputed; A vs C (p = 0.065) reported as not detectable, not equal</a:t>
                      </a:r>
                      <a:endParaRPr lang="en-US" sz="115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EEF1F6"/>
                    </a:solidFill>
                  </a:tcPr>
                </a:tc>
                <a:extLst>
                  <a:ext uri="{0D108BD9-81ED-4DB2-BD59-A6C34878D82A}">
                    <a16:rowId xmlns:a16="http://schemas.microsoft.com/office/drawing/2014/main" val="10004"/>
                  </a:ext>
                </a:extLst>
              </a:tr>
              <a:tr h="731520">
                <a:tc>
                  <a:txBody>
                    <a:bodyPr/>
                    <a:lstStyle/>
                    <a:p>
                      <a:pPr marL="0" indent="0" algn="l">
                        <a:buNone/>
                      </a:pPr>
                      <a:r>
                        <a:rPr lang="en-US" sz="1150" dirty="0">
                          <a:solidFill>
                            <a:srgbClr val="1B1F2A"/>
                          </a:solidFill>
                        </a:rPr>
                        <a:t>analyse_schemes.py</a:t>
                      </a:r>
                      <a:endParaRPr lang="en-US" sz="115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B1F2A"/>
                          </a:solidFill>
                        </a:rPr>
                        <a:t>Task-paired comparisons: scheme vs scheme (McNemar for success, Wilcoxon signed-rank for tokens) and strategy vs strategy</a:t>
                      </a:r>
                      <a:endParaRPr lang="en-US" sz="115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B1F2A"/>
                          </a:solidFill>
                        </a:rPr>
                        <a:t>114–147, 150–171</a:t>
                      </a:r>
                      <a:endParaRPr lang="en-US" sz="115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B1F2A"/>
                          </a:solidFill>
                        </a:rPr>
                        <a:t>Run inside the full analysis; printouts read for internal consistency across scripts</a:t>
                      </a:r>
                      <a:endParaRPr lang="en-US" sz="1150" dirty="0"/>
                    </a:p>
                  </a:txBody>
                  <a:tcPr marL="45720" marR="45720" anchor="ctr">
                    <a:lnL w="6350" cap="flat" cmpd="sng" algn="ctr">
                      <a:solidFill>
                        <a:srgbClr val="C9D0DB"/>
                      </a:solidFill>
                      <a:prstDash val="solid"/>
                      <a:round/>
                      <a:headEnd type="none" w="med" len="med"/>
                      <a:tailEnd type="none" w="med" len="med"/>
                    </a:lnL>
                    <a:lnR w="6350" cap="flat" cmpd="sng" algn="ctr">
                      <a:solidFill>
                        <a:srgbClr val="C9D0DB"/>
                      </a:solidFill>
                      <a:prstDash val="solid"/>
                      <a:round/>
                      <a:headEnd type="none" w="med" len="med"/>
                      <a:tailEnd type="none" w="med" len="med"/>
                    </a:lnR>
                    <a:lnT w="6350" cap="flat" cmpd="sng" algn="ctr">
                      <a:solidFill>
                        <a:srgbClr val="C9D0DB"/>
                      </a:solidFill>
                      <a:prstDash val="solid"/>
                      <a:round/>
                      <a:headEnd type="none" w="med" len="med"/>
                      <a:tailEnd type="none" w="med" len="med"/>
                    </a:lnT>
                    <a:lnB w="6350" cap="flat" cmpd="sng" algn="ctr">
                      <a:solidFill>
                        <a:srgbClr val="C9D0D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4" name="Caption Report Table"/>
          <p:cNvSpPr txBox="1"/>
          <p:nvPr/>
        </p:nvSpPr>
        <p:spPr>
          <a:xfrm>
            <a:off x="457200" y="5687568"/>
            <a:ext cx="7589520" cy="274320"/>
          </a:xfrm>
          <a:prstGeom prst="rect">
            <a:avLst/>
          </a:prstGeom>
          <a:noFill/>
          <a:ln/>
        </p:spPr>
        <p:txBody>
          <a:bodyPr wrap="square" lIns="0" tIns="0" rIns="0" bIns="0" rtlCol="0" anchor="t"/>
          <a:lstStyle/>
          <a:p>
            <a:pPr marL="0" indent="0" algn="l">
              <a:buNone/>
            </a:pPr>
            <a:r>
              <a:rPr lang="en-US" sz="1100" i="1" dirty="0">
                <a:solidFill>
                  <a:srgbClr val="5C6673"/>
                </a:solidFill>
              </a:rPr>
              <a:t>Report Table 5.1 and Appendix D.1: prompts, line numbers and what each function taught me; full log in AI_Usage.md</a:t>
            </a:r>
            <a:endParaRPr lang="en-US" sz="1100" dirty="0"/>
          </a:p>
        </p:txBody>
      </p:sp>
      <p:sp>
        <p:nvSpPr>
          <p:cNvPr id="5" name="Card"/>
          <p:cNvSpPr/>
          <p:nvPr/>
        </p:nvSpPr>
        <p:spPr>
          <a:xfrm>
            <a:off x="8412480" y="1188720"/>
            <a:ext cx="3337560" cy="4846320"/>
          </a:xfrm>
          <a:prstGeom prst="roundRect">
            <a:avLst>
              <a:gd name="adj" fmla="val 3288"/>
            </a:avLst>
          </a:prstGeom>
          <a:solidFill>
            <a:srgbClr val="EEF1F6"/>
          </a:solidFill>
          <a:ln w="12700">
            <a:solidFill>
              <a:srgbClr val="EEF1F6"/>
            </a:solidFill>
            <a:prstDash val="solid"/>
          </a:ln>
        </p:spPr>
        <p:txBody>
          <a:bodyPr/>
          <a:lstStyle/>
          <a:p>
            <a:endParaRPr lang="en-GB"/>
          </a:p>
        </p:txBody>
      </p:sp>
      <p:sp>
        <p:nvSpPr>
          <p:cNvPr id="6" name="Heading The pattern, five times"/>
          <p:cNvSpPr txBox="1"/>
          <p:nvPr/>
        </p:nvSpPr>
        <p:spPr>
          <a:xfrm>
            <a:off x="8595360" y="1280160"/>
            <a:ext cx="3017520" cy="365760"/>
          </a:xfrm>
          <a:prstGeom prst="rect">
            <a:avLst/>
          </a:prstGeom>
          <a:noFill/>
          <a:ln/>
        </p:spPr>
        <p:txBody>
          <a:bodyPr wrap="square" lIns="0" tIns="0" rIns="0" bIns="0" rtlCol="0" anchor="ctr"/>
          <a:lstStyle/>
          <a:p>
            <a:pPr marL="0" indent="0" algn="l">
              <a:buNone/>
            </a:pPr>
            <a:r>
              <a:rPr lang="en-US" sz="1400" b="1" dirty="0">
                <a:solidFill>
                  <a:srgbClr val="14213D"/>
                </a:solidFill>
              </a:rPr>
              <a:t>The pattern, five times</a:t>
            </a:r>
            <a:endParaRPr lang="en-US" sz="1400" dirty="0"/>
          </a:p>
        </p:txBody>
      </p:sp>
      <p:sp>
        <p:nvSpPr>
          <p:cNvPr id="7" name="Bullets"/>
          <p:cNvSpPr txBox="1"/>
          <p:nvPr/>
        </p:nvSpPr>
        <p:spPr>
          <a:xfrm>
            <a:off x="8595360" y="1645920"/>
            <a:ext cx="3017520" cy="2468880"/>
          </a:xfrm>
          <a:prstGeom prst="rect">
            <a:avLst/>
          </a:prstGeom>
          <a:noFill/>
          <a:ln/>
        </p:spPr>
        <p:txBody>
          <a:bodyPr wrap="square" lIns="0" tIns="0" rIns="0" bIns="0" rtlCol="0" anchor="t"/>
          <a:lstStyle/>
          <a:p>
            <a:pPr marL="177800" indent="-177800" algn="l">
              <a:spcAft>
                <a:spcPts val="600"/>
              </a:spcAft>
              <a:buSzPct val="100000"/>
              <a:buChar char="•"/>
            </a:pPr>
            <a:r>
              <a:rPr lang="en-US" sz="1150" dirty="0">
                <a:solidFill>
                  <a:srgbClr val="1B1F2A"/>
                </a:solidFill>
              </a:rPr>
              <a:t>One prompt describing a method I had already chosen, its inputs and the property it had to have</a:t>
            </a:r>
            <a:endParaRPr lang="en-US" sz="1150" dirty="0"/>
          </a:p>
          <a:p>
            <a:pPr marL="177800" indent="-177800" algn="l">
              <a:spcAft>
                <a:spcPts val="600"/>
              </a:spcAft>
              <a:buSzPct val="100000"/>
              <a:buChar char="•"/>
            </a:pPr>
            <a:r>
              <a:rPr lang="en-US" sz="1150" dirty="0">
                <a:solidFill>
                  <a:srgbClr val="1B1F2A"/>
                </a:solidFill>
              </a:rPr>
              <a:t>Read line by line against the definition; run on cases with known answers; then run inside the pipeline's own self-tests and the full analysis</a:t>
            </a:r>
            <a:endParaRPr lang="en-US" sz="1150" dirty="0"/>
          </a:p>
          <a:p>
            <a:pPr marL="177800" indent="-177800" algn="l">
              <a:spcAft>
                <a:spcPts val="600"/>
              </a:spcAft>
              <a:buSzPct val="100000"/>
              <a:buChar char="•"/>
            </a:pPr>
            <a:r>
              <a:rPr lang="en-US" sz="1150" dirty="0">
                <a:solidFill>
                  <a:srgbClr val="1B1F2A"/>
                </a:solidFill>
              </a:rPr>
              <a:t>None of the five needed correction after review</a:t>
            </a:r>
            <a:endParaRPr lang="en-US" sz="1150" dirty="0"/>
          </a:p>
        </p:txBody>
      </p:sp>
      <p:sp>
        <p:nvSpPr>
          <p:cNvPr id="8" name="Heading Everything else is my own work"/>
          <p:cNvSpPr txBox="1"/>
          <p:nvPr/>
        </p:nvSpPr>
        <p:spPr>
          <a:xfrm>
            <a:off x="8595360" y="4114800"/>
            <a:ext cx="3017520" cy="365760"/>
          </a:xfrm>
          <a:prstGeom prst="rect">
            <a:avLst/>
          </a:prstGeom>
          <a:noFill/>
          <a:ln/>
        </p:spPr>
        <p:txBody>
          <a:bodyPr wrap="square" lIns="0" tIns="0" rIns="0" bIns="0" rtlCol="0" anchor="ctr"/>
          <a:lstStyle/>
          <a:p>
            <a:pPr marL="0" indent="0" algn="l">
              <a:buNone/>
            </a:pPr>
            <a:r>
              <a:rPr lang="en-US" sz="1400" b="1" dirty="0">
                <a:solidFill>
                  <a:srgbClr val="14213D"/>
                </a:solidFill>
              </a:rPr>
              <a:t>Everything else is my own work</a:t>
            </a:r>
            <a:endParaRPr lang="en-US" sz="1400" dirty="0"/>
          </a:p>
        </p:txBody>
      </p:sp>
      <p:sp>
        <p:nvSpPr>
          <p:cNvPr id="9" name="Bullets"/>
          <p:cNvSpPr txBox="1"/>
          <p:nvPr/>
        </p:nvSpPr>
        <p:spPr>
          <a:xfrm>
            <a:off x="8595360" y="4480560"/>
            <a:ext cx="3017520" cy="1508760"/>
          </a:xfrm>
          <a:prstGeom prst="rect">
            <a:avLst/>
          </a:prstGeom>
          <a:noFill/>
          <a:ln/>
        </p:spPr>
        <p:txBody>
          <a:bodyPr wrap="square" lIns="0" tIns="0" rIns="0" bIns="0" rtlCol="0" anchor="t"/>
          <a:lstStyle/>
          <a:p>
            <a:pPr marL="177800" indent="-177800" algn="l">
              <a:spcAft>
                <a:spcPts val="600"/>
              </a:spcAft>
              <a:buSzPct val="100000"/>
              <a:buChar char="•"/>
            </a:pPr>
            <a:r>
              <a:rPr lang="en-US" sz="1150" dirty="0">
                <a:solidFill>
                  <a:srgbClr val="1B1F2A"/>
                </a:solidFill>
              </a:rPr>
              <a:t>Harness, strategies, collection, decontamination, annotation and router code</a:t>
            </a:r>
            <a:endParaRPr lang="en-US" sz="1150" dirty="0"/>
          </a:p>
          <a:p>
            <a:pPr marL="177800" indent="-177800" algn="l">
              <a:spcAft>
                <a:spcPts val="600"/>
              </a:spcAft>
              <a:buSzPct val="100000"/>
              <a:buChar char="•"/>
            </a:pPr>
            <a:r>
              <a:rPr lang="en-US" sz="1150" dirty="0">
                <a:solidFill>
                  <a:srgbClr val="1B1F2A"/>
                </a:solidFill>
              </a:rPr>
              <a:t>The experiments, the data, the hand-labelled gold set, the trained router and the analyses</a:t>
            </a:r>
            <a:endParaRPr lang="en-US" sz="1150" dirty="0"/>
          </a:p>
        </p:txBody>
      </p:sp>
      <p:sp>
        <p:nvSpPr>
          <p:cNvPr id="25" name="Slide Number Placeholder 0"/>
          <p:cNvSpPr>
            <a:spLocks noGrp="1"/>
          </p:cNvSpPr>
          <p:nvPr>
            <p:ph type="sldNum" sz="quarter" idx="4294967295"/>
          </p:nvPr>
        </p:nvSpPr>
        <p:spPr>
          <a:xfrm>
            <a:off x="1124712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673"/>
                </a:solidFill>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11247120" cy="777240"/>
          </a:xfrm>
          <a:prstGeom prst="rect">
            <a:avLst/>
          </a:prstGeom>
          <a:noFill/>
          <a:ln/>
        </p:spPr>
        <p:txBody>
          <a:bodyPr wrap="square" lIns="0" tIns="0" rIns="0" bIns="0" rtlCol="0" anchor="ctr"/>
          <a:lstStyle/>
          <a:p>
            <a:pPr marL="0" indent="0" algn="l">
              <a:buNone/>
            </a:pPr>
            <a:r>
              <a:rPr lang="en-US" sz="3000" b="1" dirty="0">
                <a:solidFill>
                  <a:schemeClr val="tx2"/>
                </a:solidFill>
              </a:rPr>
              <a:t>Conclusions: under a fixed budget, orchestration must be earned</a:t>
            </a:r>
            <a:endParaRPr lang="en-US" sz="3000" dirty="0"/>
          </a:p>
        </p:txBody>
      </p:sp>
      <p:sp>
        <p:nvSpPr>
          <p:cNvPr id="3" name="Card"/>
          <p:cNvSpPr/>
          <p:nvPr/>
        </p:nvSpPr>
        <p:spPr>
          <a:xfrm>
            <a:off x="457200" y="1188720"/>
            <a:ext cx="3611880" cy="2514600"/>
          </a:xfrm>
          <a:prstGeom prst="roundRect">
            <a:avLst>
              <a:gd name="adj" fmla="val 4364"/>
            </a:avLst>
          </a:prstGeom>
          <a:solidFill>
            <a:srgbClr val="EEF1F6"/>
          </a:solidFill>
          <a:ln w="12700">
            <a:solidFill>
              <a:srgbClr val="EEF1F6"/>
            </a:solidFill>
            <a:prstDash val="solid"/>
          </a:ln>
        </p:spPr>
        <p:txBody>
          <a:bodyPr/>
          <a:lstStyle/>
          <a:p>
            <a:endParaRPr lang="en-GB"/>
          </a:p>
        </p:txBody>
      </p:sp>
      <p:sp>
        <p:nvSpPr>
          <p:cNvPr id="4" name="Badge 1"/>
          <p:cNvSpPr/>
          <p:nvPr/>
        </p:nvSpPr>
        <p:spPr>
          <a:xfrm>
            <a:off x="685800" y="1417320"/>
            <a:ext cx="384048" cy="384048"/>
          </a:xfrm>
          <a:prstGeom prst="ellipse">
            <a:avLst/>
          </a:prstGeom>
          <a:solidFill>
            <a:srgbClr val="FF7F0E"/>
          </a:solidFill>
          <a:ln w="12700">
            <a:solidFill>
              <a:srgbClr val="FF7F0E"/>
            </a:solidFill>
            <a:prstDash val="solid"/>
          </a:ln>
        </p:spPr>
        <p:txBody>
          <a:bodyPr/>
          <a:lstStyle/>
          <a:p>
            <a:endParaRPr lang="en-GB"/>
          </a:p>
        </p:txBody>
      </p:sp>
      <p:sp>
        <p:nvSpPr>
          <p:cNvPr id="5" name="Badge label 1"/>
          <p:cNvSpPr txBox="1"/>
          <p:nvPr/>
        </p:nvSpPr>
        <p:spPr>
          <a:xfrm>
            <a:off x="685800" y="141732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rPr>
              <a:t>1</a:t>
            </a:r>
            <a:endParaRPr lang="en-US" sz="1300" dirty="0"/>
          </a:p>
        </p:txBody>
      </p:sp>
      <p:sp>
        <p:nvSpPr>
          <p:cNvPr id="6" name="Conclusion title 1"/>
          <p:cNvSpPr txBox="1"/>
          <p:nvPr/>
        </p:nvSpPr>
        <p:spPr>
          <a:xfrm>
            <a:off x="1188720" y="1371600"/>
            <a:ext cx="2697480" cy="777240"/>
          </a:xfrm>
          <a:prstGeom prst="rect">
            <a:avLst/>
          </a:prstGeom>
          <a:noFill/>
          <a:ln/>
        </p:spPr>
        <p:txBody>
          <a:bodyPr wrap="square" lIns="0" tIns="0" rIns="0" bIns="0" rtlCol="0" anchor="ctr"/>
          <a:lstStyle/>
          <a:p>
            <a:pPr marL="0" indent="0" algn="l">
              <a:buNone/>
            </a:pPr>
            <a:r>
              <a:rPr lang="en-US" sz="1450" b="1" dirty="0">
                <a:solidFill>
                  <a:srgbClr val="14213D"/>
                </a:solidFill>
              </a:rPr>
              <a:t>The fixed pipeline never repaid its overhead</a:t>
            </a:r>
            <a:endParaRPr lang="en-US" sz="1450" dirty="0"/>
          </a:p>
        </p:txBody>
      </p:sp>
      <p:sp>
        <p:nvSpPr>
          <p:cNvPr id="7" name="Conclusion body 1"/>
          <p:cNvSpPr txBox="1"/>
          <p:nvPr/>
        </p:nvSpPr>
        <p:spPr>
          <a:xfrm>
            <a:off x="685800" y="2240280"/>
            <a:ext cx="3154680" cy="1325880"/>
          </a:xfrm>
          <a:prstGeom prst="rect">
            <a:avLst/>
          </a:prstGeom>
          <a:noFill/>
          <a:ln/>
        </p:spPr>
        <p:txBody>
          <a:bodyPr wrap="square" lIns="0" tIns="0" rIns="0" bIns="0" rtlCol="0" anchor="t"/>
          <a:lstStyle/>
          <a:p>
            <a:pPr marL="0" indent="0" algn="l">
              <a:buNone/>
            </a:pPr>
            <a:r>
              <a:rPr lang="en-US" sz="1300" dirty="0">
                <a:solidFill>
                  <a:srgbClr val="1B1F2A"/>
                </a:solidFill>
              </a:rPr>
              <a:t>A 2.8× per-step cost means B pays before it can earn: nothing at 2k–4k, 7 to 13 points behind A from 8k to 32k, level only at 64k; 2 to 4 times the budget for the same success.</a:t>
            </a:r>
            <a:endParaRPr lang="en-US" sz="1300" dirty="0"/>
          </a:p>
        </p:txBody>
      </p:sp>
      <p:sp>
        <p:nvSpPr>
          <p:cNvPr id="8" name="Card"/>
          <p:cNvSpPr/>
          <p:nvPr/>
        </p:nvSpPr>
        <p:spPr>
          <a:xfrm>
            <a:off x="4297680" y="1188720"/>
            <a:ext cx="3611880" cy="2514600"/>
          </a:xfrm>
          <a:prstGeom prst="roundRect">
            <a:avLst>
              <a:gd name="adj" fmla="val 4364"/>
            </a:avLst>
          </a:prstGeom>
          <a:solidFill>
            <a:srgbClr val="EEF1F6"/>
          </a:solidFill>
          <a:ln w="12700">
            <a:solidFill>
              <a:srgbClr val="EEF1F6"/>
            </a:solidFill>
            <a:prstDash val="solid"/>
          </a:ln>
        </p:spPr>
        <p:txBody>
          <a:bodyPr/>
          <a:lstStyle/>
          <a:p>
            <a:endParaRPr lang="en-GB"/>
          </a:p>
        </p:txBody>
      </p:sp>
      <p:sp>
        <p:nvSpPr>
          <p:cNvPr id="9" name="Badge 2"/>
          <p:cNvSpPr/>
          <p:nvPr/>
        </p:nvSpPr>
        <p:spPr>
          <a:xfrm>
            <a:off x="4526280" y="1417320"/>
            <a:ext cx="384048" cy="384048"/>
          </a:xfrm>
          <a:prstGeom prst="ellipse">
            <a:avLst/>
          </a:prstGeom>
          <a:solidFill>
            <a:srgbClr val="FF7F0E"/>
          </a:solidFill>
          <a:ln w="12700">
            <a:solidFill>
              <a:srgbClr val="FF7F0E"/>
            </a:solidFill>
            <a:prstDash val="solid"/>
          </a:ln>
        </p:spPr>
        <p:txBody>
          <a:bodyPr/>
          <a:lstStyle/>
          <a:p>
            <a:endParaRPr lang="en-GB"/>
          </a:p>
        </p:txBody>
      </p:sp>
      <p:sp>
        <p:nvSpPr>
          <p:cNvPr id="10" name="Badge label 2"/>
          <p:cNvSpPr txBox="1"/>
          <p:nvPr/>
        </p:nvSpPr>
        <p:spPr>
          <a:xfrm>
            <a:off x="4526280" y="141732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rPr>
              <a:t>2</a:t>
            </a:r>
            <a:endParaRPr lang="en-US" sz="1300" dirty="0"/>
          </a:p>
        </p:txBody>
      </p:sp>
      <p:sp>
        <p:nvSpPr>
          <p:cNvPr id="11" name="Conclusion title 2"/>
          <p:cNvSpPr txBox="1"/>
          <p:nvPr/>
        </p:nvSpPr>
        <p:spPr>
          <a:xfrm>
            <a:off x="5029200" y="1371600"/>
            <a:ext cx="2697480" cy="777240"/>
          </a:xfrm>
          <a:prstGeom prst="rect">
            <a:avLst/>
          </a:prstGeom>
          <a:noFill/>
          <a:ln/>
        </p:spPr>
        <p:txBody>
          <a:bodyPr wrap="square" lIns="0" tIns="0" rIns="0" bIns="0" rtlCol="0" anchor="ctr"/>
          <a:lstStyle/>
          <a:p>
            <a:pPr marL="0" indent="0" algn="l">
              <a:buNone/>
            </a:pPr>
            <a:r>
              <a:rPr lang="en-US" sz="1450" b="1" dirty="0">
                <a:solidFill>
                  <a:srgbClr val="14213D"/>
                </a:solidFill>
              </a:rPr>
              <a:t>A Critic that approves 95% of actions is overhead</a:t>
            </a:r>
            <a:endParaRPr lang="en-US" sz="1450" dirty="0"/>
          </a:p>
        </p:txBody>
      </p:sp>
      <p:sp>
        <p:nvSpPr>
          <p:cNvPr id="12" name="Conclusion body 2"/>
          <p:cNvSpPr txBox="1"/>
          <p:nvPr/>
        </p:nvSpPr>
        <p:spPr>
          <a:xfrm>
            <a:off x="4526280" y="2240280"/>
            <a:ext cx="3154680" cy="1325880"/>
          </a:xfrm>
          <a:prstGeom prst="rect">
            <a:avLst/>
          </a:prstGeom>
          <a:noFill/>
          <a:ln/>
        </p:spPr>
        <p:txBody>
          <a:bodyPr wrap="square" lIns="0" tIns="0" rIns="0" bIns="0" rtlCol="0" anchor="t"/>
          <a:lstStyle/>
          <a:p>
            <a:pPr marL="0" indent="0" algn="l">
              <a:buNone/>
            </a:pPr>
            <a:r>
              <a:rPr lang="en-US" sz="1300" dirty="0">
                <a:solidFill>
                  <a:srgbClr val="1B1F2A"/>
                </a:solidFill>
              </a:rPr>
              <a:t>31.5% of spend for 5.1% revisions; review should be conditional on evidence the actor lacks, such as a preceding action error.</a:t>
            </a:r>
            <a:endParaRPr lang="en-US" sz="1300" dirty="0"/>
          </a:p>
        </p:txBody>
      </p:sp>
      <p:sp>
        <p:nvSpPr>
          <p:cNvPr id="13" name="Card"/>
          <p:cNvSpPr/>
          <p:nvPr/>
        </p:nvSpPr>
        <p:spPr>
          <a:xfrm>
            <a:off x="8138160" y="1188720"/>
            <a:ext cx="3611880" cy="2514600"/>
          </a:xfrm>
          <a:prstGeom prst="roundRect">
            <a:avLst>
              <a:gd name="adj" fmla="val 4364"/>
            </a:avLst>
          </a:prstGeom>
          <a:solidFill>
            <a:srgbClr val="EEF1F6"/>
          </a:solidFill>
          <a:ln w="12700">
            <a:solidFill>
              <a:srgbClr val="EEF1F6"/>
            </a:solidFill>
            <a:prstDash val="solid"/>
          </a:ln>
        </p:spPr>
        <p:txBody>
          <a:bodyPr/>
          <a:lstStyle/>
          <a:p>
            <a:endParaRPr lang="en-GB"/>
          </a:p>
        </p:txBody>
      </p:sp>
      <p:sp>
        <p:nvSpPr>
          <p:cNvPr id="14" name="Badge 3"/>
          <p:cNvSpPr/>
          <p:nvPr/>
        </p:nvSpPr>
        <p:spPr>
          <a:xfrm>
            <a:off x="8366760" y="1417320"/>
            <a:ext cx="384048" cy="384048"/>
          </a:xfrm>
          <a:prstGeom prst="ellipse">
            <a:avLst/>
          </a:prstGeom>
          <a:solidFill>
            <a:srgbClr val="2CA02C"/>
          </a:solidFill>
          <a:ln w="12700">
            <a:solidFill>
              <a:srgbClr val="2CA02C"/>
            </a:solidFill>
            <a:prstDash val="solid"/>
          </a:ln>
        </p:spPr>
        <p:txBody>
          <a:bodyPr/>
          <a:lstStyle/>
          <a:p>
            <a:endParaRPr lang="en-GB"/>
          </a:p>
        </p:txBody>
      </p:sp>
      <p:sp>
        <p:nvSpPr>
          <p:cNvPr id="15" name="Badge label 3"/>
          <p:cNvSpPr txBox="1"/>
          <p:nvPr/>
        </p:nvSpPr>
        <p:spPr>
          <a:xfrm>
            <a:off x="8366760" y="141732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rPr>
              <a:t>3</a:t>
            </a:r>
            <a:endParaRPr lang="en-US" sz="1300" dirty="0"/>
          </a:p>
        </p:txBody>
      </p:sp>
      <p:sp>
        <p:nvSpPr>
          <p:cNvPr id="16" name="Conclusion title 3"/>
          <p:cNvSpPr txBox="1"/>
          <p:nvPr/>
        </p:nvSpPr>
        <p:spPr>
          <a:xfrm>
            <a:off x="8869680" y="1371600"/>
            <a:ext cx="2697480" cy="777240"/>
          </a:xfrm>
          <a:prstGeom prst="rect">
            <a:avLst/>
          </a:prstGeom>
          <a:noFill/>
          <a:ln/>
        </p:spPr>
        <p:txBody>
          <a:bodyPr wrap="square" lIns="0" tIns="0" rIns="0" bIns="0" rtlCol="0" anchor="ctr"/>
          <a:lstStyle/>
          <a:p>
            <a:pPr marL="0" indent="0" algn="l">
              <a:buNone/>
            </a:pPr>
            <a:r>
              <a:rPr lang="en-US" sz="1450" b="1" dirty="0">
                <a:solidFill>
                  <a:srgbClr val="14213D"/>
                </a:solidFill>
              </a:rPr>
              <a:t>A learned router kept 93% of successes for 20% fewer tokens</a:t>
            </a:r>
            <a:endParaRPr lang="en-US" sz="1450" dirty="0"/>
          </a:p>
        </p:txBody>
      </p:sp>
      <p:sp>
        <p:nvSpPr>
          <p:cNvPr id="17" name="Conclusion body 3"/>
          <p:cNvSpPr txBox="1"/>
          <p:nvPr/>
        </p:nvSpPr>
        <p:spPr>
          <a:xfrm>
            <a:off x="8366760" y="2240280"/>
            <a:ext cx="3154680" cy="1325880"/>
          </a:xfrm>
          <a:prstGeom prst="rect">
            <a:avLst/>
          </a:prstGeom>
          <a:noFill/>
          <a:ln/>
        </p:spPr>
        <p:txBody>
          <a:bodyPr wrap="square" lIns="0" tIns="0" rIns="0" bIns="0" rtlCol="0" anchor="t"/>
          <a:lstStyle/>
          <a:p>
            <a:pPr marL="0" indent="0" algn="l">
              <a:buNone/>
            </a:pPr>
            <a:r>
              <a:rPr lang="en-US" sz="1300" dirty="0">
                <a:solidFill>
                  <a:srgbClr val="1B1F2A"/>
                </a:solidFill>
              </a:rPr>
              <a:t>Offline RL on logged episodes transferred live. Its lesson was to decide whether to begin, not how to orchestrate; allocation within an episode changed cost, not success.</a:t>
            </a:r>
            <a:endParaRPr lang="en-US" sz="1300" dirty="0"/>
          </a:p>
        </p:txBody>
      </p:sp>
      <p:sp>
        <p:nvSpPr>
          <p:cNvPr id="18" name="Heading Recommendations"/>
          <p:cNvSpPr txBox="1"/>
          <p:nvPr/>
        </p:nvSpPr>
        <p:spPr>
          <a:xfrm>
            <a:off x="457200" y="3977640"/>
            <a:ext cx="5486400" cy="365760"/>
          </a:xfrm>
          <a:prstGeom prst="rect">
            <a:avLst/>
          </a:prstGeom>
          <a:noFill/>
          <a:ln/>
        </p:spPr>
        <p:txBody>
          <a:bodyPr wrap="square" lIns="0" tIns="0" rIns="0" bIns="0" rtlCol="0" anchor="ctr"/>
          <a:lstStyle/>
          <a:p>
            <a:pPr marL="0" indent="0" algn="l">
              <a:buNone/>
            </a:pPr>
            <a:r>
              <a:rPr lang="en-US" sz="1600" b="1" dirty="0">
                <a:solidFill>
                  <a:srgbClr val="14213D"/>
                </a:solidFill>
              </a:rPr>
              <a:t>Recommendations</a:t>
            </a:r>
            <a:endParaRPr lang="en-US" sz="1600" dirty="0"/>
          </a:p>
        </p:txBody>
      </p:sp>
      <p:sp>
        <p:nvSpPr>
          <p:cNvPr id="19" name="Bullets"/>
          <p:cNvSpPr txBox="1"/>
          <p:nvPr/>
        </p:nvSpPr>
        <p:spPr>
          <a:xfrm>
            <a:off x="457200" y="4389120"/>
            <a:ext cx="5486400" cy="1737360"/>
          </a:xfrm>
          <a:prstGeom prst="rect">
            <a:avLst/>
          </a:prstGeom>
          <a:noFill/>
          <a:ln/>
        </p:spPr>
        <p:txBody>
          <a:bodyPr wrap="square" lIns="0" tIns="0" rIns="0" bIns="0" rtlCol="0" anchor="t"/>
          <a:lstStyle/>
          <a:p>
            <a:pPr marL="177800" indent="-177800" algn="l">
              <a:spcAft>
                <a:spcPts val="600"/>
              </a:spcAft>
              <a:buSzPct val="100000"/>
              <a:buChar char="•"/>
            </a:pPr>
            <a:r>
              <a:rPr lang="en-US" sz="1300" dirty="0">
                <a:solidFill>
                  <a:srgbClr val="1B1F2A"/>
                </a:solidFill>
              </a:rPr>
              <a:t>Under a fixed budget, default to a single agent; add a planner only where it is seen to loop; invoke a critic only after an action error</a:t>
            </a:r>
            <a:endParaRPr lang="en-US" sz="1300" dirty="0"/>
          </a:p>
          <a:p>
            <a:pPr marL="177800" indent="-177800" algn="l">
              <a:spcAft>
                <a:spcPts val="600"/>
              </a:spcAft>
              <a:buSzPct val="100000"/>
              <a:buChar char="•"/>
            </a:pPr>
            <a:r>
              <a:rPr lang="en-US" sz="1300" dirty="0">
                <a:solidFill>
                  <a:srgbClr val="1B1F2A"/>
                </a:solidFill>
              </a:rPr>
              <a:t>Evaluate budget-aware designs against a budget-matched single agent with paired tests and decontamination</a:t>
            </a:r>
            <a:endParaRPr lang="en-US" sz="1300" dirty="0"/>
          </a:p>
        </p:txBody>
      </p:sp>
      <p:sp>
        <p:nvSpPr>
          <p:cNvPr id="20" name="Heading Further work"/>
          <p:cNvSpPr txBox="1"/>
          <p:nvPr/>
        </p:nvSpPr>
        <p:spPr>
          <a:xfrm>
            <a:off x="6400800" y="3977640"/>
            <a:ext cx="5349240" cy="365760"/>
          </a:xfrm>
          <a:prstGeom prst="rect">
            <a:avLst/>
          </a:prstGeom>
          <a:noFill/>
          <a:ln/>
        </p:spPr>
        <p:txBody>
          <a:bodyPr wrap="square" lIns="0" tIns="0" rIns="0" bIns="0" rtlCol="0" anchor="ctr"/>
          <a:lstStyle/>
          <a:p>
            <a:pPr marL="0" indent="0" algn="l">
              <a:buNone/>
            </a:pPr>
            <a:r>
              <a:rPr lang="en-US" sz="1600" b="1" dirty="0">
                <a:solidFill>
                  <a:srgbClr val="14213D"/>
                </a:solidFill>
              </a:rPr>
              <a:t>Further work</a:t>
            </a:r>
            <a:endParaRPr lang="en-US" sz="1600" dirty="0"/>
          </a:p>
        </p:txBody>
      </p:sp>
      <p:sp>
        <p:nvSpPr>
          <p:cNvPr id="21" name="Bullets"/>
          <p:cNvSpPr txBox="1"/>
          <p:nvPr/>
        </p:nvSpPr>
        <p:spPr>
          <a:xfrm>
            <a:off x="6400800" y="4389120"/>
            <a:ext cx="5349240" cy="1737360"/>
          </a:xfrm>
          <a:prstGeom prst="rect">
            <a:avLst/>
          </a:prstGeom>
          <a:noFill/>
          <a:ln/>
        </p:spPr>
        <p:txBody>
          <a:bodyPr wrap="square" lIns="0" tIns="0" rIns="0" bIns="0" rtlCol="0" anchor="t"/>
          <a:lstStyle/>
          <a:p>
            <a:pPr marL="177800" indent="-177800" algn="l">
              <a:spcAft>
                <a:spcPts val="600"/>
              </a:spcAft>
              <a:buSzPct val="100000"/>
              <a:buChar char="•"/>
            </a:pPr>
            <a:r>
              <a:rPr lang="en-US" sz="1300" dirty="0">
                <a:solidFill>
                  <a:srgbClr val="1B1F2A"/>
                </a:solidFill>
              </a:rPr>
              <a:t>A second backbone, the remaining sites, repeated runs to estimate variance</a:t>
            </a:r>
            <a:endParaRPr lang="en-US" sz="1300" dirty="0"/>
          </a:p>
          <a:p>
            <a:pPr marL="177800" indent="-177800" algn="l">
              <a:spcAft>
                <a:spcPts val="600"/>
              </a:spcAft>
              <a:buSzPct val="100000"/>
              <a:buChar char="•"/>
            </a:pPr>
            <a:r>
              <a:rPr lang="en-US" sz="1300" dirty="0">
                <a:solidFill>
                  <a:srgbClr val="1B1F2A"/>
                </a:solidFill>
              </a:rPr>
              <a:t>A conditional Critic triggered by action errors; a stop head trained with on-policy data to recover the 36 wrongly declined tasks</a:t>
            </a:r>
            <a:endParaRPr lang="en-US" sz="1300" dirty="0"/>
          </a:p>
          <a:p>
            <a:pPr marL="177800" indent="-177800" algn="l">
              <a:spcAft>
                <a:spcPts val="600"/>
              </a:spcAft>
              <a:buSzPct val="100000"/>
              <a:buChar char="•"/>
            </a:pPr>
            <a:r>
              <a:rPr lang="en-US" sz="1300" dirty="0">
                <a:solidFill>
                  <a:srgbClr val="1B1F2A"/>
                </a:solidFill>
              </a:rPr>
              <a:t>The proposal's per-step role router, which needs training data that call the roles in varied patterns</a:t>
            </a:r>
            <a:endParaRPr lang="en-US" sz="1300" dirty="0"/>
          </a:p>
        </p:txBody>
      </p:sp>
      <p:sp>
        <p:nvSpPr>
          <p:cNvPr id="25" name="Slide Number Placeholder 0"/>
          <p:cNvSpPr>
            <a:spLocks noGrp="1"/>
          </p:cNvSpPr>
          <p:nvPr>
            <p:ph type="sldNum" sz="quarter" idx="4294967295"/>
          </p:nvPr>
        </p:nvSpPr>
        <p:spPr>
          <a:xfrm>
            <a:off x="1124712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673"/>
                </a:solidFill>
              </a:defRPr>
            </a:lvl1pPr>
          </a:lstStyle>
          <a:p>
            <a:pPr algn="r"/>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10698480" cy="1737360"/>
          </a:xfrm>
          <a:prstGeom prst="rect">
            <a:avLst/>
          </a:prstGeom>
          <a:noFill/>
          <a:ln/>
        </p:spPr>
        <p:txBody>
          <a:bodyPr wrap="square" lIns="0" tIns="0" rIns="0" bIns="0" rtlCol="0" anchor="b"/>
          <a:lstStyle/>
          <a:p>
            <a:pPr marL="0" indent="0" algn="l">
              <a:buNone/>
            </a:pPr>
            <a:r>
              <a:rPr lang="en-US" sz="4000" b="1" dirty="0">
                <a:solidFill>
                  <a:schemeClr val="bg1"/>
                </a:solidFill>
              </a:rPr>
              <a:t>Thank you</a:t>
            </a:r>
            <a:endParaRPr lang="en-US" sz="4000" dirty="0"/>
          </a:p>
        </p:txBody>
      </p:sp>
      <p:sp>
        <p:nvSpPr>
          <p:cNvPr id="3" name="Text 0"/>
          <p:cNvSpPr>
            <a:spLocks noGrp="1"/>
          </p:cNvSpPr>
          <p:nvPr>
            <p:ph type="body" idx="101" hasCustomPrompt="1"/>
          </p:nvPr>
        </p:nvSpPr>
        <p:spPr>
          <a:xfrm>
            <a:off x="731520" y="3749040"/>
            <a:ext cx="10698480" cy="2011680"/>
          </a:xfrm>
          <a:prstGeom prst="rect">
            <a:avLst/>
          </a:prstGeom>
          <a:noFill/>
          <a:ln/>
        </p:spPr>
        <p:txBody>
          <a:bodyPr wrap="square" lIns="0" tIns="0" rIns="0" bIns="0" rtlCol="0" anchor="t"/>
          <a:lstStyle/>
          <a:p>
            <a:pPr marL="0" indent="0" algn="l">
              <a:buNone/>
            </a:pPr>
            <a:r>
              <a:rPr lang="en-US" sz="1800" dirty="0">
                <a:solidFill>
                  <a:schemeClr val="bg1"/>
                </a:solidFill>
              </a:rPr>
              <a:t>Code, data, trained router and reproduction guide:</a:t>
            </a:r>
            <a:endParaRPr lang="en-US" sz="1800" dirty="0"/>
          </a:p>
          <a:p>
            <a:pPr marL="0" indent="0" algn="l">
              <a:buNone/>
            </a:pPr>
            <a:r>
              <a:rPr lang="en-US" sz="1800" b="1" dirty="0">
                <a:solidFill>
                  <a:srgbClr val="FCA311"/>
                </a:solidFill>
              </a:rPr>
              <a:t>github.com/Tbeard04/Token-Budget-Orchestration-Strategies-for-Web-Agents</a:t>
            </a:r>
            <a:endParaRPr lang="en-US" sz="1800" dirty="0"/>
          </a:p>
          <a:p>
            <a:pPr marL="0" indent="0" algn="l">
              <a:buNone/>
            </a:pPr>
            <a:r>
              <a:rPr lang="en-US" sz="1800" dirty="0">
                <a:solidFill>
                  <a:schemeClr val="bg1"/>
                </a:solidFill>
              </a:rPr>
              <a:t>Thomas Beard | MSc in Artificial Intelligence | Supervisor: Professor Eduardo Alonso</a:t>
            </a:r>
            <a:endParaRPr lang="en-US" sz="1800" dirty="0"/>
          </a:p>
        </p:txBody>
      </p:sp>
      <p:sp>
        <p:nvSpPr>
          <p:cNvPr id="4" name="Badge A"/>
          <p:cNvSpPr/>
          <p:nvPr/>
        </p:nvSpPr>
        <p:spPr>
          <a:xfrm>
            <a:off x="9509760" y="822960"/>
            <a:ext cx="502920" cy="502920"/>
          </a:xfrm>
          <a:prstGeom prst="ellipse">
            <a:avLst/>
          </a:prstGeom>
          <a:solidFill>
            <a:srgbClr val="1F77B4"/>
          </a:solidFill>
          <a:ln w="12700">
            <a:solidFill>
              <a:srgbClr val="1F77B4"/>
            </a:solidFill>
            <a:prstDash val="solid"/>
          </a:ln>
        </p:spPr>
        <p:txBody>
          <a:bodyPr/>
          <a:lstStyle/>
          <a:p>
            <a:endParaRPr lang="en-GB"/>
          </a:p>
        </p:txBody>
      </p:sp>
      <p:sp>
        <p:nvSpPr>
          <p:cNvPr id="5" name="Badge label A"/>
          <p:cNvSpPr txBox="1"/>
          <p:nvPr/>
        </p:nvSpPr>
        <p:spPr>
          <a:xfrm>
            <a:off x="9509760" y="82296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rPr>
              <a:t>A</a:t>
            </a:r>
            <a:endParaRPr lang="en-US" sz="1800" dirty="0"/>
          </a:p>
        </p:txBody>
      </p:sp>
      <p:sp>
        <p:nvSpPr>
          <p:cNvPr id="6" name="Badge B"/>
          <p:cNvSpPr/>
          <p:nvPr/>
        </p:nvSpPr>
        <p:spPr>
          <a:xfrm>
            <a:off x="10149840" y="822960"/>
            <a:ext cx="502920" cy="502920"/>
          </a:xfrm>
          <a:prstGeom prst="ellipse">
            <a:avLst/>
          </a:prstGeom>
          <a:solidFill>
            <a:srgbClr val="FF7F0E"/>
          </a:solidFill>
          <a:ln w="12700">
            <a:solidFill>
              <a:srgbClr val="FF7F0E"/>
            </a:solidFill>
            <a:prstDash val="solid"/>
          </a:ln>
        </p:spPr>
        <p:txBody>
          <a:bodyPr/>
          <a:lstStyle/>
          <a:p>
            <a:endParaRPr lang="en-GB"/>
          </a:p>
        </p:txBody>
      </p:sp>
      <p:sp>
        <p:nvSpPr>
          <p:cNvPr id="7" name="Badge label B"/>
          <p:cNvSpPr txBox="1"/>
          <p:nvPr/>
        </p:nvSpPr>
        <p:spPr>
          <a:xfrm>
            <a:off x="10149840" y="82296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rPr>
              <a:t>B</a:t>
            </a:r>
            <a:endParaRPr lang="en-US" sz="1800" dirty="0"/>
          </a:p>
        </p:txBody>
      </p:sp>
      <p:sp>
        <p:nvSpPr>
          <p:cNvPr id="8" name="Badge C"/>
          <p:cNvSpPr/>
          <p:nvPr/>
        </p:nvSpPr>
        <p:spPr>
          <a:xfrm>
            <a:off x="10789920" y="822960"/>
            <a:ext cx="502920" cy="502920"/>
          </a:xfrm>
          <a:prstGeom prst="ellipse">
            <a:avLst/>
          </a:prstGeom>
          <a:solidFill>
            <a:srgbClr val="2CA02C"/>
          </a:solidFill>
          <a:ln w="12700">
            <a:solidFill>
              <a:srgbClr val="2CA02C"/>
            </a:solidFill>
            <a:prstDash val="solid"/>
          </a:ln>
        </p:spPr>
        <p:txBody>
          <a:bodyPr/>
          <a:lstStyle/>
          <a:p>
            <a:endParaRPr lang="en-GB"/>
          </a:p>
        </p:txBody>
      </p:sp>
      <p:sp>
        <p:nvSpPr>
          <p:cNvPr id="9" name="Badge label C"/>
          <p:cNvSpPr txBox="1"/>
          <p:nvPr/>
        </p:nvSpPr>
        <p:spPr>
          <a:xfrm>
            <a:off x="10789920" y="82296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rPr>
              <a:t>C</a:t>
            </a:r>
            <a:endParaRPr lang="en-US" sz="1800" dirty="0"/>
          </a:p>
        </p:txBody>
      </p:sp>
    </p:spTree>
  </p:cSld>
  <p:clrMapOvr>
    <a:masterClrMapping/>
  </p:clrMapOvr>
</p:sld>
</file>

<file path=ppt/theme/theme1.xml><?xml version="1.0" encoding="utf-8"?>
<a:theme xmlns:a="http://schemas.openxmlformats.org/drawingml/2006/main" name="Token Budget">
  <a:themeElements>
    <a:clrScheme name="Token Budget">
      <a:dk1>
        <a:srgbClr val="1B1F2A"/>
      </a:dk1>
      <a:lt1>
        <a:srgbClr val="FFFFFF"/>
      </a:lt1>
      <a:dk2>
        <a:srgbClr val="14213D"/>
      </a:dk2>
      <a:lt2>
        <a:srgbClr val="EEF1F6"/>
      </a:lt2>
      <a:accent1>
        <a:srgbClr val="1F77B4"/>
      </a:accent1>
      <a:accent2>
        <a:srgbClr val="FF7F0E"/>
      </a:accent2>
      <a:accent3>
        <a:srgbClr val="2CA02C"/>
      </a:accent3>
      <a:accent4>
        <a:srgbClr val="FCA311"/>
      </a:accent4>
      <a:accent5>
        <a:srgbClr val="5C6673"/>
      </a:accent5>
      <a:accent6>
        <a:srgbClr val="6F42C1"/>
      </a:accent6>
      <a:hlink>
        <a:srgbClr val="1F77B4"/>
      </a:hlink>
      <a:folHlink>
        <a:srgbClr val="5C6673"/>
      </a:folHlink>
    </a:clrScheme>
    <a:fontScheme name="Token Budge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287</TotalTime>
  <Words>8426</Words>
  <Application>Microsoft Office PowerPoint</Application>
  <PresentationFormat>Widescreen</PresentationFormat>
  <Paragraphs>710</Paragraphs>
  <Slides>27</Slides>
  <Notes>27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Arial</vt:lpstr>
      <vt:lpstr>Calibri</vt:lpstr>
      <vt:lpstr>Cambria</vt:lpstr>
      <vt:lpstr>Courier New</vt:lpstr>
      <vt:lpstr>Token Budget</vt:lpstr>
      <vt:lpstr>Token Budget Orchestration Strategies for Web Agents</vt:lpstr>
      <vt:lpstr>Why orchestration becomes a budget problem on the web</vt:lpstr>
      <vt:lpstr>Three orchestration strategies under one fixed budget</vt:lpstr>
      <vt:lpstr>Research questions and the objectives' pass tests</vt:lpstr>
      <vt:lpstr>Scope, work plan and the outputs produced</vt:lpstr>
      <vt:lpstr>How the study was built</vt:lpstr>
      <vt:lpstr>One harness, three control flows</vt:lpstr>
      <vt:lpstr>Token accounting: enforced before and after every call</vt:lpstr>
      <vt:lpstr>Strategy C: two small heads trained offline, consulted live</vt:lpstr>
      <vt:lpstr>Collection and decontamination of a stateful benchmark</vt:lpstr>
      <vt:lpstr>Difficulty labels independent of how the agents fared</vt:lpstr>
      <vt:lpstr>Demonstration</vt:lpstr>
      <vt:lpstr>On screen: an episode, its record and the analysis</vt:lpstr>
      <vt:lpstr>Key feature 1: the pre-step budget check in strategy_a.py</vt:lpstr>
      <vt:lpstr>Key feature 2: the router's two decisions in strategy_c.py</vt:lpstr>
      <vt:lpstr>Results</vt:lpstr>
      <vt:lpstr>The eligible dataset: two properties that drive everything</vt:lpstr>
      <vt:lpstr>RQ1: success against the fixed budget</vt:lpstr>
      <vt:lpstr>RQ1: what the tokens actually bought, and what the router kept</vt:lpstr>
      <vt:lpstr>RQ1: how episodes ended</vt:lpstr>
      <vt:lpstr>What the Critic was worth in the fixed pipeline</vt:lpstr>
      <vt:lpstr>RQ2: sensitivity to task difficulty</vt:lpstr>
      <vt:lpstr>RQ3: allocation within an episode changed cost, not success</vt:lpstr>
      <vt:lpstr>How far to trust the results, and what bounded them</vt:lpstr>
      <vt:lpstr>Use of generative AI: five functions, each specified and tested</vt:lpstr>
      <vt:lpstr>Conclusions: under a fixed budget, orchestration must be earned</vt:lpstr>
      <vt:lpstr>Thank you</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Token Budget Orchestration Strategies for Web Agents</dc:title>
  <dc:subject>MSc Artificial Intelligence project video</dc:subject>
  <dc:creator>Thomas Beard</dc:creator>
  <cp:lastModifiedBy>Thomas Beard</cp:lastModifiedBy>
  <cp:revision>9</cp:revision>
  <dcterms:created xsi:type="dcterms:W3CDTF">2026-10-07T13:46:31Z</dcterms:created>
  <dcterms:modified xsi:type="dcterms:W3CDTF">2026-10-07T18:50:32Z</dcterms:modified>
</cp:coreProperties>
</file>